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nton" charset="1" panose="00000500000000000000"/>
      <p:regular r:id="rId32"/>
    </p:embeddedFont>
    <p:embeddedFont>
      <p:font typeface="Nunito Sans Expanded Semi-Bold" charset="1" panose="00000000000000000000"/>
      <p:regular r:id="rId33"/>
    </p:embeddedFont>
    <p:embeddedFont>
      <p:font typeface="Nunito Sans Expanded Medium" charset="1" panose="00000000000000000000"/>
      <p:regular r:id="rId37"/>
    </p:embeddedFont>
    <p:embeddedFont>
      <p:font typeface="Nunito Sans Expanded Bold" charset="1" panose="00000000000000000000"/>
      <p:regular r:id="rId38"/>
    </p:embeddedFont>
    <p:embeddedFont>
      <p:font typeface="Roboto Mono Bold" charset="1" panose="00000000000000000000"/>
      <p:regular r:id="rId40"/>
    </p:embeddedFont>
    <p:embeddedFont>
      <p:font typeface="Roboto Mono" charset="1" panose="00000000000000000000"/>
      <p:regular r:id="rId41"/>
    </p:embeddedFont>
    <p:embeddedFont>
      <p:font typeface="Roboto Mono Medium" charset="1" panose="00000000000000000000"/>
      <p:regular r:id="rId46"/>
    </p:embeddedFont>
    <p:embeddedFont>
      <p:font typeface="Nunito Sans Expanded" charset="1" panose="00000000000000000000"/>
      <p:regular r:id="rId47"/>
    </p:embeddedFont>
    <p:embeddedFont>
      <p:font typeface="Nunito Sans Expanded Light" charset="1" panose="0000000000000000000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3.xml" Type="http://schemas.openxmlformats.org/officeDocument/2006/relationships/notesSlide"/><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mener à bien notre présentation, nous allons suivre le plan suivant :</a:t>
            </a:r>
          </a:p>
          <a:p>
            <a:r>
              <a:rPr lang="en-US"/>
              <a:t>Nous commencerons par l'introduction et la problématique qui nous ont menés à définir les objectifs de ce projet.</a:t>
            </a:r>
          </a:p>
          <a:p>
            <a:r>
              <a:rPr lang="en-US"/>
              <a:t>Ensuite, nous aborderons la partie technique avec la conception et le développement de notre ontologie "OntMobilite".</a:t>
            </a:r>
          </a:p>
          <a:p>
            <a:r>
              <a:rPr lang="en-US"/>
              <a:t>Par la suite, nous détaillerons l'architecture multi-agents mise en place, suivie d'une démonstration concrète de notre scénario.</a:t>
            </a:r>
          </a:p>
          <a:p>
            <a:r>
              <a:rPr lang="en-US"/>
              <a:t>Enfin, nous clôturerons notre exposé par une conclusion et les perspectives de notre travail.</a:t>
            </a:r>
          </a:p>
          <a:p>
            <a:r>
              <a:rPr lang="en-US"/>
              <a:t>Entrons tout de suite dans le vif du sujet avec notre introduction.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Concernant le contexte, la ville de Safi présente une topographie complexe, notamment traversée par Oued Chaaba. Lors des fortes pluies, la crue soudaine de cet oued provoque des inondations majeures qui touchent directement la zone de l'Ancienne Médina.</a:t>
            </a:r>
          </a:p>
          <a:p>
            <a:r>
              <a:rPr lang="en-US"/>
              <a:t>Le problème majeur réside dans l'impact sur le transport : nous faisons face à un blocage total des routes centrales et des lignes de bus nominales.</a:t>
            </a:r>
          </a:p>
          <a:p>
            <a:r>
              <a:rPr lang="en-US"/>
              <a:t>Malheureusement, les systèmes d’information classiques (comme les bases de données SQL) sont trop rigides. Ils souffrent d'un manque d'abstraction sémantique : ils sont incapables de faire le lien logique immédiat entre une inondation dans une zone X et les segments de bus précis qu'il faut couper ou dévier en temps réel.</a:t>
            </a:r>
          </a:p>
          <a:p>
            <a:r>
              <a:rPr lang="en-US"/>
              <a:t>C’est précisément pour dépasser ces limites que notre projet intervient.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répondre à cette problématique, voici la solution proposée.</a:t>
            </a:r>
          </a:p>
          <a:p>
            <a:r>
              <a:rPr lang="en-US"/>
              <a:t>Pourquoi l’Ontologie ? Tout simplement pour donner une intelligence sémantique au réseau de transport de Safi.</a:t>
            </a:r>
          </a:p>
          <a:p>
            <a:r>
              <a:rPr lang="en-US"/>
              <a:t>Grâce au Routage Sémantique Dynamique, notre approche permet de lier nativement l’infrastructure physique — c’est-à-dire les arrêts, les segments et les trajets — avec le contexte environnemental, représenté ici par les perturbations comme les crues.</a:t>
            </a:r>
          </a:p>
          <a:p>
            <a:r>
              <a:rPr lang="en-US"/>
              <a:t>Comme vous pouvez le voir sur ce graphique, l'infrastructure n'est plus isolée : elle est interconnectée en temps réel avec les données météo et les zones impactées, comme l'Ancienne Médina.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deuxième grand pilier de notre solution est la Résilience Automatique.</a:t>
            </a:r>
          </a:p>
          <a:p>
            <a:r>
              <a:rPr lang="en-US"/>
              <a:t>Dès que le système détecte une coupure ou un blocage sur le réseau, il effectue un recalcul instantané d’itinéraire.</a:t>
            </a:r>
          </a:p>
          <a:p>
            <a:r>
              <a:rPr lang="en-US"/>
              <a:t>Comme vous pouvez le voir graphiquement, face à un obstacle majeur, le système génère immédiatement une déviation automatique. Il propose un itinéraire de contournement sûr afin de maintenir la circulation active et d’assurer la continuité du service pour les bus et les citoyens.</a:t>
            </a:r>
          </a:p>
          <a:p>
            <a:r>
              <a:rPr lang="en-US"/>
              <a:t>C’est cette dynamique de rerouting automatique qui fait la force de notre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Passons maintenant à la Conception de l'Ontologie. Pour modéliser notre système, nous avons structuré nos classes en deux grands blocs complémentaires :</a:t>
            </a:r>
          </a:p>
          <a:p>
            <a:r>
              <a:rPr lang="en-US"/>
              <a:t>D'un côté, le bloc Infrastructure, qui regroupe les classes physiques du réseau : Arret (ou Stop), Segment (qui relie deux arrêts), et Trajet (la route globale).</a:t>
            </a:r>
          </a:p>
          <a:p>
            <a:r>
              <a:rPr lang="en-US"/>
              <a:t>De l'autre côté, le bloc Context, qui capture l'environnement dynamique : la classe Perturbation (ou Disruption, comme les crues) et la classe ZoneGeographique (comme l'Ancienne Médina traversée par Oued Chaaba).</a:t>
            </a:r>
          </a:p>
          <a:p>
            <a:r>
              <a:rPr lang="en-US"/>
              <a:t>Cette séparation claire nous permet de lier mathématiquement le physique et le contextuel.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Après les classes, nous avons défini les Object Properties pour modéliser les relations entre ces concepts :</a:t>
            </a:r>
          </a:p>
          <a:p>
            <a:r>
              <a:rPr lang="en-US"/>
              <a:t>D'abord, la relation composeDeSegment, qui relie un Trajet à ses différents Segments (1, 2 et 3).</a:t>
            </a:r>
          </a:p>
          <a:p>
            <a:r>
              <a:rPr lang="en-US"/>
              <a:t>Ensuite, la relation affecteZoneGeographique, qui relie directement une Perturbation à la Zone Géographique touchée.</a:t>
            </a:r>
          </a:p>
          <a:p>
            <a:r>
              <a:rPr lang="en-US"/>
              <a:t>Et enfin, la particularité de notre approche : la propriété provoqueTrajetAlternatif. C'est une relation dynamique qui n'est pas saisie manuellement, mais déduite automatiquement grâce aux règles SWRL lorsqu'une crise survient.</a:t>
            </a:r>
          </a:p>
          <a:p>
            <a:r>
              <a:rPr lang="en-US"/>
              <a:t>C'est ce mécanisme d'inférence que nous allons détailler dans le slide suivant.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3.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4.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5.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6.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615757" y="3441455"/>
            <a:ext cx="17056485" cy="2293237"/>
          </a:xfrm>
          <a:prstGeom prst="rect">
            <a:avLst/>
          </a:prstGeom>
        </p:spPr>
        <p:txBody>
          <a:bodyPr anchor="t" rtlCol="false" tIns="0" lIns="0" bIns="0" rIns="0">
            <a:spAutoFit/>
          </a:bodyPr>
          <a:lstStyle/>
          <a:p>
            <a:pPr algn="ctr">
              <a:lnSpc>
                <a:spcPts val="17335"/>
              </a:lnSpc>
            </a:pPr>
            <a:r>
              <a:rPr lang="en-US" sz="17163">
                <a:solidFill>
                  <a:srgbClr val="211F1C"/>
                </a:solidFill>
                <a:latin typeface="Anton"/>
                <a:ea typeface="Anton"/>
                <a:cs typeface="Anton"/>
                <a:sym typeface="Anton"/>
              </a:rPr>
              <a:t>ONTMOBILITE</a:t>
            </a:r>
          </a:p>
        </p:txBody>
      </p:sp>
      <p:sp>
        <p:nvSpPr>
          <p:cNvPr name="Freeform 6" id="6"/>
          <p:cNvSpPr/>
          <p:nvPr/>
        </p:nvSpPr>
        <p:spPr>
          <a:xfrm flipH="false" flipV="false" rot="0">
            <a:off x="2358180" y="4165025"/>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575306" y="4165025"/>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0" y="0"/>
            <a:ext cx="4537854" cy="1746010"/>
          </a:xfrm>
          <a:custGeom>
            <a:avLst/>
            <a:gdLst/>
            <a:ahLst/>
            <a:cxnLst/>
            <a:rect r="r" b="b" t="t" l="l"/>
            <a:pathLst>
              <a:path h="1746010" w="4537854">
                <a:moveTo>
                  <a:pt x="0" y="0"/>
                </a:moveTo>
                <a:lnTo>
                  <a:pt x="4537854" y="0"/>
                </a:lnTo>
                <a:lnTo>
                  <a:pt x="4537854" y="1746010"/>
                </a:lnTo>
                <a:lnTo>
                  <a:pt x="0" y="1746010"/>
                </a:lnTo>
                <a:lnTo>
                  <a:pt x="0" y="0"/>
                </a:lnTo>
                <a:close/>
              </a:path>
            </a:pathLst>
          </a:custGeom>
          <a:blipFill>
            <a:blip r:embed="rId6"/>
            <a:stretch>
              <a:fillRect l="0" t="0" r="0" b="0"/>
            </a:stretch>
          </a:blipFill>
        </p:spPr>
      </p:sp>
      <p:sp>
        <p:nvSpPr>
          <p:cNvPr name="Freeform 9" id="9"/>
          <p:cNvSpPr/>
          <p:nvPr/>
        </p:nvSpPr>
        <p:spPr>
          <a:xfrm flipH="false" flipV="false" rot="0">
            <a:off x="13582608" y="0"/>
            <a:ext cx="4705392" cy="1737623"/>
          </a:xfrm>
          <a:custGeom>
            <a:avLst/>
            <a:gdLst/>
            <a:ahLst/>
            <a:cxnLst/>
            <a:rect r="r" b="b" t="t" l="l"/>
            <a:pathLst>
              <a:path h="1737623" w="4705392">
                <a:moveTo>
                  <a:pt x="0" y="0"/>
                </a:moveTo>
                <a:lnTo>
                  <a:pt x="4705392" y="0"/>
                </a:lnTo>
                <a:lnTo>
                  <a:pt x="4705392" y="1737623"/>
                </a:lnTo>
                <a:lnTo>
                  <a:pt x="0" y="1737623"/>
                </a:lnTo>
                <a:lnTo>
                  <a:pt x="0" y="0"/>
                </a:lnTo>
                <a:close/>
              </a:path>
            </a:pathLst>
          </a:custGeom>
          <a:blipFill>
            <a:blip r:embed="rId7"/>
            <a:stretch>
              <a:fillRect l="-81125" t="-113656" r="-79189" b="-115306"/>
            </a:stretch>
          </a:blipFill>
        </p:spPr>
      </p:sp>
      <p:sp>
        <p:nvSpPr>
          <p:cNvPr name="TextBox 10" id="10"/>
          <p:cNvSpPr txBox="true"/>
          <p:nvPr/>
        </p:nvSpPr>
        <p:spPr>
          <a:xfrm rot="0">
            <a:off x="2358180" y="5687067"/>
            <a:ext cx="13571640" cy="825651"/>
          </a:xfrm>
          <a:prstGeom prst="rect">
            <a:avLst/>
          </a:prstGeom>
        </p:spPr>
        <p:txBody>
          <a:bodyPr anchor="t" rtlCol="false" tIns="0" lIns="0" bIns="0" rIns="0">
            <a:spAutoFit/>
          </a:bodyPr>
          <a:lstStyle/>
          <a:p>
            <a:pPr algn="ctr">
              <a:lnSpc>
                <a:spcPts val="3396"/>
              </a:lnSpc>
              <a:spcBef>
                <a:spcPct val="0"/>
              </a:spcBef>
            </a:pPr>
            <a:r>
              <a:rPr lang="en-US" b="true" sz="2310" spc="339">
                <a:solidFill>
                  <a:srgbClr val="211F1C"/>
                </a:solidFill>
                <a:latin typeface="Nunito Sans Expanded Semi-Bold"/>
                <a:ea typeface="Nunito Sans Expanded Semi-Bold"/>
                <a:cs typeface="Nunito Sans Expanded Semi-Bold"/>
                <a:sym typeface="Nunito Sans Expanded Semi-Bold"/>
              </a:rPr>
              <a:t>ONTOLOGIE-M</a:t>
            </a:r>
            <a:r>
              <a:rPr lang="en-US" b="true" sz="2310" spc="339">
                <a:solidFill>
                  <a:srgbClr val="211F1C"/>
                </a:solidFill>
                <a:latin typeface="Nunito Sans Expanded Semi-Bold"/>
                <a:ea typeface="Nunito Sans Expanded Semi-Bold"/>
                <a:cs typeface="Nunito Sans Expanded Semi-Bold"/>
                <a:sym typeface="Nunito Sans Expanded Semi-Bold"/>
              </a:rPr>
              <a:t>OBILITÉ : VERS UN SYSTÈME DE TRANSPORT URBAIN INTELLIGENT APPLIQUÉ À LA VILLE DE SAFI.</a:t>
            </a:r>
          </a:p>
        </p:txBody>
      </p:sp>
      <p:sp>
        <p:nvSpPr>
          <p:cNvPr name="TextBox 11" id="11"/>
          <p:cNvSpPr txBox="true"/>
          <p:nvPr/>
        </p:nvSpPr>
        <p:spPr>
          <a:xfrm rot="0">
            <a:off x="5582940" y="2238719"/>
            <a:ext cx="7122121" cy="389916"/>
          </a:xfrm>
          <a:prstGeom prst="rect">
            <a:avLst/>
          </a:prstGeom>
        </p:spPr>
        <p:txBody>
          <a:bodyPr anchor="t" rtlCol="false" tIns="0" lIns="0" bIns="0" rIns="0">
            <a:spAutoFit/>
          </a:bodyPr>
          <a:lstStyle/>
          <a:p>
            <a:pPr algn="ctr">
              <a:lnSpc>
                <a:spcPts val="3292"/>
              </a:lnSpc>
              <a:spcBef>
                <a:spcPct val="0"/>
              </a:spcBef>
            </a:pPr>
            <a:r>
              <a:rPr lang="en-US" b="true" sz="2239" spc="329">
                <a:solidFill>
                  <a:srgbClr val="211F1C"/>
                </a:solidFill>
                <a:latin typeface="Nunito Sans Expanded Semi-Bold"/>
                <a:ea typeface="Nunito Sans Expanded Semi-Bold"/>
                <a:cs typeface="Nunito Sans Expanded Semi-Bold"/>
                <a:sym typeface="Nunito Sans Expanded Semi-Bold"/>
              </a:rPr>
              <a:t>INGÉNIE</a:t>
            </a:r>
            <a:r>
              <a:rPr lang="en-US" b="true" sz="2239" spc="329">
                <a:solidFill>
                  <a:srgbClr val="211F1C"/>
                </a:solidFill>
                <a:latin typeface="Nunito Sans Expanded Semi-Bold"/>
                <a:ea typeface="Nunito Sans Expanded Semi-Bold"/>
                <a:cs typeface="Nunito Sans Expanded Semi-Bold"/>
                <a:sym typeface="Nunito Sans Expanded Semi-Bold"/>
              </a:rPr>
              <a:t>RIE DES CONNAISSANCES</a:t>
            </a:r>
          </a:p>
        </p:txBody>
      </p:sp>
      <p:sp>
        <p:nvSpPr>
          <p:cNvPr name="TextBox 12" id="12"/>
          <p:cNvSpPr txBox="true"/>
          <p:nvPr/>
        </p:nvSpPr>
        <p:spPr>
          <a:xfrm rot="0">
            <a:off x="5788572" y="9533476"/>
            <a:ext cx="9318724" cy="336957"/>
          </a:xfrm>
          <a:prstGeom prst="rect">
            <a:avLst/>
          </a:prstGeom>
        </p:spPr>
        <p:txBody>
          <a:bodyPr anchor="t" rtlCol="false" tIns="0" lIns="0" bIns="0" rIns="0">
            <a:spAutoFit/>
          </a:bodyPr>
          <a:lstStyle/>
          <a:p>
            <a:pPr algn="ctr">
              <a:lnSpc>
                <a:spcPts val="2704"/>
              </a:lnSpc>
              <a:spcBef>
                <a:spcPct val="0"/>
              </a:spcBef>
            </a:pPr>
            <a:r>
              <a:rPr lang="en-US" b="true" sz="1839" spc="270">
                <a:solidFill>
                  <a:srgbClr val="211F1C"/>
                </a:solidFill>
                <a:latin typeface="Nunito Sans Expanded Semi-Bold"/>
                <a:ea typeface="Nunito Sans Expanded Semi-Bold"/>
                <a:cs typeface="Nunito Sans Expanded Semi-Bold"/>
                <a:sym typeface="Nunito Sans Expanded Semi-Bold"/>
              </a:rPr>
              <a:t>MASTER : SCIENCE DES DONNÉES ET</a:t>
            </a:r>
            <a:r>
              <a:rPr lang="en-US" b="true" sz="1839" spc="270">
                <a:solidFill>
                  <a:srgbClr val="211F1C"/>
                </a:solidFill>
                <a:latin typeface="Nunito Sans Expanded Semi-Bold"/>
                <a:ea typeface="Nunito Sans Expanded Semi-Bold"/>
                <a:cs typeface="Nunito Sans Expanded Semi-Bold"/>
                <a:sym typeface="Nunito Sans Expanded Semi-Bold"/>
              </a:rPr>
              <a:t> ANALIQUE (SDA)</a:t>
            </a:r>
          </a:p>
        </p:txBody>
      </p:sp>
      <p:sp>
        <p:nvSpPr>
          <p:cNvPr name="TextBox 13" id="13"/>
          <p:cNvSpPr txBox="true"/>
          <p:nvPr/>
        </p:nvSpPr>
        <p:spPr>
          <a:xfrm rot="0">
            <a:off x="11775239" y="7346155"/>
            <a:ext cx="2759373" cy="352578"/>
          </a:xfrm>
          <a:prstGeom prst="rect">
            <a:avLst/>
          </a:prstGeom>
        </p:spPr>
        <p:txBody>
          <a:bodyPr anchor="t" rtlCol="false" tIns="0" lIns="0" bIns="0" rIns="0">
            <a:spAutoFit/>
          </a:bodyPr>
          <a:lstStyle/>
          <a:p>
            <a:pPr algn="ctr">
              <a:lnSpc>
                <a:spcPts val="2851"/>
              </a:lnSpc>
              <a:spcBef>
                <a:spcPct val="0"/>
              </a:spcBef>
            </a:pPr>
            <a:r>
              <a:rPr lang="en-US" b="true" sz="1939" spc="285">
                <a:solidFill>
                  <a:srgbClr val="211F1C"/>
                </a:solidFill>
                <a:latin typeface="Nunito Sans Expanded Semi-Bold"/>
                <a:ea typeface="Nunito Sans Expanded Semi-Bold"/>
                <a:cs typeface="Nunito Sans Expanded Semi-Bold"/>
                <a:sym typeface="Nunito Sans Expanded Semi-Bold"/>
              </a:rPr>
              <a:t>S</a:t>
            </a:r>
            <a:r>
              <a:rPr lang="en-US" b="true" sz="1939" spc="285">
                <a:solidFill>
                  <a:srgbClr val="211F1C"/>
                </a:solidFill>
                <a:latin typeface="Nunito Sans Expanded Semi-Bold"/>
                <a:ea typeface="Nunito Sans Expanded Semi-Bold"/>
                <a:cs typeface="Nunito Sans Expanded Semi-Bold"/>
                <a:sym typeface="Nunito Sans Expanded Semi-Bold"/>
              </a:rPr>
              <a:t>UPERVISEUR :</a:t>
            </a:r>
          </a:p>
        </p:txBody>
      </p:sp>
      <p:sp>
        <p:nvSpPr>
          <p:cNvPr name="TextBox 14" id="14"/>
          <p:cNvSpPr txBox="true"/>
          <p:nvPr/>
        </p:nvSpPr>
        <p:spPr>
          <a:xfrm rot="0">
            <a:off x="11775239" y="8203558"/>
            <a:ext cx="4978003" cy="352578"/>
          </a:xfrm>
          <a:prstGeom prst="rect">
            <a:avLst/>
          </a:prstGeom>
        </p:spPr>
        <p:txBody>
          <a:bodyPr anchor="t" rtlCol="false" tIns="0" lIns="0" bIns="0" rIns="0">
            <a:spAutoFit/>
          </a:bodyPr>
          <a:lstStyle/>
          <a:p>
            <a:pPr algn="ctr">
              <a:lnSpc>
                <a:spcPts val="2851"/>
              </a:lnSpc>
              <a:spcBef>
                <a:spcPct val="0"/>
              </a:spcBef>
            </a:pPr>
            <a:r>
              <a:rPr lang="en-US" b="true" sz="1939" spc="285">
                <a:solidFill>
                  <a:srgbClr val="211F1C"/>
                </a:solidFill>
                <a:latin typeface="Nunito Sans Expanded Semi-Bold"/>
                <a:ea typeface="Nunito Sans Expanded Semi-Bold"/>
                <a:cs typeface="Nunito Sans Expanded Semi-Bold"/>
                <a:sym typeface="Nunito Sans Expanded Semi-Bold"/>
              </a:rPr>
              <a:t>M. CHEKR</a:t>
            </a:r>
            <a:r>
              <a:rPr lang="en-US" b="true" sz="1939" spc="285">
                <a:solidFill>
                  <a:srgbClr val="211F1C"/>
                </a:solidFill>
                <a:latin typeface="Nunito Sans Expanded Semi-Bold"/>
                <a:ea typeface="Nunito Sans Expanded Semi-Bold"/>
                <a:cs typeface="Nunito Sans Expanded Semi-Bold"/>
                <a:sym typeface="Nunito Sans Expanded Semi-Bold"/>
              </a:rPr>
              <a:t>Y ABDERRAHMAN</a:t>
            </a:r>
          </a:p>
        </p:txBody>
      </p:sp>
      <p:sp>
        <p:nvSpPr>
          <p:cNvPr name="TextBox 15" id="15"/>
          <p:cNvSpPr txBox="true"/>
          <p:nvPr/>
        </p:nvSpPr>
        <p:spPr>
          <a:xfrm rot="0">
            <a:off x="1087487" y="7346155"/>
            <a:ext cx="3859213" cy="2524278"/>
          </a:xfrm>
          <a:prstGeom prst="rect">
            <a:avLst/>
          </a:prstGeom>
        </p:spPr>
        <p:txBody>
          <a:bodyPr anchor="t" rtlCol="false" tIns="0" lIns="0" bIns="0" rIns="0">
            <a:spAutoFit/>
          </a:bodyPr>
          <a:lstStyle/>
          <a:p>
            <a:pPr algn="ctr">
              <a:lnSpc>
                <a:spcPts val="2851"/>
              </a:lnSpc>
              <a:spcBef>
                <a:spcPct val="0"/>
              </a:spcBef>
            </a:pPr>
            <a:r>
              <a:rPr lang="en-US" b="true" sz="1939" spc="285">
                <a:solidFill>
                  <a:srgbClr val="211F1C"/>
                </a:solidFill>
                <a:latin typeface="Nunito Sans Expanded Semi-Bold"/>
                <a:ea typeface="Nunito Sans Expanded Semi-Bold"/>
                <a:cs typeface="Nunito Sans Expanded Semi-Bold"/>
                <a:sym typeface="Nunito Sans Expanded Semi-Bold"/>
              </a:rPr>
              <a:t>Réalisé par</a:t>
            </a:r>
            <a:r>
              <a:rPr lang="en-US" b="true" sz="1939" spc="285">
                <a:solidFill>
                  <a:srgbClr val="211F1C"/>
                </a:solidFill>
                <a:latin typeface="Nunito Sans Expanded Semi-Bold"/>
                <a:ea typeface="Nunito Sans Expanded Semi-Bold"/>
                <a:cs typeface="Nunito Sans Expanded Semi-Bold"/>
                <a:sym typeface="Nunito Sans Expanded Semi-Bold"/>
              </a:rPr>
              <a:t> : </a:t>
            </a:r>
          </a:p>
          <a:p>
            <a:pPr algn="ctr">
              <a:lnSpc>
                <a:spcPts val="2851"/>
              </a:lnSpc>
              <a:spcBef>
                <a:spcPct val="0"/>
              </a:spcBef>
            </a:pPr>
          </a:p>
          <a:p>
            <a:pPr algn="ctr">
              <a:lnSpc>
                <a:spcPts val="2851"/>
              </a:lnSpc>
              <a:spcBef>
                <a:spcPct val="0"/>
              </a:spcBef>
            </a:pPr>
            <a:r>
              <a:rPr lang="en-US" b="true" sz="1939" spc="285">
                <a:solidFill>
                  <a:srgbClr val="211F1C"/>
                </a:solidFill>
                <a:latin typeface="Nunito Sans Expanded Semi-Bold"/>
                <a:ea typeface="Nunito Sans Expanded Semi-Bold"/>
                <a:cs typeface="Nunito Sans Expanded Semi-Bold"/>
                <a:sym typeface="Nunito Sans Expanded Semi-Bold"/>
              </a:rPr>
              <a:t>EL BAHLOUL BRAHIM</a:t>
            </a:r>
          </a:p>
          <a:p>
            <a:pPr algn="ctr">
              <a:lnSpc>
                <a:spcPts val="2851"/>
              </a:lnSpc>
              <a:spcBef>
                <a:spcPct val="0"/>
              </a:spcBef>
            </a:pPr>
            <a:r>
              <a:rPr lang="en-US" b="true" sz="1939" spc="285">
                <a:solidFill>
                  <a:srgbClr val="211F1C"/>
                </a:solidFill>
                <a:latin typeface="Nunito Sans Expanded Semi-Bold"/>
                <a:ea typeface="Nunito Sans Expanded Semi-Bold"/>
                <a:cs typeface="Nunito Sans Expanded Semi-Bold"/>
                <a:sym typeface="Nunito Sans Expanded Semi-Bold"/>
              </a:rPr>
              <a:t> </a:t>
            </a:r>
          </a:p>
          <a:p>
            <a:pPr algn="ctr">
              <a:lnSpc>
                <a:spcPts val="2851"/>
              </a:lnSpc>
              <a:spcBef>
                <a:spcPct val="0"/>
              </a:spcBef>
            </a:pPr>
            <a:r>
              <a:rPr lang="en-US" b="true" sz="1939" spc="285">
                <a:solidFill>
                  <a:srgbClr val="211F1C"/>
                </a:solidFill>
                <a:latin typeface="Nunito Sans Expanded Semi-Bold"/>
                <a:ea typeface="Nunito Sans Expanded Semi-Bold"/>
                <a:cs typeface="Nunito Sans Expanded Semi-Bold"/>
                <a:sym typeface="Nunito Sans Expanded Semi-Bold"/>
              </a:rPr>
              <a:t>SAIH MOUNSSIF</a:t>
            </a:r>
          </a:p>
          <a:p>
            <a:pPr algn="ctr">
              <a:lnSpc>
                <a:spcPts val="2851"/>
              </a:lnSpc>
              <a:spcBef>
                <a:spcPct val="0"/>
              </a:spcBef>
            </a:pPr>
          </a:p>
          <a:p>
            <a:pPr algn="ctr">
              <a:lnSpc>
                <a:spcPts val="2851"/>
              </a:lnSpc>
              <a:spcBef>
                <a:spcPct val="0"/>
              </a:spcBef>
            </a:pPr>
            <a:r>
              <a:rPr lang="en-US" b="true" sz="1939" spc="285">
                <a:solidFill>
                  <a:srgbClr val="211F1C"/>
                </a:solidFill>
                <a:latin typeface="Nunito Sans Expanded Semi-Bold"/>
                <a:ea typeface="Nunito Sans Expanded Semi-Bold"/>
                <a:cs typeface="Nunito Sans Expanded Semi-Bold"/>
                <a:sym typeface="Nunito Sans Expanded Semi-Bold"/>
              </a:rPr>
              <a:t> JAIFRA ICHRAK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5" id="5"/>
          <p:cNvGrpSpPr/>
          <p:nvPr/>
        </p:nvGrpSpPr>
        <p:grpSpPr>
          <a:xfrm rot="0">
            <a:off x="1991530" y="3712397"/>
            <a:ext cx="6667500" cy="874356"/>
            <a:chOff x="0" y="0"/>
            <a:chExt cx="2126876" cy="278912"/>
          </a:xfrm>
        </p:grpSpPr>
        <p:sp>
          <p:nvSpPr>
            <p:cNvPr name="Freeform 6" id="6"/>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7" id="7"/>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b="true" sz="1739" spc="255">
                  <a:solidFill>
                    <a:srgbClr val="000000"/>
                  </a:solidFill>
                  <a:latin typeface="Nunito Sans Expanded Medium"/>
                  <a:ea typeface="Nunito Sans Expanded Medium"/>
                  <a:cs typeface="Nunito Sans Expanded Medium"/>
                  <a:sym typeface="Nunito Sans Expanded Medium"/>
                </a:rPr>
                <a:t>INTRODUCTION &amp; PROBLÉMATIQUE</a:t>
              </a:r>
            </a:p>
          </p:txBody>
        </p:sp>
      </p:grpSp>
      <p:grpSp>
        <p:nvGrpSpPr>
          <p:cNvPr name="Group 8" id="8"/>
          <p:cNvGrpSpPr/>
          <p:nvPr/>
        </p:nvGrpSpPr>
        <p:grpSpPr>
          <a:xfrm rot="0">
            <a:off x="809625" y="3712397"/>
            <a:ext cx="897095" cy="874356"/>
            <a:chOff x="0" y="0"/>
            <a:chExt cx="286166" cy="278912"/>
          </a:xfrm>
        </p:grpSpPr>
        <p:sp>
          <p:nvSpPr>
            <p:cNvPr name="Freeform 9" id="9"/>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10" id="10"/>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b="true" sz="2139" spc="314">
                  <a:solidFill>
                    <a:srgbClr val="000000"/>
                  </a:solidFill>
                  <a:latin typeface="Nunito Sans Expanded Bold"/>
                  <a:ea typeface="Nunito Sans Expanded Bold"/>
                  <a:cs typeface="Nunito Sans Expanded Bold"/>
                  <a:sym typeface="Nunito Sans Expanded Bold"/>
                </a:rPr>
                <a:t>2</a:t>
              </a:r>
            </a:p>
          </p:txBody>
        </p:sp>
      </p:grpSp>
      <p:grpSp>
        <p:nvGrpSpPr>
          <p:cNvPr name="Group 11" id="11"/>
          <p:cNvGrpSpPr/>
          <p:nvPr/>
        </p:nvGrpSpPr>
        <p:grpSpPr>
          <a:xfrm rot="0">
            <a:off x="1991530" y="4913454"/>
            <a:ext cx="6667500" cy="874356"/>
            <a:chOff x="0" y="0"/>
            <a:chExt cx="2126876" cy="278912"/>
          </a:xfrm>
        </p:grpSpPr>
        <p:sp>
          <p:nvSpPr>
            <p:cNvPr name="Freeform 12" id="12"/>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13" id="13"/>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b="true" sz="1739" spc="255">
                  <a:solidFill>
                    <a:srgbClr val="000000"/>
                  </a:solidFill>
                  <a:latin typeface="Nunito Sans Expanded Medium"/>
                  <a:ea typeface="Nunito Sans Expanded Medium"/>
                  <a:cs typeface="Nunito Sans Expanded Medium"/>
                  <a:sym typeface="Nunito Sans Expanded Medium"/>
                </a:rPr>
                <a:t>OBJECTIFS DU PROJET</a:t>
              </a:r>
            </a:p>
          </p:txBody>
        </p:sp>
      </p:grpSp>
      <p:grpSp>
        <p:nvGrpSpPr>
          <p:cNvPr name="Group 14" id="14"/>
          <p:cNvGrpSpPr/>
          <p:nvPr/>
        </p:nvGrpSpPr>
        <p:grpSpPr>
          <a:xfrm rot="0">
            <a:off x="809625" y="4913454"/>
            <a:ext cx="897095" cy="874356"/>
            <a:chOff x="0" y="0"/>
            <a:chExt cx="286166" cy="278912"/>
          </a:xfrm>
        </p:grpSpPr>
        <p:sp>
          <p:nvSpPr>
            <p:cNvPr name="Freeform 15" id="15"/>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16" id="16"/>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b="true" sz="2139" spc="314">
                  <a:solidFill>
                    <a:srgbClr val="000000"/>
                  </a:solidFill>
                  <a:latin typeface="Nunito Sans Expanded Bold"/>
                  <a:ea typeface="Nunito Sans Expanded Bold"/>
                  <a:cs typeface="Nunito Sans Expanded Bold"/>
                  <a:sym typeface="Nunito Sans Expanded Bold"/>
                </a:rPr>
                <a:t>3</a:t>
              </a:r>
            </a:p>
          </p:txBody>
        </p:sp>
      </p:grpSp>
      <p:grpSp>
        <p:nvGrpSpPr>
          <p:cNvPr name="Group 17" id="17"/>
          <p:cNvGrpSpPr/>
          <p:nvPr/>
        </p:nvGrpSpPr>
        <p:grpSpPr>
          <a:xfrm rot="0">
            <a:off x="1991530" y="6114511"/>
            <a:ext cx="6667500" cy="874356"/>
            <a:chOff x="0" y="0"/>
            <a:chExt cx="2126876" cy="278912"/>
          </a:xfrm>
        </p:grpSpPr>
        <p:sp>
          <p:nvSpPr>
            <p:cNvPr name="Freeform 18" id="18"/>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19" id="19"/>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b="true" sz="1739" spc="255">
                  <a:solidFill>
                    <a:srgbClr val="000000"/>
                  </a:solidFill>
                  <a:latin typeface="Nunito Sans Expanded Medium"/>
                  <a:ea typeface="Nunito Sans Expanded Medium"/>
                  <a:cs typeface="Nunito Sans Expanded Medium"/>
                  <a:sym typeface="Nunito Sans Expanded Medium"/>
                </a:rPr>
                <a:t>CONCEPTION DE L'ONTOLOGIE "ONTMOBILITE"</a:t>
              </a:r>
            </a:p>
          </p:txBody>
        </p:sp>
      </p:grpSp>
      <p:grpSp>
        <p:nvGrpSpPr>
          <p:cNvPr name="Group 20" id="20"/>
          <p:cNvGrpSpPr/>
          <p:nvPr/>
        </p:nvGrpSpPr>
        <p:grpSpPr>
          <a:xfrm rot="0">
            <a:off x="809625" y="6114511"/>
            <a:ext cx="897095" cy="874356"/>
            <a:chOff x="0" y="0"/>
            <a:chExt cx="286166" cy="278912"/>
          </a:xfrm>
        </p:grpSpPr>
        <p:sp>
          <p:nvSpPr>
            <p:cNvPr name="Freeform 21" id="21"/>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22" id="22"/>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b="true" sz="2139" spc="314">
                  <a:solidFill>
                    <a:srgbClr val="000000"/>
                  </a:solidFill>
                  <a:latin typeface="Nunito Sans Expanded Bold"/>
                  <a:ea typeface="Nunito Sans Expanded Bold"/>
                  <a:cs typeface="Nunito Sans Expanded Bold"/>
                  <a:sym typeface="Nunito Sans Expanded Bold"/>
                </a:rPr>
                <a:t>4</a:t>
              </a:r>
            </a:p>
          </p:txBody>
        </p:sp>
      </p:grpSp>
      <p:grpSp>
        <p:nvGrpSpPr>
          <p:cNvPr name="Group 23" id="23"/>
          <p:cNvGrpSpPr/>
          <p:nvPr/>
        </p:nvGrpSpPr>
        <p:grpSpPr>
          <a:xfrm rot="0">
            <a:off x="1991530" y="7315568"/>
            <a:ext cx="6667500" cy="874356"/>
            <a:chOff x="0" y="0"/>
            <a:chExt cx="2126876" cy="278912"/>
          </a:xfrm>
        </p:grpSpPr>
        <p:sp>
          <p:nvSpPr>
            <p:cNvPr name="Freeform 24" id="24"/>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25" id="25"/>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b="true" sz="1739" spc="255">
                  <a:solidFill>
                    <a:srgbClr val="000000"/>
                  </a:solidFill>
                  <a:latin typeface="Nunito Sans Expanded Medium"/>
                  <a:ea typeface="Nunito Sans Expanded Medium"/>
                  <a:cs typeface="Nunito Sans Expanded Medium"/>
                  <a:sym typeface="Nunito Sans Expanded Medium"/>
                </a:rPr>
                <a:t>DÉVELOPPEMENT ET IMPLÉMENTATION TECHNIQUE DE L'ONTOLOGIE</a:t>
              </a:r>
            </a:p>
          </p:txBody>
        </p:sp>
      </p:grpSp>
      <p:grpSp>
        <p:nvGrpSpPr>
          <p:cNvPr name="Group 26" id="26"/>
          <p:cNvGrpSpPr/>
          <p:nvPr/>
        </p:nvGrpSpPr>
        <p:grpSpPr>
          <a:xfrm rot="0">
            <a:off x="809625" y="7315568"/>
            <a:ext cx="897095" cy="874356"/>
            <a:chOff x="0" y="0"/>
            <a:chExt cx="286166" cy="278912"/>
          </a:xfrm>
        </p:grpSpPr>
        <p:sp>
          <p:nvSpPr>
            <p:cNvPr name="Freeform 27" id="27"/>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28" id="28"/>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b="true" sz="2139" spc="314">
                  <a:solidFill>
                    <a:srgbClr val="000000"/>
                  </a:solidFill>
                  <a:latin typeface="Nunito Sans Expanded Bold"/>
                  <a:ea typeface="Nunito Sans Expanded Bold"/>
                  <a:cs typeface="Nunito Sans Expanded Bold"/>
                  <a:sym typeface="Nunito Sans Expanded Bold"/>
                </a:rPr>
                <a:t>5</a:t>
              </a:r>
            </a:p>
          </p:txBody>
        </p:sp>
      </p:grpSp>
      <p:grpSp>
        <p:nvGrpSpPr>
          <p:cNvPr name="Group 29" id="29"/>
          <p:cNvGrpSpPr/>
          <p:nvPr/>
        </p:nvGrpSpPr>
        <p:grpSpPr>
          <a:xfrm rot="0">
            <a:off x="9606624" y="3712397"/>
            <a:ext cx="897095" cy="874356"/>
            <a:chOff x="0" y="0"/>
            <a:chExt cx="286166" cy="278912"/>
          </a:xfrm>
        </p:grpSpPr>
        <p:sp>
          <p:nvSpPr>
            <p:cNvPr name="Freeform 30" id="30"/>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31" id="31"/>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b="true" sz="2139" spc="314">
                  <a:solidFill>
                    <a:srgbClr val="000000"/>
                  </a:solidFill>
                  <a:latin typeface="Nunito Sans Expanded Bold"/>
                  <a:ea typeface="Nunito Sans Expanded Bold"/>
                  <a:cs typeface="Nunito Sans Expanded Bold"/>
                  <a:sym typeface="Nunito Sans Expanded Bold"/>
                </a:rPr>
                <a:t>6</a:t>
              </a:r>
            </a:p>
          </p:txBody>
        </p:sp>
      </p:grpSp>
      <p:grpSp>
        <p:nvGrpSpPr>
          <p:cNvPr name="Group 32" id="32"/>
          <p:cNvGrpSpPr/>
          <p:nvPr/>
        </p:nvGrpSpPr>
        <p:grpSpPr>
          <a:xfrm rot="0">
            <a:off x="10789468" y="3712397"/>
            <a:ext cx="6667500" cy="874356"/>
            <a:chOff x="0" y="0"/>
            <a:chExt cx="2126876" cy="278912"/>
          </a:xfrm>
        </p:grpSpPr>
        <p:sp>
          <p:nvSpPr>
            <p:cNvPr name="Freeform 33" id="33"/>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34" id="34"/>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b="true" sz="1739" spc="255">
                  <a:solidFill>
                    <a:srgbClr val="000000"/>
                  </a:solidFill>
                  <a:latin typeface="Nunito Sans Expanded Medium"/>
                  <a:ea typeface="Nunito Sans Expanded Medium"/>
                  <a:cs typeface="Nunito Sans Expanded Medium"/>
                  <a:sym typeface="Nunito Sans Expanded Medium"/>
                </a:rPr>
                <a:t>ARCHITECTURE MULTI-AGENTS &amp; IMPLÉMENTATION</a:t>
              </a:r>
            </a:p>
          </p:txBody>
        </p:sp>
      </p:grpSp>
      <p:grpSp>
        <p:nvGrpSpPr>
          <p:cNvPr name="Group 35" id="35"/>
          <p:cNvGrpSpPr/>
          <p:nvPr/>
        </p:nvGrpSpPr>
        <p:grpSpPr>
          <a:xfrm rot="0">
            <a:off x="9606624" y="4913454"/>
            <a:ext cx="897095" cy="874356"/>
            <a:chOff x="0" y="0"/>
            <a:chExt cx="286166" cy="278912"/>
          </a:xfrm>
        </p:grpSpPr>
        <p:sp>
          <p:nvSpPr>
            <p:cNvPr name="Freeform 36" id="36"/>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37" id="37"/>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b="true" sz="2139" spc="314">
                  <a:solidFill>
                    <a:srgbClr val="000000"/>
                  </a:solidFill>
                  <a:latin typeface="Nunito Sans Expanded Bold"/>
                  <a:ea typeface="Nunito Sans Expanded Bold"/>
                  <a:cs typeface="Nunito Sans Expanded Bold"/>
                  <a:sym typeface="Nunito Sans Expanded Bold"/>
                </a:rPr>
                <a:t>7</a:t>
              </a:r>
            </a:p>
          </p:txBody>
        </p:sp>
      </p:grpSp>
      <p:grpSp>
        <p:nvGrpSpPr>
          <p:cNvPr name="Group 38" id="38"/>
          <p:cNvGrpSpPr/>
          <p:nvPr/>
        </p:nvGrpSpPr>
        <p:grpSpPr>
          <a:xfrm rot="0">
            <a:off x="10789468" y="4913454"/>
            <a:ext cx="6667500" cy="874356"/>
            <a:chOff x="0" y="0"/>
            <a:chExt cx="2126876" cy="278912"/>
          </a:xfrm>
        </p:grpSpPr>
        <p:sp>
          <p:nvSpPr>
            <p:cNvPr name="Freeform 39" id="39"/>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40" id="40"/>
            <p:cNvSpPr txBox="true"/>
            <p:nvPr/>
          </p:nvSpPr>
          <p:spPr>
            <a:xfrm>
              <a:off x="0" y="-38100"/>
              <a:ext cx="2126876" cy="317012"/>
            </a:xfrm>
            <a:prstGeom prst="rect">
              <a:avLst/>
            </a:prstGeom>
          </p:spPr>
          <p:txBody>
            <a:bodyPr anchor="ctr" rtlCol="false" tIns="38100" lIns="38100" bIns="38100" rIns="38100"/>
            <a:lstStyle/>
            <a:p>
              <a:pPr algn="ctr" marL="0" indent="0" lvl="0">
                <a:lnSpc>
                  <a:spcPts val="2557"/>
                </a:lnSpc>
                <a:spcBef>
                  <a:spcPct val="0"/>
                </a:spcBef>
              </a:pPr>
              <a:r>
                <a:rPr lang="en-US" b="true" sz="1739" spc="255">
                  <a:solidFill>
                    <a:srgbClr val="000000"/>
                  </a:solidFill>
                  <a:latin typeface="Nunito Sans Expanded Medium"/>
                  <a:ea typeface="Nunito Sans Expanded Medium"/>
                  <a:cs typeface="Nunito Sans Expanded Medium"/>
                  <a:sym typeface="Nunito Sans Expanded Medium"/>
                </a:rPr>
                <a:t>DÉMONSTRATION &amp; SCÉNARIO </a:t>
              </a:r>
            </a:p>
          </p:txBody>
        </p:sp>
      </p:grpSp>
      <p:grpSp>
        <p:nvGrpSpPr>
          <p:cNvPr name="Group 41" id="41"/>
          <p:cNvGrpSpPr/>
          <p:nvPr/>
        </p:nvGrpSpPr>
        <p:grpSpPr>
          <a:xfrm rot="0">
            <a:off x="9606624" y="6114511"/>
            <a:ext cx="897095" cy="874356"/>
            <a:chOff x="0" y="0"/>
            <a:chExt cx="286166" cy="278912"/>
          </a:xfrm>
        </p:grpSpPr>
        <p:sp>
          <p:nvSpPr>
            <p:cNvPr name="Freeform 42" id="42"/>
            <p:cNvSpPr/>
            <p:nvPr/>
          </p:nvSpPr>
          <p:spPr>
            <a:xfrm flipH="false" flipV="false" rot="0">
              <a:off x="0" y="0"/>
              <a:ext cx="286166" cy="278912"/>
            </a:xfrm>
            <a:custGeom>
              <a:avLst/>
              <a:gdLst/>
              <a:ahLst/>
              <a:cxnLst/>
              <a:rect r="r" b="b" t="t" l="l"/>
              <a:pathLst>
                <a:path h="278912" w="286166">
                  <a:moveTo>
                    <a:pt x="139456" y="0"/>
                  </a:moveTo>
                  <a:lnTo>
                    <a:pt x="146710" y="0"/>
                  </a:lnTo>
                  <a:cubicBezTo>
                    <a:pt x="183696" y="0"/>
                    <a:pt x="219167" y="14693"/>
                    <a:pt x="245320" y="40846"/>
                  </a:cubicBezTo>
                  <a:cubicBezTo>
                    <a:pt x="271473" y="66999"/>
                    <a:pt x="286166" y="102470"/>
                    <a:pt x="286166" y="139456"/>
                  </a:cubicBezTo>
                  <a:lnTo>
                    <a:pt x="286166" y="139456"/>
                  </a:lnTo>
                  <a:cubicBezTo>
                    <a:pt x="286166" y="176442"/>
                    <a:pt x="271473" y="211913"/>
                    <a:pt x="245320" y="238066"/>
                  </a:cubicBezTo>
                  <a:cubicBezTo>
                    <a:pt x="219167" y="264219"/>
                    <a:pt x="183696" y="278912"/>
                    <a:pt x="146710" y="278912"/>
                  </a:cubicBezTo>
                  <a:lnTo>
                    <a:pt x="139456" y="278912"/>
                  </a:lnTo>
                  <a:cubicBezTo>
                    <a:pt x="102470" y="278912"/>
                    <a:pt x="66999" y="264219"/>
                    <a:pt x="40846" y="238066"/>
                  </a:cubicBezTo>
                  <a:cubicBezTo>
                    <a:pt x="14693" y="211913"/>
                    <a:pt x="0" y="176442"/>
                    <a:pt x="0" y="139456"/>
                  </a:cubicBezTo>
                  <a:lnTo>
                    <a:pt x="0" y="139456"/>
                  </a:lnTo>
                  <a:cubicBezTo>
                    <a:pt x="0" y="102470"/>
                    <a:pt x="14693" y="66999"/>
                    <a:pt x="40846" y="40846"/>
                  </a:cubicBezTo>
                  <a:cubicBezTo>
                    <a:pt x="66999" y="14693"/>
                    <a:pt x="102470" y="0"/>
                    <a:pt x="139456" y="0"/>
                  </a:cubicBezTo>
                  <a:close/>
                </a:path>
              </a:pathLst>
            </a:custGeom>
            <a:solidFill>
              <a:srgbClr val="F1F1F1"/>
            </a:solidFill>
            <a:ln w="19050" cap="rnd">
              <a:solidFill>
                <a:srgbClr val="000000"/>
              </a:solidFill>
              <a:prstDash val="solid"/>
              <a:round/>
            </a:ln>
          </p:spPr>
        </p:sp>
        <p:sp>
          <p:nvSpPr>
            <p:cNvPr name="TextBox 43" id="43"/>
            <p:cNvSpPr txBox="true"/>
            <p:nvPr/>
          </p:nvSpPr>
          <p:spPr>
            <a:xfrm>
              <a:off x="0" y="-57150"/>
              <a:ext cx="286166" cy="336062"/>
            </a:xfrm>
            <a:prstGeom prst="rect">
              <a:avLst/>
            </a:prstGeom>
          </p:spPr>
          <p:txBody>
            <a:bodyPr anchor="ctr" rtlCol="false" tIns="38100" lIns="38100" bIns="38100" rIns="38100"/>
            <a:lstStyle/>
            <a:p>
              <a:pPr algn="ctr">
                <a:lnSpc>
                  <a:spcPts val="3145"/>
                </a:lnSpc>
              </a:pPr>
              <a:r>
                <a:rPr lang="en-US" b="true" sz="2139" spc="314">
                  <a:solidFill>
                    <a:srgbClr val="000000"/>
                  </a:solidFill>
                  <a:latin typeface="Nunito Sans Expanded Bold"/>
                  <a:ea typeface="Nunito Sans Expanded Bold"/>
                  <a:cs typeface="Nunito Sans Expanded Bold"/>
                  <a:sym typeface="Nunito Sans Expanded Bold"/>
                </a:rPr>
                <a:t>8</a:t>
              </a:r>
            </a:p>
          </p:txBody>
        </p:sp>
      </p:grpSp>
      <p:grpSp>
        <p:nvGrpSpPr>
          <p:cNvPr name="Group 44" id="44"/>
          <p:cNvGrpSpPr/>
          <p:nvPr/>
        </p:nvGrpSpPr>
        <p:grpSpPr>
          <a:xfrm rot="0">
            <a:off x="10789468" y="6114511"/>
            <a:ext cx="6667500" cy="874356"/>
            <a:chOff x="0" y="0"/>
            <a:chExt cx="2126876" cy="278912"/>
          </a:xfrm>
        </p:grpSpPr>
        <p:sp>
          <p:nvSpPr>
            <p:cNvPr name="Freeform 45" id="45"/>
            <p:cNvSpPr/>
            <p:nvPr/>
          </p:nvSpPr>
          <p:spPr>
            <a:xfrm flipH="false" flipV="false" rot="0">
              <a:off x="0" y="0"/>
              <a:ext cx="2126876" cy="278912"/>
            </a:xfrm>
            <a:custGeom>
              <a:avLst/>
              <a:gdLst/>
              <a:ahLst/>
              <a:cxnLst/>
              <a:rect r="r" b="b" t="t" l="l"/>
              <a:pathLst>
                <a:path h="278912" w="2126876">
                  <a:moveTo>
                    <a:pt x="41801" y="0"/>
                  </a:moveTo>
                  <a:lnTo>
                    <a:pt x="2085075" y="0"/>
                  </a:lnTo>
                  <a:cubicBezTo>
                    <a:pt x="2096161" y="0"/>
                    <a:pt x="2106793" y="4404"/>
                    <a:pt x="2114633" y="12243"/>
                  </a:cubicBezTo>
                  <a:cubicBezTo>
                    <a:pt x="2122472" y="20083"/>
                    <a:pt x="2126876" y="30715"/>
                    <a:pt x="2126876" y="41801"/>
                  </a:cubicBezTo>
                  <a:lnTo>
                    <a:pt x="2126876" y="237111"/>
                  </a:lnTo>
                  <a:cubicBezTo>
                    <a:pt x="2126876" y="248197"/>
                    <a:pt x="2122472" y="258830"/>
                    <a:pt x="2114633" y="266669"/>
                  </a:cubicBezTo>
                  <a:cubicBezTo>
                    <a:pt x="2106793" y="274508"/>
                    <a:pt x="2096161" y="278912"/>
                    <a:pt x="2085075" y="278912"/>
                  </a:cubicBezTo>
                  <a:lnTo>
                    <a:pt x="41801" y="278912"/>
                  </a:lnTo>
                  <a:cubicBezTo>
                    <a:pt x="30715" y="278912"/>
                    <a:pt x="20083" y="274508"/>
                    <a:pt x="12243" y="266669"/>
                  </a:cubicBezTo>
                  <a:cubicBezTo>
                    <a:pt x="4404" y="258830"/>
                    <a:pt x="0" y="248197"/>
                    <a:pt x="0" y="237111"/>
                  </a:cubicBezTo>
                  <a:lnTo>
                    <a:pt x="0" y="41801"/>
                  </a:lnTo>
                  <a:cubicBezTo>
                    <a:pt x="0" y="30715"/>
                    <a:pt x="4404" y="20083"/>
                    <a:pt x="12243" y="12243"/>
                  </a:cubicBezTo>
                  <a:cubicBezTo>
                    <a:pt x="20083" y="4404"/>
                    <a:pt x="30715" y="0"/>
                    <a:pt x="41801" y="0"/>
                  </a:cubicBezTo>
                  <a:close/>
                </a:path>
              </a:pathLst>
            </a:custGeom>
            <a:solidFill>
              <a:srgbClr val="F1F1F1"/>
            </a:solidFill>
            <a:ln w="19050" cap="rnd">
              <a:solidFill>
                <a:srgbClr val="000000"/>
              </a:solidFill>
              <a:prstDash val="solid"/>
              <a:round/>
            </a:ln>
          </p:spPr>
        </p:sp>
        <p:sp>
          <p:nvSpPr>
            <p:cNvPr name="TextBox 46" id="46"/>
            <p:cNvSpPr txBox="true"/>
            <p:nvPr/>
          </p:nvSpPr>
          <p:spPr>
            <a:xfrm>
              <a:off x="0" y="-38100"/>
              <a:ext cx="2126876" cy="317012"/>
            </a:xfrm>
            <a:prstGeom prst="rect">
              <a:avLst/>
            </a:prstGeom>
          </p:spPr>
          <p:txBody>
            <a:bodyPr anchor="ctr" rtlCol="false" tIns="38100" lIns="38100" bIns="38100" rIns="38100"/>
            <a:lstStyle/>
            <a:p>
              <a:pPr algn="ctr">
                <a:lnSpc>
                  <a:spcPts val="2557"/>
                </a:lnSpc>
              </a:pPr>
              <a:r>
                <a:rPr lang="en-US" b="true" sz="1739" spc="255">
                  <a:solidFill>
                    <a:srgbClr val="000000"/>
                  </a:solidFill>
                  <a:latin typeface="Nunito Sans Expanded Medium"/>
                  <a:ea typeface="Nunito Sans Expanded Medium"/>
                  <a:cs typeface="Nunito Sans Expanded Medium"/>
                  <a:sym typeface="Nunito Sans Expanded Medium"/>
                </a:rPr>
                <a:t>CONCLUSION &amp; PERSPECTIVES</a:t>
              </a:r>
            </a:p>
          </p:txBody>
        </p:sp>
      </p:grpSp>
      <p:sp>
        <p:nvSpPr>
          <p:cNvPr name="Freeform 47" id="47"/>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8" id="48"/>
          <p:cNvSpPr txBox="true"/>
          <p:nvPr/>
        </p:nvSpPr>
        <p:spPr>
          <a:xfrm rot="0">
            <a:off x="809625" y="1496981"/>
            <a:ext cx="11890034" cy="1126425"/>
          </a:xfrm>
          <a:prstGeom prst="rect">
            <a:avLst/>
          </a:prstGeom>
        </p:spPr>
        <p:txBody>
          <a:bodyPr anchor="t" rtlCol="false" tIns="0" lIns="0" bIns="0" rIns="0">
            <a:spAutoFit/>
          </a:bodyPr>
          <a:lstStyle/>
          <a:p>
            <a:pPr algn="l" marL="0" indent="0" lvl="0">
              <a:lnSpc>
                <a:spcPts val="8475"/>
              </a:lnSpc>
              <a:spcBef>
                <a:spcPct val="0"/>
              </a:spcBef>
            </a:pPr>
            <a:r>
              <a:rPr lang="en-US" sz="8392">
                <a:solidFill>
                  <a:srgbClr val="211F1C"/>
                </a:solidFill>
                <a:latin typeface="Anton"/>
                <a:ea typeface="Anton"/>
                <a:cs typeface="Anton"/>
                <a:sym typeface="Anton"/>
              </a:rPr>
              <a:t>PLAN DE LA PRÉSENTATION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5" id="5"/>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1311" y="-240332"/>
            <a:ext cx="5554267" cy="3135902"/>
          </a:xfrm>
          <a:custGeom>
            <a:avLst/>
            <a:gdLst/>
            <a:ahLst/>
            <a:cxnLst/>
            <a:rect r="r" b="b" t="t" l="l"/>
            <a:pathLst>
              <a:path h="3135902" w="5554267">
                <a:moveTo>
                  <a:pt x="0" y="0"/>
                </a:moveTo>
                <a:lnTo>
                  <a:pt x="5554267" y="0"/>
                </a:lnTo>
                <a:lnTo>
                  <a:pt x="5554267" y="3135902"/>
                </a:lnTo>
                <a:lnTo>
                  <a:pt x="0" y="3135902"/>
                </a:lnTo>
                <a:lnTo>
                  <a:pt x="0" y="0"/>
                </a:lnTo>
                <a:close/>
              </a:path>
            </a:pathLst>
          </a:custGeom>
          <a:blipFill>
            <a:blip r:embed="rId7"/>
            <a:stretch>
              <a:fillRect l="0" t="0" r="0" b="0"/>
            </a:stretch>
          </a:blipFill>
        </p:spPr>
      </p:sp>
      <p:sp>
        <p:nvSpPr>
          <p:cNvPr name="Freeform 7" id="7"/>
          <p:cNvSpPr/>
          <p:nvPr/>
        </p:nvSpPr>
        <p:spPr>
          <a:xfrm flipH="false" flipV="false" rot="0">
            <a:off x="3100979" y="2895570"/>
            <a:ext cx="4703956" cy="2557911"/>
          </a:xfrm>
          <a:custGeom>
            <a:avLst/>
            <a:gdLst/>
            <a:ahLst/>
            <a:cxnLst/>
            <a:rect r="r" b="b" t="t" l="l"/>
            <a:pathLst>
              <a:path h="2557911" w="4703956">
                <a:moveTo>
                  <a:pt x="0" y="0"/>
                </a:moveTo>
                <a:lnTo>
                  <a:pt x="4703955" y="0"/>
                </a:lnTo>
                <a:lnTo>
                  <a:pt x="4703955" y="2557911"/>
                </a:lnTo>
                <a:lnTo>
                  <a:pt x="0" y="2557911"/>
                </a:lnTo>
                <a:lnTo>
                  <a:pt x="0" y="0"/>
                </a:lnTo>
                <a:close/>
              </a:path>
            </a:pathLst>
          </a:custGeom>
          <a:blipFill>
            <a:blip r:embed="rId8"/>
            <a:stretch>
              <a:fillRect l="0" t="0" r="0" b="0"/>
            </a:stretch>
          </a:blipFill>
        </p:spPr>
      </p:sp>
      <p:sp>
        <p:nvSpPr>
          <p:cNvPr name="Freeform 8" id="8"/>
          <p:cNvSpPr/>
          <p:nvPr/>
        </p:nvSpPr>
        <p:spPr>
          <a:xfrm flipH="false" flipV="false" rot="0">
            <a:off x="0" y="5453481"/>
            <a:ext cx="4540151" cy="2464210"/>
          </a:xfrm>
          <a:custGeom>
            <a:avLst/>
            <a:gdLst/>
            <a:ahLst/>
            <a:cxnLst/>
            <a:rect r="r" b="b" t="t" l="l"/>
            <a:pathLst>
              <a:path h="2464210" w="4540151">
                <a:moveTo>
                  <a:pt x="0" y="0"/>
                </a:moveTo>
                <a:lnTo>
                  <a:pt x="4540151" y="0"/>
                </a:lnTo>
                <a:lnTo>
                  <a:pt x="4540151" y="2464210"/>
                </a:lnTo>
                <a:lnTo>
                  <a:pt x="0" y="2464210"/>
                </a:lnTo>
                <a:lnTo>
                  <a:pt x="0" y="0"/>
                </a:lnTo>
                <a:close/>
              </a:path>
            </a:pathLst>
          </a:custGeom>
          <a:blipFill>
            <a:blip r:embed="rId9"/>
            <a:stretch>
              <a:fillRect l="0" t="0" r="0" b="0"/>
            </a:stretch>
          </a:blipFill>
        </p:spPr>
      </p:sp>
      <p:sp>
        <p:nvSpPr>
          <p:cNvPr name="Freeform 9" id="9"/>
          <p:cNvSpPr/>
          <p:nvPr/>
        </p:nvSpPr>
        <p:spPr>
          <a:xfrm flipH="false" flipV="false" rot="0">
            <a:off x="3657934" y="7475292"/>
            <a:ext cx="5055937" cy="2918316"/>
          </a:xfrm>
          <a:custGeom>
            <a:avLst/>
            <a:gdLst/>
            <a:ahLst/>
            <a:cxnLst/>
            <a:rect r="r" b="b" t="t" l="l"/>
            <a:pathLst>
              <a:path h="2918316" w="5055937">
                <a:moveTo>
                  <a:pt x="0" y="0"/>
                </a:moveTo>
                <a:lnTo>
                  <a:pt x="5055937" y="0"/>
                </a:lnTo>
                <a:lnTo>
                  <a:pt x="5055937" y="2918316"/>
                </a:lnTo>
                <a:lnTo>
                  <a:pt x="0" y="2918316"/>
                </a:lnTo>
                <a:lnTo>
                  <a:pt x="0" y="0"/>
                </a:lnTo>
                <a:close/>
              </a:path>
            </a:pathLst>
          </a:custGeom>
          <a:blipFill>
            <a:blip r:embed="rId10"/>
            <a:stretch>
              <a:fillRect l="0" t="0" r="0" b="0"/>
            </a:stretch>
          </a:blipFill>
        </p:spPr>
      </p:sp>
      <p:sp>
        <p:nvSpPr>
          <p:cNvPr name="TextBox 10" id="10"/>
          <p:cNvSpPr txBox="true"/>
          <p:nvPr/>
        </p:nvSpPr>
        <p:spPr>
          <a:xfrm rot="0">
            <a:off x="9686925" y="1881685"/>
            <a:ext cx="6547114" cy="2180170"/>
          </a:xfrm>
          <a:prstGeom prst="rect">
            <a:avLst/>
          </a:prstGeom>
        </p:spPr>
        <p:txBody>
          <a:bodyPr anchor="t" rtlCol="false" tIns="0" lIns="0" bIns="0" rIns="0">
            <a:spAutoFit/>
          </a:bodyPr>
          <a:lstStyle/>
          <a:p>
            <a:pPr algn="l">
              <a:lnSpc>
                <a:spcPts val="8475"/>
              </a:lnSpc>
            </a:pPr>
            <a:r>
              <a:rPr lang="en-US" sz="8392">
                <a:solidFill>
                  <a:srgbClr val="211F1C"/>
                </a:solidFill>
                <a:latin typeface="Anton"/>
                <a:ea typeface="Anton"/>
                <a:cs typeface="Anton"/>
                <a:sym typeface="Anton"/>
              </a:rPr>
              <a:t>CONTEXTES &amp; PROBLÉMATIQUE</a:t>
            </a:r>
          </a:p>
        </p:txBody>
      </p:sp>
      <p:sp>
        <p:nvSpPr>
          <p:cNvPr name="TextBox 11" id="11"/>
          <p:cNvSpPr txBox="true"/>
          <p:nvPr/>
        </p:nvSpPr>
        <p:spPr>
          <a:xfrm rot="0">
            <a:off x="8952760" y="4395230"/>
            <a:ext cx="8592290" cy="4198011"/>
          </a:xfrm>
          <a:prstGeom prst="rect">
            <a:avLst/>
          </a:prstGeom>
        </p:spPr>
        <p:txBody>
          <a:bodyPr anchor="t" rtlCol="false" tIns="0" lIns="0" bIns="0" rIns="0">
            <a:spAutoFit/>
          </a:bodyPr>
          <a:lstStyle/>
          <a:p>
            <a:pPr algn="l">
              <a:lnSpc>
                <a:spcPts val="2557"/>
              </a:lnSpc>
            </a:pPr>
            <a:r>
              <a:rPr lang="en-US" sz="1739" b="true">
                <a:solidFill>
                  <a:srgbClr val="211F1C"/>
                </a:solidFill>
                <a:latin typeface="Roboto Mono Bold"/>
                <a:ea typeface="Roboto Mono Bold"/>
                <a:cs typeface="Roboto Mono Bold"/>
                <a:sym typeface="Roboto Mono Bold"/>
              </a:rPr>
              <a:t>Le Contexte de Safi :</a:t>
            </a:r>
            <a:r>
              <a:rPr lang="en-US" sz="1739">
                <a:solidFill>
                  <a:srgbClr val="211F1C"/>
                </a:solidFill>
                <a:latin typeface="Roboto Mono"/>
                <a:ea typeface="Roboto Mono"/>
                <a:cs typeface="Roboto Mono"/>
                <a:sym typeface="Roboto Mono"/>
              </a:rPr>
              <a:t> Une topographie complexe traversée par </a:t>
            </a:r>
            <a:r>
              <a:rPr lang="en-US" sz="1739" b="true">
                <a:solidFill>
                  <a:srgbClr val="211F1C"/>
                </a:solidFill>
                <a:latin typeface="Roboto Mono Bold"/>
                <a:ea typeface="Roboto Mono Bold"/>
                <a:cs typeface="Roboto Mono Bold"/>
                <a:sym typeface="Roboto Mono Bold"/>
              </a:rPr>
              <a:t>Oued Chaaba</a:t>
            </a:r>
            <a:r>
              <a:rPr lang="en-US" sz="1739">
                <a:solidFill>
                  <a:srgbClr val="211F1C"/>
                </a:solidFill>
                <a:latin typeface="Roboto Mono"/>
                <a:ea typeface="Roboto Mono"/>
                <a:cs typeface="Roboto Mono"/>
                <a:sym typeface="Roboto Mono"/>
              </a:rPr>
              <a:t>.</a:t>
            </a:r>
          </a:p>
          <a:p>
            <a:pPr algn="l">
              <a:lnSpc>
                <a:spcPts val="2557"/>
              </a:lnSpc>
            </a:pPr>
            <a:r>
              <a:rPr lang="en-US" b="true" sz="1739" strike="noStrike" u="none">
                <a:solidFill>
                  <a:srgbClr val="211F1C"/>
                </a:solidFill>
                <a:latin typeface="Roboto Mono Bold"/>
                <a:ea typeface="Roboto Mono Bold"/>
                <a:cs typeface="Roboto Mono Bold"/>
                <a:sym typeface="Roboto Mono Bold"/>
              </a:rPr>
              <a:t>Le Problème (La Crue) :</a:t>
            </a:r>
            <a:r>
              <a:rPr lang="en-US" sz="1739" strike="noStrike" u="none">
                <a:solidFill>
                  <a:srgbClr val="211F1C"/>
                </a:solidFill>
                <a:latin typeface="Roboto Mono"/>
                <a:ea typeface="Roboto Mono"/>
                <a:cs typeface="Roboto Mono"/>
                <a:sym typeface="Roboto Mono"/>
              </a:rPr>
              <a:t> Lors des fortes pluies, la crue de Oued Chaaba provoque des inondations majeures dans la zone de l'Ancienne Médina.</a:t>
            </a:r>
          </a:p>
          <a:p>
            <a:pPr algn="l">
              <a:lnSpc>
                <a:spcPts val="2557"/>
              </a:lnSpc>
            </a:pPr>
            <a:r>
              <a:rPr lang="en-US" b="true" sz="1739" strike="noStrike" u="none">
                <a:solidFill>
                  <a:srgbClr val="211F1C"/>
                </a:solidFill>
                <a:latin typeface="Roboto Mono Bold"/>
                <a:ea typeface="Roboto Mono Bold"/>
                <a:cs typeface="Roboto Mono Bold"/>
                <a:sym typeface="Roboto Mono Bold"/>
              </a:rPr>
              <a:t>Impact sur le Transport :</a:t>
            </a:r>
          </a:p>
          <a:p>
            <a:pPr algn="l" marL="375664" indent="-187832" lvl="1">
              <a:lnSpc>
                <a:spcPts val="2557"/>
              </a:lnSpc>
              <a:buFont typeface="Arial"/>
              <a:buChar char="•"/>
            </a:pPr>
            <a:r>
              <a:rPr lang="en-US" sz="1739" strike="noStrike" u="none">
                <a:solidFill>
                  <a:srgbClr val="211F1C"/>
                </a:solidFill>
                <a:latin typeface="Roboto Mono"/>
                <a:ea typeface="Roboto Mono"/>
                <a:cs typeface="Roboto Mono"/>
                <a:sym typeface="Roboto Mono"/>
              </a:rPr>
              <a:t>Blocage total des routes centrales et des lignes de bus nominales.</a:t>
            </a:r>
          </a:p>
          <a:p>
            <a:pPr algn="l" marL="375664" indent="-187832" lvl="1">
              <a:lnSpc>
                <a:spcPts val="2557"/>
              </a:lnSpc>
              <a:buFont typeface="Arial"/>
              <a:buChar char="•"/>
            </a:pPr>
            <a:r>
              <a:rPr lang="en-US" sz="1739" strike="noStrike" u="none">
                <a:solidFill>
                  <a:srgbClr val="211F1C"/>
                </a:solidFill>
                <a:latin typeface="Roboto Mono"/>
                <a:ea typeface="Roboto Mono"/>
                <a:cs typeface="Roboto Mono"/>
                <a:sym typeface="Roboto Mono"/>
              </a:rPr>
              <a:t>Les systèmes d'information classiques (bases de données SQL) sont rigides : ils ne comprennent pas le lien sémantique entre "Inondation dans la zone X" et "Quels segments de bus précis faut-il couper et dévier immédiatement ?".</a:t>
            </a:r>
          </a:p>
          <a:p>
            <a:pPr algn="l">
              <a:lnSpc>
                <a:spcPts val="2557"/>
              </a:lnSpc>
            </a:pPr>
          </a:p>
        </p:txBody>
      </p:sp>
      <p:grpSp>
        <p:nvGrpSpPr>
          <p:cNvPr name="Group 12" id="12"/>
          <p:cNvGrpSpPr/>
          <p:nvPr/>
        </p:nvGrpSpPr>
        <p:grpSpPr>
          <a:xfrm rot="0">
            <a:off x="16193247" y="9258300"/>
            <a:ext cx="1066053" cy="432385"/>
            <a:chOff x="0" y="0"/>
            <a:chExt cx="3070231" cy="1245268"/>
          </a:xfrm>
        </p:grpSpPr>
        <p:sp>
          <p:nvSpPr>
            <p:cNvPr name="Freeform 13" id="13"/>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4" id="14"/>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3/26</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0" y="2097993"/>
            <a:ext cx="15513396" cy="8189007"/>
          </a:xfrm>
          <a:custGeom>
            <a:avLst/>
            <a:gdLst/>
            <a:ahLst/>
            <a:cxnLst/>
            <a:rect r="r" b="b" t="t" l="l"/>
            <a:pathLst>
              <a:path h="8189007" w="15513396">
                <a:moveTo>
                  <a:pt x="0" y="0"/>
                </a:moveTo>
                <a:lnTo>
                  <a:pt x="15513396" y="0"/>
                </a:lnTo>
                <a:lnTo>
                  <a:pt x="15513396" y="8189007"/>
                </a:lnTo>
                <a:lnTo>
                  <a:pt x="0" y="8189007"/>
                </a:lnTo>
                <a:lnTo>
                  <a:pt x="0" y="0"/>
                </a:lnTo>
                <a:close/>
              </a:path>
            </a:pathLst>
          </a:custGeom>
          <a:blipFill>
            <a:blip r:embed="rId3"/>
            <a:stretch>
              <a:fillRect l="0" t="0" r="0" b="-1063"/>
            </a:stretch>
          </a:blipFill>
        </p:spPr>
      </p:sp>
      <p:sp>
        <p:nvSpPr>
          <p:cNvPr name="TextBox 3" id="3"/>
          <p:cNvSpPr txBox="true"/>
          <p:nvPr/>
        </p:nvSpPr>
        <p:spPr>
          <a:xfrm rot="0">
            <a:off x="260297" y="754079"/>
            <a:ext cx="15027844" cy="834162"/>
          </a:xfrm>
          <a:prstGeom prst="rect">
            <a:avLst/>
          </a:prstGeom>
        </p:spPr>
        <p:txBody>
          <a:bodyPr anchor="t" rtlCol="false" tIns="0" lIns="0" bIns="0" rIns="0">
            <a:spAutoFit/>
          </a:bodyPr>
          <a:lstStyle/>
          <a:p>
            <a:pPr algn="l" marL="0" indent="0" lvl="0">
              <a:lnSpc>
                <a:spcPts val="3439"/>
              </a:lnSpc>
              <a:spcBef>
                <a:spcPct val="0"/>
              </a:spcBef>
            </a:pPr>
            <a:r>
              <a:rPr lang="en-US" b="true" sz="2339">
                <a:solidFill>
                  <a:srgbClr val="211F1C"/>
                </a:solidFill>
                <a:latin typeface="Roboto Mono Bold"/>
                <a:ea typeface="Roboto Mono Bold"/>
                <a:cs typeface="Roboto Mono Bold"/>
                <a:sym typeface="Roboto Mono Bold"/>
              </a:rPr>
              <a:t>Pourquoi l'Ontologie ?</a:t>
            </a:r>
            <a:r>
              <a:rPr lang="en-US" sz="2339">
                <a:solidFill>
                  <a:srgbClr val="211F1C"/>
                </a:solidFill>
                <a:latin typeface="Roboto Mono"/>
                <a:ea typeface="Roboto Mono"/>
                <a:cs typeface="Roboto Mono"/>
                <a:sym typeface="Roboto Mono"/>
              </a:rPr>
              <a:t> Pour donner une intelligence sémantique au réseau de transport de Safi.</a:t>
            </a:r>
          </a:p>
        </p:txBody>
      </p:sp>
      <p:sp>
        <p:nvSpPr>
          <p:cNvPr name="TextBox 4" id="4"/>
          <p:cNvSpPr txBox="true"/>
          <p:nvPr/>
        </p:nvSpPr>
        <p:spPr>
          <a:xfrm rot="5311134">
            <a:off x="11339478" y="5115776"/>
            <a:ext cx="11106312" cy="900226"/>
          </a:xfrm>
          <a:prstGeom prst="rect">
            <a:avLst/>
          </a:prstGeom>
        </p:spPr>
        <p:txBody>
          <a:bodyPr anchor="t" rtlCol="false" tIns="0" lIns="0" bIns="0" rIns="0">
            <a:spAutoFit/>
          </a:bodyPr>
          <a:lstStyle/>
          <a:p>
            <a:pPr algn="ctr" marL="0" indent="0" lvl="0">
              <a:lnSpc>
                <a:spcPts val="6724"/>
              </a:lnSpc>
              <a:spcBef>
                <a:spcPct val="0"/>
              </a:spcBef>
            </a:pPr>
            <a:r>
              <a:rPr lang="en-US" sz="6657">
                <a:solidFill>
                  <a:srgbClr val="211F1C"/>
                </a:solidFill>
                <a:latin typeface="Anton"/>
                <a:ea typeface="Anton"/>
                <a:cs typeface="Anton"/>
                <a:sym typeface="Anton"/>
              </a:rPr>
              <a:t>LA SOLUTION PROPOSÉE</a:t>
            </a:r>
          </a:p>
        </p:txBody>
      </p:sp>
      <p:sp>
        <p:nvSpPr>
          <p:cNvPr name="Freeform 5" id="5"/>
          <p:cNvSpPr/>
          <p:nvPr/>
        </p:nvSpPr>
        <p:spPr>
          <a:xfrm flipH="false" flipV="false" rot="0">
            <a:off x="16299139" y="604866"/>
            <a:ext cx="991952" cy="847668"/>
          </a:xfrm>
          <a:custGeom>
            <a:avLst/>
            <a:gdLst/>
            <a:ahLst/>
            <a:cxnLst/>
            <a:rect r="r" b="b" t="t" l="l"/>
            <a:pathLst>
              <a:path h="847668" w="991952">
                <a:moveTo>
                  <a:pt x="0" y="0"/>
                </a:moveTo>
                <a:lnTo>
                  <a:pt x="991952" y="0"/>
                </a:lnTo>
                <a:lnTo>
                  <a:pt x="991952" y="847668"/>
                </a:lnTo>
                <a:lnTo>
                  <a:pt x="0" y="8476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6262089" y="9517632"/>
            <a:ext cx="1066053" cy="432385"/>
            <a:chOff x="0" y="0"/>
            <a:chExt cx="3070231" cy="1245268"/>
          </a:xfrm>
        </p:grpSpPr>
        <p:sp>
          <p:nvSpPr>
            <p:cNvPr name="Freeform 7" id="7"/>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8" id="8"/>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4/26</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7521" y="1930999"/>
            <a:ext cx="15513396" cy="8356001"/>
          </a:xfrm>
          <a:custGeom>
            <a:avLst/>
            <a:gdLst/>
            <a:ahLst/>
            <a:cxnLst/>
            <a:rect r="r" b="b" t="t" l="l"/>
            <a:pathLst>
              <a:path h="8356001" w="15513396">
                <a:moveTo>
                  <a:pt x="0" y="0"/>
                </a:moveTo>
                <a:lnTo>
                  <a:pt x="15513396" y="0"/>
                </a:lnTo>
                <a:lnTo>
                  <a:pt x="15513396" y="8356001"/>
                </a:lnTo>
                <a:lnTo>
                  <a:pt x="0" y="8356001"/>
                </a:lnTo>
                <a:lnTo>
                  <a:pt x="0" y="0"/>
                </a:lnTo>
                <a:close/>
              </a:path>
            </a:pathLst>
          </a:custGeom>
          <a:blipFill>
            <a:blip r:embed="rId3"/>
            <a:stretch>
              <a:fillRect l="0" t="0" r="0" b="0"/>
            </a:stretch>
          </a:blipFill>
        </p:spPr>
      </p:sp>
      <p:sp>
        <p:nvSpPr>
          <p:cNvPr name="TextBox 3" id="3"/>
          <p:cNvSpPr txBox="true"/>
          <p:nvPr/>
        </p:nvSpPr>
        <p:spPr>
          <a:xfrm rot="0">
            <a:off x="260297" y="754079"/>
            <a:ext cx="15027844" cy="834162"/>
          </a:xfrm>
          <a:prstGeom prst="rect">
            <a:avLst/>
          </a:prstGeom>
        </p:spPr>
        <p:txBody>
          <a:bodyPr anchor="t" rtlCol="false" tIns="0" lIns="0" bIns="0" rIns="0">
            <a:spAutoFit/>
          </a:bodyPr>
          <a:lstStyle/>
          <a:p>
            <a:pPr algn="l" marL="0" indent="0" lvl="0">
              <a:lnSpc>
                <a:spcPts val="3439"/>
              </a:lnSpc>
              <a:spcBef>
                <a:spcPct val="0"/>
              </a:spcBef>
            </a:pPr>
            <a:r>
              <a:rPr lang="en-US" b="true" sz="2339">
                <a:solidFill>
                  <a:srgbClr val="211F1C"/>
                </a:solidFill>
                <a:latin typeface="Roboto Mono Bold"/>
                <a:ea typeface="Roboto Mono Bold"/>
                <a:cs typeface="Roboto Mono Bold"/>
                <a:sym typeface="Roboto Mono Bold"/>
              </a:rPr>
              <a:t>Pourquoi l'Ontologie ?</a:t>
            </a:r>
            <a:r>
              <a:rPr lang="en-US" sz="2339">
                <a:solidFill>
                  <a:srgbClr val="211F1C"/>
                </a:solidFill>
                <a:latin typeface="Roboto Mono"/>
                <a:ea typeface="Roboto Mono"/>
                <a:cs typeface="Roboto Mono"/>
                <a:sym typeface="Roboto Mono"/>
              </a:rPr>
              <a:t> Pour donner une intelligence sémantique au réseau de transport de Safi.</a:t>
            </a:r>
          </a:p>
        </p:txBody>
      </p:sp>
      <p:sp>
        <p:nvSpPr>
          <p:cNvPr name="TextBox 4" id="4"/>
          <p:cNvSpPr txBox="true"/>
          <p:nvPr/>
        </p:nvSpPr>
        <p:spPr>
          <a:xfrm rot="5311134">
            <a:off x="11649013" y="5115776"/>
            <a:ext cx="11106312" cy="900226"/>
          </a:xfrm>
          <a:prstGeom prst="rect">
            <a:avLst/>
          </a:prstGeom>
        </p:spPr>
        <p:txBody>
          <a:bodyPr anchor="t" rtlCol="false" tIns="0" lIns="0" bIns="0" rIns="0">
            <a:spAutoFit/>
          </a:bodyPr>
          <a:lstStyle/>
          <a:p>
            <a:pPr algn="ctr" marL="0" indent="0" lvl="0">
              <a:lnSpc>
                <a:spcPts val="6724"/>
              </a:lnSpc>
              <a:spcBef>
                <a:spcPct val="0"/>
              </a:spcBef>
            </a:pPr>
            <a:r>
              <a:rPr lang="en-US" sz="6657">
                <a:solidFill>
                  <a:srgbClr val="211F1C"/>
                </a:solidFill>
                <a:latin typeface="Anton"/>
                <a:ea typeface="Anton"/>
                <a:cs typeface="Anton"/>
                <a:sym typeface="Anton"/>
              </a:rPr>
              <a:t>LA SOLUTION PROPOSÉE</a:t>
            </a:r>
          </a:p>
        </p:txBody>
      </p:sp>
      <p:sp>
        <p:nvSpPr>
          <p:cNvPr name="Freeform 5" id="5"/>
          <p:cNvSpPr/>
          <p:nvPr/>
        </p:nvSpPr>
        <p:spPr>
          <a:xfrm flipH="false" flipV="false" rot="0">
            <a:off x="16564542" y="587958"/>
            <a:ext cx="991952" cy="847668"/>
          </a:xfrm>
          <a:custGeom>
            <a:avLst/>
            <a:gdLst/>
            <a:ahLst/>
            <a:cxnLst/>
            <a:rect r="r" b="b" t="t" l="l"/>
            <a:pathLst>
              <a:path h="847668" w="991952">
                <a:moveTo>
                  <a:pt x="0" y="0"/>
                </a:moveTo>
                <a:lnTo>
                  <a:pt x="991953" y="0"/>
                </a:lnTo>
                <a:lnTo>
                  <a:pt x="991953" y="847668"/>
                </a:lnTo>
                <a:lnTo>
                  <a:pt x="0" y="8476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6262089" y="9517632"/>
            <a:ext cx="1066053" cy="412786"/>
            <a:chOff x="0" y="0"/>
            <a:chExt cx="3070231" cy="1188822"/>
          </a:xfrm>
        </p:grpSpPr>
        <p:sp>
          <p:nvSpPr>
            <p:cNvPr name="Freeform 7" id="7"/>
            <p:cNvSpPr/>
            <p:nvPr/>
          </p:nvSpPr>
          <p:spPr>
            <a:xfrm flipH="false" flipV="false" rot="0">
              <a:off x="0" y="0"/>
              <a:ext cx="3070231" cy="1188822"/>
            </a:xfrm>
            <a:custGeom>
              <a:avLst/>
              <a:gdLst/>
              <a:ahLst/>
              <a:cxnLst/>
              <a:rect r="r" b="b" t="t" l="l"/>
              <a:pathLst>
                <a:path h="1188822" w="3070231">
                  <a:moveTo>
                    <a:pt x="225129" y="0"/>
                  </a:moveTo>
                  <a:lnTo>
                    <a:pt x="2845102" y="0"/>
                  </a:lnTo>
                  <a:cubicBezTo>
                    <a:pt x="2969438" y="0"/>
                    <a:pt x="3070231" y="100794"/>
                    <a:pt x="3070231" y="225129"/>
                  </a:cubicBezTo>
                  <a:lnTo>
                    <a:pt x="3070231" y="963693"/>
                  </a:lnTo>
                  <a:cubicBezTo>
                    <a:pt x="3070231" y="1088029"/>
                    <a:pt x="2969438" y="1188822"/>
                    <a:pt x="2845102" y="1188822"/>
                  </a:cubicBezTo>
                  <a:lnTo>
                    <a:pt x="225129" y="1188822"/>
                  </a:lnTo>
                  <a:cubicBezTo>
                    <a:pt x="100794" y="1188822"/>
                    <a:pt x="0" y="1088029"/>
                    <a:pt x="0" y="963693"/>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8" id="8"/>
            <p:cNvSpPr txBox="true"/>
            <p:nvPr/>
          </p:nvSpPr>
          <p:spPr>
            <a:xfrm>
              <a:off x="0" y="-38100"/>
              <a:ext cx="3070231" cy="1226922"/>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5/26</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370560" y="808496"/>
            <a:ext cx="18288000" cy="9258300"/>
          </a:xfrm>
          <a:custGeom>
            <a:avLst/>
            <a:gdLst/>
            <a:ahLst/>
            <a:cxnLst/>
            <a:rect r="r" b="b" t="t" l="l"/>
            <a:pathLst>
              <a:path h="9258300" w="18288000">
                <a:moveTo>
                  <a:pt x="0" y="0"/>
                </a:moveTo>
                <a:lnTo>
                  <a:pt x="18288000" y="0"/>
                </a:lnTo>
                <a:lnTo>
                  <a:pt x="18288000" y="9258300"/>
                </a:lnTo>
                <a:lnTo>
                  <a:pt x="0" y="9258300"/>
                </a:lnTo>
                <a:lnTo>
                  <a:pt x="0" y="0"/>
                </a:lnTo>
                <a:close/>
              </a:path>
            </a:pathLst>
          </a:custGeom>
          <a:blipFill>
            <a:blip r:embed="rId3"/>
            <a:stretch>
              <a:fillRect l="0" t="0" r="0" b="-205"/>
            </a:stretch>
          </a:blipFill>
        </p:spPr>
      </p:sp>
      <p:sp>
        <p:nvSpPr>
          <p:cNvPr name="Freeform 3" id="3"/>
          <p:cNvSpPr/>
          <p:nvPr/>
        </p:nvSpPr>
        <p:spPr>
          <a:xfrm flipH="false" flipV="false" rot="0">
            <a:off x="16925487" y="1028700"/>
            <a:ext cx="991952" cy="847668"/>
          </a:xfrm>
          <a:custGeom>
            <a:avLst/>
            <a:gdLst/>
            <a:ahLst/>
            <a:cxnLst/>
            <a:rect r="r" b="b" t="t" l="l"/>
            <a:pathLst>
              <a:path h="847668" w="991952">
                <a:moveTo>
                  <a:pt x="0" y="0"/>
                </a:moveTo>
                <a:lnTo>
                  <a:pt x="991953" y="0"/>
                </a:lnTo>
                <a:lnTo>
                  <a:pt x="991953" y="847668"/>
                </a:lnTo>
                <a:lnTo>
                  <a:pt x="0" y="8476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193247" y="9728163"/>
            <a:ext cx="1066053" cy="558837"/>
            <a:chOff x="0" y="0"/>
            <a:chExt cx="3070231" cy="1609451"/>
          </a:xfrm>
        </p:grpSpPr>
        <p:sp>
          <p:nvSpPr>
            <p:cNvPr name="Freeform 5" id="5"/>
            <p:cNvSpPr/>
            <p:nvPr/>
          </p:nvSpPr>
          <p:spPr>
            <a:xfrm flipH="false" flipV="false" rot="0">
              <a:off x="0" y="0"/>
              <a:ext cx="3070231" cy="1609451"/>
            </a:xfrm>
            <a:custGeom>
              <a:avLst/>
              <a:gdLst/>
              <a:ahLst/>
              <a:cxnLst/>
              <a:rect r="r" b="b" t="t" l="l"/>
              <a:pathLst>
                <a:path h="1609451" w="3070231">
                  <a:moveTo>
                    <a:pt x="225129" y="0"/>
                  </a:moveTo>
                  <a:lnTo>
                    <a:pt x="2845102" y="0"/>
                  </a:lnTo>
                  <a:cubicBezTo>
                    <a:pt x="2969438" y="0"/>
                    <a:pt x="3070231" y="100794"/>
                    <a:pt x="3070231" y="225129"/>
                  </a:cubicBezTo>
                  <a:lnTo>
                    <a:pt x="3070231" y="1384322"/>
                  </a:lnTo>
                  <a:cubicBezTo>
                    <a:pt x="3070231" y="1508658"/>
                    <a:pt x="2969438" y="1609451"/>
                    <a:pt x="2845102" y="1609451"/>
                  </a:cubicBezTo>
                  <a:lnTo>
                    <a:pt x="225129" y="1609451"/>
                  </a:lnTo>
                  <a:cubicBezTo>
                    <a:pt x="100794" y="1609451"/>
                    <a:pt x="0" y="1508658"/>
                    <a:pt x="0" y="138432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6" id="6"/>
            <p:cNvSpPr txBox="true"/>
            <p:nvPr/>
          </p:nvSpPr>
          <p:spPr>
            <a:xfrm>
              <a:off x="0" y="-38100"/>
              <a:ext cx="3070231" cy="164755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6/26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0" y="716474"/>
            <a:ext cx="18101768" cy="9258300"/>
          </a:xfrm>
          <a:custGeom>
            <a:avLst/>
            <a:gdLst/>
            <a:ahLst/>
            <a:cxnLst/>
            <a:rect r="r" b="b" t="t" l="l"/>
            <a:pathLst>
              <a:path h="9258300" w="18101768">
                <a:moveTo>
                  <a:pt x="0" y="0"/>
                </a:moveTo>
                <a:lnTo>
                  <a:pt x="18101768" y="0"/>
                </a:lnTo>
                <a:lnTo>
                  <a:pt x="18101768" y="9258300"/>
                </a:lnTo>
                <a:lnTo>
                  <a:pt x="0" y="9258300"/>
                </a:lnTo>
                <a:lnTo>
                  <a:pt x="0" y="0"/>
                </a:lnTo>
                <a:close/>
              </a:path>
            </a:pathLst>
          </a:custGeom>
          <a:blipFill>
            <a:blip r:embed="rId3"/>
            <a:stretch>
              <a:fillRect l="0" t="0" r="0" b="0"/>
            </a:stretch>
          </a:blipFill>
        </p:spPr>
      </p:sp>
      <p:sp>
        <p:nvSpPr>
          <p:cNvPr name="Freeform 3" id="3"/>
          <p:cNvSpPr/>
          <p:nvPr/>
        </p:nvSpPr>
        <p:spPr>
          <a:xfrm flipH="false" flipV="false" rot="0">
            <a:off x="17109816" y="1028700"/>
            <a:ext cx="991952" cy="847668"/>
          </a:xfrm>
          <a:custGeom>
            <a:avLst/>
            <a:gdLst/>
            <a:ahLst/>
            <a:cxnLst/>
            <a:rect r="r" b="b" t="t" l="l"/>
            <a:pathLst>
              <a:path h="847668" w="991952">
                <a:moveTo>
                  <a:pt x="0" y="0"/>
                </a:moveTo>
                <a:lnTo>
                  <a:pt x="991952" y="0"/>
                </a:lnTo>
                <a:lnTo>
                  <a:pt x="991952" y="847668"/>
                </a:lnTo>
                <a:lnTo>
                  <a:pt x="0" y="8476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262089" y="9517632"/>
            <a:ext cx="1066053" cy="457141"/>
            <a:chOff x="0" y="0"/>
            <a:chExt cx="3070231" cy="1316567"/>
          </a:xfrm>
        </p:grpSpPr>
        <p:sp>
          <p:nvSpPr>
            <p:cNvPr name="Freeform 5" id="5"/>
            <p:cNvSpPr/>
            <p:nvPr/>
          </p:nvSpPr>
          <p:spPr>
            <a:xfrm flipH="false" flipV="false" rot="0">
              <a:off x="0" y="0"/>
              <a:ext cx="3070231" cy="1316567"/>
            </a:xfrm>
            <a:custGeom>
              <a:avLst/>
              <a:gdLst/>
              <a:ahLst/>
              <a:cxnLst/>
              <a:rect r="r" b="b" t="t" l="l"/>
              <a:pathLst>
                <a:path h="1316567" w="3070231">
                  <a:moveTo>
                    <a:pt x="225129" y="0"/>
                  </a:moveTo>
                  <a:lnTo>
                    <a:pt x="2845102" y="0"/>
                  </a:lnTo>
                  <a:cubicBezTo>
                    <a:pt x="2969438" y="0"/>
                    <a:pt x="3070231" y="100794"/>
                    <a:pt x="3070231" y="225129"/>
                  </a:cubicBezTo>
                  <a:lnTo>
                    <a:pt x="3070231" y="1091438"/>
                  </a:lnTo>
                  <a:cubicBezTo>
                    <a:pt x="3070231" y="1215774"/>
                    <a:pt x="2969438" y="1316567"/>
                    <a:pt x="2845102" y="1316567"/>
                  </a:cubicBezTo>
                  <a:lnTo>
                    <a:pt x="225129" y="1316567"/>
                  </a:lnTo>
                  <a:cubicBezTo>
                    <a:pt x="100794" y="1316567"/>
                    <a:pt x="0" y="1215774"/>
                    <a:pt x="0" y="1091438"/>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6" id="6"/>
            <p:cNvSpPr txBox="true"/>
            <p:nvPr/>
          </p:nvSpPr>
          <p:spPr>
            <a:xfrm>
              <a:off x="0" y="-38100"/>
              <a:ext cx="3070231" cy="1354667"/>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7/26</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519790" y="4023465"/>
            <a:ext cx="11248419" cy="1669704"/>
          </a:xfrm>
          <a:prstGeom prst="rect">
            <a:avLst/>
          </a:prstGeom>
        </p:spPr>
        <p:txBody>
          <a:bodyPr anchor="t" rtlCol="false" tIns="0" lIns="0" bIns="0" rIns="0">
            <a:spAutoFit/>
          </a:bodyPr>
          <a:lstStyle/>
          <a:p>
            <a:pPr algn="ctr" marL="0" indent="0" lvl="0">
              <a:lnSpc>
                <a:spcPts val="6497"/>
              </a:lnSpc>
              <a:spcBef>
                <a:spcPct val="0"/>
              </a:spcBef>
            </a:pPr>
            <a:r>
              <a:rPr lang="en-US" sz="6433">
                <a:solidFill>
                  <a:srgbClr val="211F1C"/>
                </a:solidFill>
                <a:latin typeface="Anton"/>
                <a:ea typeface="Anton"/>
                <a:cs typeface="Anton"/>
                <a:sym typeface="Anton"/>
              </a:rPr>
              <a:t>DÉVELOPPEMEN</a:t>
            </a:r>
            <a:r>
              <a:rPr lang="en-US" sz="6433" strike="noStrike" u="none">
                <a:solidFill>
                  <a:srgbClr val="211F1C"/>
                </a:solidFill>
                <a:latin typeface="Anton"/>
                <a:ea typeface="Anton"/>
                <a:cs typeface="Anton"/>
                <a:sym typeface="Anton"/>
              </a:rPr>
              <a:t>T ET IMPLÉMENTATION TECHNIQUE DE L'ONTOLOGIE</a:t>
            </a:r>
          </a:p>
        </p:txBody>
      </p:sp>
      <p:sp>
        <p:nvSpPr>
          <p:cNvPr name="Freeform 6" id="6"/>
          <p:cNvSpPr/>
          <p:nvPr/>
        </p:nvSpPr>
        <p:spPr>
          <a:xfrm flipH="false" flipV="false" rot="0">
            <a:off x="8282303" y="2236423"/>
            <a:ext cx="1723393" cy="1472718"/>
          </a:xfrm>
          <a:custGeom>
            <a:avLst/>
            <a:gdLst/>
            <a:ahLst/>
            <a:cxnLst/>
            <a:rect r="r" b="b" t="t" l="l"/>
            <a:pathLst>
              <a:path h="1472718" w="1723393">
                <a:moveTo>
                  <a:pt x="0" y="0"/>
                </a:moveTo>
                <a:lnTo>
                  <a:pt x="1723394" y="0"/>
                </a:lnTo>
                <a:lnTo>
                  <a:pt x="1723394" y="1472717"/>
                </a:lnTo>
                <a:lnTo>
                  <a:pt x="0" y="1472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58180"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575306"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6262089" y="9517632"/>
            <a:ext cx="1066053" cy="510035"/>
            <a:chOff x="0" y="0"/>
            <a:chExt cx="3070231" cy="1468901"/>
          </a:xfrm>
        </p:grpSpPr>
        <p:sp>
          <p:nvSpPr>
            <p:cNvPr name="Freeform 10" id="10"/>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8/26</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strike="noStrike" u="none">
                <a:solidFill>
                  <a:srgbClr val="211F1C"/>
                </a:solidFill>
                <a:latin typeface="Anton"/>
                <a:ea typeface="Anton"/>
                <a:cs typeface="Anton"/>
                <a:sym typeface="Anton"/>
              </a:rPr>
              <a:t>IMPLÉMENTATION TECHNIQUE : ENVIRONNEMENT ET TAXONOMIE</a:t>
            </a:r>
          </a:p>
        </p:txBody>
      </p:sp>
      <p:sp>
        <p:nvSpPr>
          <p:cNvPr name="Freeform 6" id="6"/>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2418399" y="2678083"/>
            <a:ext cx="4695373" cy="2983900"/>
            <a:chOff x="0" y="0"/>
            <a:chExt cx="1236642" cy="785883"/>
          </a:xfrm>
        </p:grpSpPr>
        <p:sp>
          <p:nvSpPr>
            <p:cNvPr name="Freeform 8" id="8"/>
            <p:cNvSpPr/>
            <p:nvPr/>
          </p:nvSpPr>
          <p:spPr>
            <a:xfrm flipH="false" flipV="false" rot="0">
              <a:off x="0" y="0"/>
              <a:ext cx="1236641" cy="785883"/>
            </a:xfrm>
            <a:custGeom>
              <a:avLst/>
              <a:gdLst/>
              <a:ahLst/>
              <a:cxnLst/>
              <a:rect r="r" b="b" t="t" l="l"/>
              <a:pathLst>
                <a:path h="785883" w="1236641">
                  <a:moveTo>
                    <a:pt x="59358" y="0"/>
                  </a:moveTo>
                  <a:lnTo>
                    <a:pt x="1177283" y="0"/>
                  </a:lnTo>
                  <a:cubicBezTo>
                    <a:pt x="1210066" y="0"/>
                    <a:pt x="1236641" y="26576"/>
                    <a:pt x="1236641" y="59358"/>
                  </a:cubicBezTo>
                  <a:lnTo>
                    <a:pt x="1236641" y="726525"/>
                  </a:lnTo>
                  <a:cubicBezTo>
                    <a:pt x="1236641" y="759308"/>
                    <a:pt x="1210066" y="785883"/>
                    <a:pt x="1177283" y="785883"/>
                  </a:cubicBezTo>
                  <a:lnTo>
                    <a:pt x="59358" y="785883"/>
                  </a:lnTo>
                  <a:cubicBezTo>
                    <a:pt x="26576" y="785883"/>
                    <a:pt x="0" y="759308"/>
                    <a:pt x="0" y="726525"/>
                  </a:cubicBezTo>
                  <a:lnTo>
                    <a:pt x="0" y="59358"/>
                  </a:lnTo>
                  <a:cubicBezTo>
                    <a:pt x="0" y="26576"/>
                    <a:pt x="26576" y="0"/>
                    <a:pt x="59358" y="0"/>
                  </a:cubicBezTo>
                  <a:close/>
                </a:path>
              </a:pathLst>
            </a:custGeom>
            <a:solidFill>
              <a:srgbClr val="F1F1F1"/>
            </a:solidFill>
            <a:ln w="19050" cap="rnd">
              <a:solidFill>
                <a:srgbClr val="000000"/>
              </a:solidFill>
              <a:prstDash val="solid"/>
              <a:round/>
            </a:ln>
          </p:spPr>
        </p:sp>
        <p:sp>
          <p:nvSpPr>
            <p:cNvPr name="TextBox 9" id="9"/>
            <p:cNvSpPr txBox="true"/>
            <p:nvPr/>
          </p:nvSpPr>
          <p:spPr>
            <a:xfrm>
              <a:off x="0" y="-38100"/>
              <a:ext cx="1236642" cy="823983"/>
            </a:xfrm>
            <a:prstGeom prst="rect">
              <a:avLst/>
            </a:prstGeom>
          </p:spPr>
          <p:txBody>
            <a:bodyPr anchor="ctr" rtlCol="false" tIns="50800" lIns="50800" bIns="50800" rIns="50800"/>
            <a:lstStyle/>
            <a:p>
              <a:pPr algn="ctr">
                <a:lnSpc>
                  <a:spcPts val="2116"/>
                </a:lnSpc>
              </a:pPr>
            </a:p>
          </p:txBody>
        </p:sp>
      </p:grpSp>
      <p:grpSp>
        <p:nvGrpSpPr>
          <p:cNvPr name="Group 10" id="10"/>
          <p:cNvGrpSpPr/>
          <p:nvPr/>
        </p:nvGrpSpPr>
        <p:grpSpPr>
          <a:xfrm rot="0">
            <a:off x="1028700" y="6366833"/>
            <a:ext cx="15953699" cy="2389947"/>
            <a:chOff x="0" y="0"/>
            <a:chExt cx="4201797" cy="629451"/>
          </a:xfrm>
        </p:grpSpPr>
        <p:sp>
          <p:nvSpPr>
            <p:cNvPr name="Freeform 11" id="11"/>
            <p:cNvSpPr/>
            <p:nvPr/>
          </p:nvSpPr>
          <p:spPr>
            <a:xfrm flipH="false" flipV="false" rot="0">
              <a:off x="0" y="0"/>
              <a:ext cx="4201797" cy="629451"/>
            </a:xfrm>
            <a:custGeom>
              <a:avLst/>
              <a:gdLst/>
              <a:ahLst/>
              <a:cxnLst/>
              <a:rect r="r" b="b" t="t" l="l"/>
              <a:pathLst>
                <a:path h="629451" w="4201797">
                  <a:moveTo>
                    <a:pt x="17470" y="0"/>
                  </a:moveTo>
                  <a:lnTo>
                    <a:pt x="4184328" y="0"/>
                  </a:lnTo>
                  <a:cubicBezTo>
                    <a:pt x="4193976" y="0"/>
                    <a:pt x="4201797" y="7822"/>
                    <a:pt x="4201797" y="17470"/>
                  </a:cubicBezTo>
                  <a:lnTo>
                    <a:pt x="4201797" y="611981"/>
                  </a:lnTo>
                  <a:cubicBezTo>
                    <a:pt x="4201797" y="621629"/>
                    <a:pt x="4193976" y="629451"/>
                    <a:pt x="4184328" y="629451"/>
                  </a:cubicBezTo>
                  <a:lnTo>
                    <a:pt x="17470" y="629451"/>
                  </a:lnTo>
                  <a:cubicBezTo>
                    <a:pt x="7822" y="629451"/>
                    <a:pt x="0" y="621629"/>
                    <a:pt x="0" y="611981"/>
                  </a:cubicBezTo>
                  <a:lnTo>
                    <a:pt x="0" y="17470"/>
                  </a:lnTo>
                  <a:cubicBezTo>
                    <a:pt x="0" y="7822"/>
                    <a:pt x="7822" y="0"/>
                    <a:pt x="17470" y="0"/>
                  </a:cubicBezTo>
                  <a:close/>
                </a:path>
              </a:pathLst>
            </a:custGeom>
            <a:solidFill>
              <a:srgbClr val="F1F1F1"/>
            </a:solidFill>
            <a:ln w="19050" cap="rnd">
              <a:solidFill>
                <a:srgbClr val="000000"/>
              </a:solidFill>
              <a:prstDash val="solid"/>
              <a:round/>
            </a:ln>
          </p:spPr>
        </p:sp>
        <p:sp>
          <p:nvSpPr>
            <p:cNvPr name="TextBox 12" id="12"/>
            <p:cNvSpPr txBox="true"/>
            <p:nvPr/>
          </p:nvSpPr>
          <p:spPr>
            <a:xfrm>
              <a:off x="0" y="-38100"/>
              <a:ext cx="4201797" cy="667551"/>
            </a:xfrm>
            <a:prstGeom prst="rect">
              <a:avLst/>
            </a:prstGeom>
          </p:spPr>
          <p:txBody>
            <a:bodyPr anchor="ctr" rtlCol="false" tIns="50800" lIns="50800" bIns="50800" rIns="50800"/>
            <a:lstStyle/>
            <a:p>
              <a:pPr algn="ctr">
                <a:lnSpc>
                  <a:spcPts val="2116"/>
                </a:lnSpc>
              </a:pPr>
            </a:p>
          </p:txBody>
        </p:sp>
      </p:grpSp>
      <p:sp>
        <p:nvSpPr>
          <p:cNvPr name="TextBox 13" id="13"/>
          <p:cNvSpPr txBox="true"/>
          <p:nvPr/>
        </p:nvSpPr>
        <p:spPr>
          <a:xfrm rot="0">
            <a:off x="13376228" y="4011874"/>
            <a:ext cx="2779714" cy="705003"/>
          </a:xfrm>
          <a:prstGeom prst="rect">
            <a:avLst/>
          </a:prstGeom>
        </p:spPr>
        <p:txBody>
          <a:bodyPr anchor="t" rtlCol="false" tIns="0" lIns="0" bIns="0" rIns="0">
            <a:spAutoFit/>
          </a:bodyPr>
          <a:lstStyle/>
          <a:p>
            <a:pPr algn="ctr" marL="0" indent="0" lvl="0">
              <a:lnSpc>
                <a:spcPts val="2851"/>
              </a:lnSpc>
              <a:spcBef>
                <a:spcPct val="0"/>
              </a:spcBef>
            </a:pPr>
            <a:r>
              <a:rPr lang="en-US" sz="1939">
                <a:solidFill>
                  <a:srgbClr val="211F1C"/>
                </a:solidFill>
                <a:latin typeface="Roboto Mono"/>
                <a:ea typeface="Roboto Mono"/>
                <a:cs typeface="Roboto Mono"/>
                <a:sym typeface="Roboto Mono"/>
              </a:rPr>
              <a:t>F</a:t>
            </a:r>
            <a:r>
              <a:rPr lang="en-US" sz="1939" strike="noStrike" u="none">
                <a:solidFill>
                  <a:srgbClr val="211F1C"/>
                </a:solidFill>
                <a:latin typeface="Roboto Mono"/>
                <a:ea typeface="Roboto Mono"/>
                <a:cs typeface="Roboto Mono"/>
                <a:sym typeface="Roboto Mono"/>
              </a:rPr>
              <a:t>ormat standard RDF/XML.</a:t>
            </a:r>
          </a:p>
        </p:txBody>
      </p:sp>
      <p:sp>
        <p:nvSpPr>
          <p:cNvPr name="TextBox 14" id="14"/>
          <p:cNvSpPr txBox="true"/>
          <p:nvPr/>
        </p:nvSpPr>
        <p:spPr>
          <a:xfrm rot="0">
            <a:off x="13376228" y="2959691"/>
            <a:ext cx="2779714" cy="327025"/>
          </a:xfrm>
          <a:prstGeom prst="rect">
            <a:avLst/>
          </a:prstGeom>
        </p:spPr>
        <p:txBody>
          <a:bodyPr anchor="t" rtlCol="false" tIns="0" lIns="0" bIns="0" rIns="0">
            <a:spAutoFit/>
          </a:bodyPr>
          <a:lstStyle/>
          <a:p>
            <a:pPr algn="ctr">
              <a:lnSpc>
                <a:spcPts val="2525"/>
              </a:lnSpc>
            </a:pPr>
            <a:r>
              <a:rPr lang="en-US" sz="2500" spc="250">
                <a:solidFill>
                  <a:srgbClr val="211F1C"/>
                </a:solidFill>
                <a:latin typeface="Anton"/>
                <a:ea typeface="Anton"/>
                <a:cs typeface="Anton"/>
                <a:sym typeface="Anton"/>
              </a:rPr>
              <a:t>SÉRIALISATION :</a:t>
            </a:r>
          </a:p>
        </p:txBody>
      </p:sp>
      <p:sp>
        <p:nvSpPr>
          <p:cNvPr name="TextBox 15" id="15"/>
          <p:cNvSpPr txBox="true"/>
          <p:nvPr/>
        </p:nvSpPr>
        <p:spPr>
          <a:xfrm rot="0">
            <a:off x="1612841" y="6642465"/>
            <a:ext cx="2779714" cy="955675"/>
          </a:xfrm>
          <a:prstGeom prst="rect">
            <a:avLst/>
          </a:prstGeom>
        </p:spPr>
        <p:txBody>
          <a:bodyPr anchor="t" rtlCol="false" tIns="0" lIns="0" bIns="0" rIns="0">
            <a:spAutoFit/>
          </a:bodyPr>
          <a:lstStyle/>
          <a:p>
            <a:pPr algn="ctr">
              <a:lnSpc>
                <a:spcPts val="2525"/>
              </a:lnSpc>
            </a:pPr>
            <a:r>
              <a:rPr lang="en-US" sz="2500" spc="250">
                <a:solidFill>
                  <a:srgbClr val="211F1C"/>
                </a:solidFill>
                <a:latin typeface="Anton"/>
                <a:ea typeface="Anton"/>
                <a:cs typeface="Anton"/>
                <a:sym typeface="Anton"/>
              </a:rPr>
              <a:t>HIÉRARCHIE DES CLASSES (TAXONOMIE) :</a:t>
            </a:r>
          </a:p>
        </p:txBody>
      </p:sp>
      <p:sp>
        <p:nvSpPr>
          <p:cNvPr name="TextBox 16" id="16"/>
          <p:cNvSpPr txBox="true"/>
          <p:nvPr/>
        </p:nvSpPr>
        <p:spPr>
          <a:xfrm rot="0">
            <a:off x="5430780" y="7048865"/>
            <a:ext cx="2779714" cy="1283361"/>
          </a:xfrm>
          <a:prstGeom prst="rect">
            <a:avLst/>
          </a:prstGeom>
        </p:spPr>
        <p:txBody>
          <a:bodyPr anchor="t" rtlCol="false" tIns="0" lIns="0" bIns="0" rIns="0">
            <a:spAutoFit/>
          </a:bodyPr>
          <a:lstStyle/>
          <a:p>
            <a:pPr algn="ctr">
              <a:lnSpc>
                <a:spcPts val="2557"/>
              </a:lnSpc>
              <a:spcBef>
                <a:spcPct val="0"/>
              </a:spcBef>
            </a:pPr>
            <a:r>
              <a:rPr lang="en-US" b="true" sz="1739" spc="255">
                <a:solidFill>
                  <a:srgbClr val="211F1C"/>
                </a:solidFill>
                <a:latin typeface="Roboto Mono Bold"/>
                <a:ea typeface="Roboto Mono Bold"/>
                <a:cs typeface="Roboto Mono Bold"/>
                <a:sym typeface="Roboto Mono Bold"/>
              </a:rPr>
              <a:t>Inf</a:t>
            </a:r>
            <a:r>
              <a:rPr lang="en-US" b="true" sz="1739" spc="255">
                <a:solidFill>
                  <a:srgbClr val="211F1C"/>
                </a:solidFill>
                <a:latin typeface="Roboto Mono Bold"/>
                <a:ea typeface="Roboto Mono Bold"/>
                <a:cs typeface="Roboto Mono Bold"/>
                <a:sym typeface="Roboto Mono Bold"/>
              </a:rPr>
              <a:t>rastructure physique : Arret, Segment, Ligne, ZoneGeo.</a:t>
            </a:r>
          </a:p>
        </p:txBody>
      </p:sp>
      <p:sp>
        <p:nvSpPr>
          <p:cNvPr name="TextBox 17" id="17"/>
          <p:cNvSpPr txBox="true"/>
          <p:nvPr/>
        </p:nvSpPr>
        <p:spPr>
          <a:xfrm rot="0">
            <a:off x="9005549" y="6572463"/>
            <a:ext cx="3604218" cy="1931061"/>
          </a:xfrm>
          <a:prstGeom prst="rect">
            <a:avLst/>
          </a:prstGeom>
        </p:spPr>
        <p:txBody>
          <a:bodyPr anchor="t" rtlCol="false" tIns="0" lIns="0" bIns="0" rIns="0">
            <a:spAutoFit/>
          </a:bodyPr>
          <a:lstStyle/>
          <a:p>
            <a:pPr algn="ctr">
              <a:lnSpc>
                <a:spcPts val="2557"/>
              </a:lnSpc>
              <a:spcBef>
                <a:spcPct val="0"/>
              </a:spcBef>
            </a:pPr>
            <a:r>
              <a:rPr lang="en-US" b="true" sz="1739" spc="255">
                <a:solidFill>
                  <a:srgbClr val="211F1C"/>
                </a:solidFill>
                <a:latin typeface="Roboto Mono Bold"/>
                <a:ea typeface="Roboto Mono Bold"/>
                <a:cs typeface="Roboto Mono Bold"/>
                <a:sym typeface="Roboto Mono Bold"/>
              </a:rPr>
              <a:t>Exploitation &amp; Mobilité : Trajet divisé en deux sous-classes disjointes : ItineraireNominal et ItineraireAlternatif.</a:t>
            </a:r>
          </a:p>
        </p:txBody>
      </p:sp>
      <p:sp>
        <p:nvSpPr>
          <p:cNvPr name="TextBox 18" id="18"/>
          <p:cNvSpPr txBox="true"/>
          <p:nvPr/>
        </p:nvSpPr>
        <p:spPr>
          <a:xfrm rot="0">
            <a:off x="1823282" y="7700452"/>
            <a:ext cx="2358831" cy="788822"/>
          </a:xfrm>
          <a:prstGeom prst="rect">
            <a:avLst/>
          </a:prstGeom>
        </p:spPr>
        <p:txBody>
          <a:bodyPr anchor="t" rtlCol="false" tIns="0" lIns="0" bIns="0" rIns="0">
            <a:spAutoFit/>
          </a:bodyPr>
          <a:lstStyle/>
          <a:p>
            <a:pPr algn="ctr">
              <a:lnSpc>
                <a:spcPts val="2116"/>
              </a:lnSpc>
              <a:spcBef>
                <a:spcPct val="0"/>
              </a:spcBef>
            </a:pPr>
            <a:r>
              <a:rPr lang="en-US" b="true" sz="1439" spc="211">
                <a:solidFill>
                  <a:srgbClr val="211F1C"/>
                </a:solidFill>
                <a:latin typeface="Roboto Mono Medium"/>
                <a:ea typeface="Roboto Mono Medium"/>
                <a:cs typeface="Roboto Mono Medium"/>
                <a:sym typeface="Roboto Mono Medium"/>
              </a:rPr>
              <a:t>Séparation stricte des concepts:</a:t>
            </a:r>
          </a:p>
        </p:txBody>
      </p:sp>
      <p:grpSp>
        <p:nvGrpSpPr>
          <p:cNvPr name="Group 19" id="19"/>
          <p:cNvGrpSpPr/>
          <p:nvPr/>
        </p:nvGrpSpPr>
        <p:grpSpPr>
          <a:xfrm rot="0">
            <a:off x="6723549" y="2678083"/>
            <a:ext cx="4695373" cy="2983900"/>
            <a:chOff x="0" y="0"/>
            <a:chExt cx="1236642" cy="785883"/>
          </a:xfrm>
        </p:grpSpPr>
        <p:sp>
          <p:nvSpPr>
            <p:cNvPr name="Freeform 20" id="20"/>
            <p:cNvSpPr/>
            <p:nvPr/>
          </p:nvSpPr>
          <p:spPr>
            <a:xfrm flipH="false" flipV="false" rot="0">
              <a:off x="0" y="0"/>
              <a:ext cx="1236641" cy="785883"/>
            </a:xfrm>
            <a:custGeom>
              <a:avLst/>
              <a:gdLst/>
              <a:ahLst/>
              <a:cxnLst/>
              <a:rect r="r" b="b" t="t" l="l"/>
              <a:pathLst>
                <a:path h="785883" w="1236641">
                  <a:moveTo>
                    <a:pt x="59358" y="0"/>
                  </a:moveTo>
                  <a:lnTo>
                    <a:pt x="1177283" y="0"/>
                  </a:lnTo>
                  <a:cubicBezTo>
                    <a:pt x="1210066" y="0"/>
                    <a:pt x="1236641" y="26576"/>
                    <a:pt x="1236641" y="59358"/>
                  </a:cubicBezTo>
                  <a:lnTo>
                    <a:pt x="1236641" y="726525"/>
                  </a:lnTo>
                  <a:cubicBezTo>
                    <a:pt x="1236641" y="759308"/>
                    <a:pt x="1210066" y="785883"/>
                    <a:pt x="1177283" y="785883"/>
                  </a:cubicBezTo>
                  <a:lnTo>
                    <a:pt x="59358" y="785883"/>
                  </a:lnTo>
                  <a:cubicBezTo>
                    <a:pt x="26576" y="785883"/>
                    <a:pt x="0" y="759308"/>
                    <a:pt x="0" y="726525"/>
                  </a:cubicBezTo>
                  <a:lnTo>
                    <a:pt x="0" y="59358"/>
                  </a:lnTo>
                  <a:cubicBezTo>
                    <a:pt x="0" y="26576"/>
                    <a:pt x="26576" y="0"/>
                    <a:pt x="59358" y="0"/>
                  </a:cubicBezTo>
                  <a:close/>
                </a:path>
              </a:pathLst>
            </a:custGeom>
            <a:solidFill>
              <a:srgbClr val="F1F1F1"/>
            </a:solidFill>
            <a:ln w="19050" cap="rnd">
              <a:solidFill>
                <a:srgbClr val="000000"/>
              </a:solidFill>
              <a:prstDash val="solid"/>
              <a:round/>
            </a:ln>
          </p:spPr>
        </p:sp>
        <p:sp>
          <p:nvSpPr>
            <p:cNvPr name="TextBox 21" id="21"/>
            <p:cNvSpPr txBox="true"/>
            <p:nvPr/>
          </p:nvSpPr>
          <p:spPr>
            <a:xfrm>
              <a:off x="0" y="-38100"/>
              <a:ext cx="1236642" cy="823983"/>
            </a:xfrm>
            <a:prstGeom prst="rect">
              <a:avLst/>
            </a:prstGeom>
          </p:spPr>
          <p:txBody>
            <a:bodyPr anchor="ctr" rtlCol="false" tIns="50800" lIns="50800" bIns="50800" rIns="50800"/>
            <a:lstStyle/>
            <a:p>
              <a:pPr algn="ctr">
                <a:lnSpc>
                  <a:spcPts val="2116"/>
                </a:lnSpc>
              </a:pPr>
            </a:p>
          </p:txBody>
        </p:sp>
      </p:grpSp>
      <p:grpSp>
        <p:nvGrpSpPr>
          <p:cNvPr name="Group 22" id="22"/>
          <p:cNvGrpSpPr/>
          <p:nvPr/>
        </p:nvGrpSpPr>
        <p:grpSpPr>
          <a:xfrm rot="0">
            <a:off x="1028051" y="2678083"/>
            <a:ext cx="4695373" cy="2983900"/>
            <a:chOff x="0" y="0"/>
            <a:chExt cx="1236642" cy="785883"/>
          </a:xfrm>
        </p:grpSpPr>
        <p:sp>
          <p:nvSpPr>
            <p:cNvPr name="Freeform 23" id="23"/>
            <p:cNvSpPr/>
            <p:nvPr/>
          </p:nvSpPr>
          <p:spPr>
            <a:xfrm flipH="false" flipV="false" rot="0">
              <a:off x="0" y="0"/>
              <a:ext cx="1236641" cy="785883"/>
            </a:xfrm>
            <a:custGeom>
              <a:avLst/>
              <a:gdLst/>
              <a:ahLst/>
              <a:cxnLst/>
              <a:rect r="r" b="b" t="t" l="l"/>
              <a:pathLst>
                <a:path h="785883" w="1236641">
                  <a:moveTo>
                    <a:pt x="59358" y="0"/>
                  </a:moveTo>
                  <a:lnTo>
                    <a:pt x="1177283" y="0"/>
                  </a:lnTo>
                  <a:cubicBezTo>
                    <a:pt x="1210066" y="0"/>
                    <a:pt x="1236641" y="26576"/>
                    <a:pt x="1236641" y="59358"/>
                  </a:cubicBezTo>
                  <a:lnTo>
                    <a:pt x="1236641" y="726525"/>
                  </a:lnTo>
                  <a:cubicBezTo>
                    <a:pt x="1236641" y="759308"/>
                    <a:pt x="1210066" y="785883"/>
                    <a:pt x="1177283" y="785883"/>
                  </a:cubicBezTo>
                  <a:lnTo>
                    <a:pt x="59358" y="785883"/>
                  </a:lnTo>
                  <a:cubicBezTo>
                    <a:pt x="26576" y="785883"/>
                    <a:pt x="0" y="759308"/>
                    <a:pt x="0" y="726525"/>
                  </a:cubicBezTo>
                  <a:lnTo>
                    <a:pt x="0" y="59358"/>
                  </a:lnTo>
                  <a:cubicBezTo>
                    <a:pt x="0" y="26576"/>
                    <a:pt x="26576" y="0"/>
                    <a:pt x="59358" y="0"/>
                  </a:cubicBezTo>
                  <a:close/>
                </a:path>
              </a:pathLst>
            </a:custGeom>
            <a:solidFill>
              <a:srgbClr val="F1F1F1"/>
            </a:solidFill>
            <a:ln w="19050" cap="rnd">
              <a:solidFill>
                <a:srgbClr val="000000"/>
              </a:solidFill>
              <a:prstDash val="solid"/>
              <a:round/>
            </a:ln>
          </p:spPr>
        </p:sp>
        <p:sp>
          <p:nvSpPr>
            <p:cNvPr name="TextBox 24" id="24"/>
            <p:cNvSpPr txBox="true"/>
            <p:nvPr/>
          </p:nvSpPr>
          <p:spPr>
            <a:xfrm>
              <a:off x="0" y="-38100"/>
              <a:ext cx="1236642" cy="823983"/>
            </a:xfrm>
            <a:prstGeom prst="rect">
              <a:avLst/>
            </a:prstGeom>
          </p:spPr>
          <p:txBody>
            <a:bodyPr anchor="ctr" rtlCol="false" tIns="50800" lIns="50800" bIns="50800" rIns="50800"/>
            <a:lstStyle/>
            <a:p>
              <a:pPr algn="ctr">
                <a:lnSpc>
                  <a:spcPts val="2116"/>
                </a:lnSpc>
              </a:pPr>
            </a:p>
          </p:txBody>
        </p:sp>
      </p:grpSp>
      <p:sp>
        <p:nvSpPr>
          <p:cNvPr name="TextBox 25" id="25"/>
          <p:cNvSpPr txBox="true"/>
          <p:nvPr/>
        </p:nvSpPr>
        <p:spPr>
          <a:xfrm rot="0">
            <a:off x="1828154" y="2959691"/>
            <a:ext cx="3095168" cy="641350"/>
          </a:xfrm>
          <a:prstGeom prst="rect">
            <a:avLst/>
          </a:prstGeom>
        </p:spPr>
        <p:txBody>
          <a:bodyPr anchor="t" rtlCol="false" tIns="0" lIns="0" bIns="0" rIns="0">
            <a:spAutoFit/>
          </a:bodyPr>
          <a:lstStyle/>
          <a:p>
            <a:pPr algn="ctr">
              <a:lnSpc>
                <a:spcPts val="2525"/>
              </a:lnSpc>
            </a:pPr>
            <a:r>
              <a:rPr lang="en-US" sz="2500" spc="250">
                <a:solidFill>
                  <a:srgbClr val="211F1C"/>
                </a:solidFill>
                <a:latin typeface="Anton"/>
                <a:ea typeface="Anton"/>
                <a:cs typeface="Anton"/>
                <a:sym typeface="Anton"/>
              </a:rPr>
              <a:t>ENVIRONNEMENT DE DÉVELOPPEMENT :</a:t>
            </a:r>
          </a:p>
        </p:txBody>
      </p:sp>
      <p:sp>
        <p:nvSpPr>
          <p:cNvPr name="TextBox 26" id="26"/>
          <p:cNvSpPr txBox="true"/>
          <p:nvPr/>
        </p:nvSpPr>
        <p:spPr>
          <a:xfrm rot="0">
            <a:off x="1985881" y="4143967"/>
            <a:ext cx="2779714" cy="1066953"/>
          </a:xfrm>
          <a:prstGeom prst="rect">
            <a:avLst/>
          </a:prstGeom>
        </p:spPr>
        <p:txBody>
          <a:bodyPr anchor="t" rtlCol="false" tIns="0" lIns="0" bIns="0" rIns="0">
            <a:spAutoFit/>
          </a:bodyPr>
          <a:lstStyle/>
          <a:p>
            <a:pPr algn="ctr" marL="0" indent="0" lvl="0">
              <a:lnSpc>
                <a:spcPts val="2851"/>
              </a:lnSpc>
              <a:spcBef>
                <a:spcPct val="0"/>
              </a:spcBef>
            </a:pPr>
            <a:r>
              <a:rPr lang="en-US" sz="1939">
                <a:solidFill>
                  <a:srgbClr val="211F1C"/>
                </a:solidFill>
                <a:latin typeface="Roboto Mono"/>
                <a:ea typeface="Roboto Mono"/>
                <a:cs typeface="Roboto Mono"/>
                <a:sym typeface="Roboto Mono"/>
              </a:rPr>
              <a:t>É</a:t>
            </a:r>
            <a:r>
              <a:rPr lang="en-US" sz="1939" strike="noStrike" u="none">
                <a:solidFill>
                  <a:srgbClr val="211F1C"/>
                </a:solidFill>
                <a:latin typeface="Roboto Mono"/>
                <a:ea typeface="Roboto Mono"/>
                <a:cs typeface="Roboto Mono"/>
                <a:sym typeface="Roboto Mono"/>
              </a:rPr>
              <a:t>diteur open-source Protégé (version 5.6.9).</a:t>
            </a:r>
          </a:p>
        </p:txBody>
      </p:sp>
      <p:sp>
        <p:nvSpPr>
          <p:cNvPr name="TextBox 27" id="27"/>
          <p:cNvSpPr txBox="true"/>
          <p:nvPr/>
        </p:nvSpPr>
        <p:spPr>
          <a:xfrm rot="0">
            <a:off x="7754143" y="3116854"/>
            <a:ext cx="2779714" cy="327025"/>
          </a:xfrm>
          <a:prstGeom prst="rect">
            <a:avLst/>
          </a:prstGeom>
        </p:spPr>
        <p:txBody>
          <a:bodyPr anchor="t" rtlCol="false" tIns="0" lIns="0" bIns="0" rIns="0">
            <a:spAutoFit/>
          </a:bodyPr>
          <a:lstStyle/>
          <a:p>
            <a:pPr algn="ctr">
              <a:lnSpc>
                <a:spcPts val="2525"/>
              </a:lnSpc>
            </a:pPr>
            <a:r>
              <a:rPr lang="en-US" sz="2500" spc="250">
                <a:solidFill>
                  <a:srgbClr val="211F1C"/>
                </a:solidFill>
                <a:latin typeface="Anton"/>
                <a:ea typeface="Anton"/>
                <a:cs typeface="Anton"/>
                <a:sym typeface="Anton"/>
              </a:rPr>
              <a:t>FORMALISME :</a:t>
            </a:r>
          </a:p>
        </p:txBody>
      </p:sp>
      <p:sp>
        <p:nvSpPr>
          <p:cNvPr name="TextBox 28" id="28"/>
          <p:cNvSpPr txBox="true"/>
          <p:nvPr/>
        </p:nvSpPr>
        <p:spPr>
          <a:xfrm rot="0">
            <a:off x="7219522" y="3965245"/>
            <a:ext cx="3702778" cy="1428903"/>
          </a:xfrm>
          <a:prstGeom prst="rect">
            <a:avLst/>
          </a:prstGeom>
        </p:spPr>
        <p:txBody>
          <a:bodyPr anchor="t" rtlCol="false" tIns="0" lIns="0" bIns="0" rIns="0">
            <a:spAutoFit/>
          </a:bodyPr>
          <a:lstStyle/>
          <a:p>
            <a:pPr algn="ctr" marL="0" indent="0" lvl="0">
              <a:lnSpc>
                <a:spcPts val="2851"/>
              </a:lnSpc>
              <a:spcBef>
                <a:spcPct val="0"/>
              </a:spcBef>
            </a:pPr>
            <a:r>
              <a:rPr lang="en-US" sz="1939">
                <a:solidFill>
                  <a:srgbClr val="211F1C"/>
                </a:solidFill>
                <a:latin typeface="Roboto Mono"/>
                <a:ea typeface="Roboto Mono"/>
                <a:cs typeface="Roboto Mono"/>
                <a:sym typeface="Roboto Mono"/>
              </a:rPr>
              <a:t>OWL 2 basé s</a:t>
            </a:r>
            <a:r>
              <a:rPr lang="en-US" sz="1939" strike="noStrike" u="none">
                <a:solidFill>
                  <a:srgbClr val="211F1C"/>
                </a:solidFill>
                <a:latin typeface="Roboto Mono"/>
                <a:ea typeface="Roboto Mono"/>
                <a:cs typeface="Roboto Mono"/>
                <a:sym typeface="Roboto Mono"/>
              </a:rPr>
              <a:t>ur les Logiques de Description (DL) pour garantir la décidabilité des calculs. </a:t>
            </a:r>
          </a:p>
        </p:txBody>
      </p:sp>
      <p:sp>
        <p:nvSpPr>
          <p:cNvPr name="TextBox 29" id="29"/>
          <p:cNvSpPr txBox="true"/>
          <p:nvPr/>
        </p:nvSpPr>
        <p:spPr>
          <a:xfrm rot="0">
            <a:off x="13635236" y="7014995"/>
            <a:ext cx="2557441" cy="1273836"/>
          </a:xfrm>
          <a:prstGeom prst="rect">
            <a:avLst/>
          </a:prstGeom>
        </p:spPr>
        <p:txBody>
          <a:bodyPr anchor="t" rtlCol="false" tIns="0" lIns="0" bIns="0" rIns="0">
            <a:spAutoFit/>
          </a:bodyPr>
          <a:lstStyle/>
          <a:p>
            <a:pPr algn="ctr">
              <a:lnSpc>
                <a:spcPts val="2557"/>
              </a:lnSpc>
              <a:spcBef>
                <a:spcPct val="0"/>
              </a:spcBef>
            </a:pPr>
            <a:r>
              <a:rPr lang="en-US" b="true" sz="1739" spc="255">
                <a:solidFill>
                  <a:srgbClr val="211F1C"/>
                </a:solidFill>
                <a:latin typeface="Nunito Sans Expanded Semi-Bold"/>
                <a:ea typeface="Nunito Sans Expanded Semi-Bold"/>
                <a:cs typeface="Nunito Sans Expanded Semi-Bold"/>
                <a:sym typeface="Nunito Sans Expanded Semi-Bold"/>
              </a:rPr>
              <a:t>Événementiel : Pert</a:t>
            </a:r>
            <a:r>
              <a:rPr lang="en-US" b="true" sz="1739" spc="255">
                <a:solidFill>
                  <a:srgbClr val="211F1C"/>
                </a:solidFill>
                <a:latin typeface="Nunito Sans Expanded Semi-Bold"/>
                <a:ea typeface="Nunito Sans Expanded Semi-Bold"/>
                <a:cs typeface="Nunito Sans Expanded Semi-Bold"/>
                <a:sym typeface="Nunito Sans Expanded Semi-Bold"/>
              </a:rPr>
              <a:t>urbation (classe pivot du système).</a:t>
            </a:r>
          </a:p>
        </p:txBody>
      </p:sp>
      <p:grpSp>
        <p:nvGrpSpPr>
          <p:cNvPr name="Group 30" id="30"/>
          <p:cNvGrpSpPr/>
          <p:nvPr/>
        </p:nvGrpSpPr>
        <p:grpSpPr>
          <a:xfrm rot="0">
            <a:off x="16262089" y="9517632"/>
            <a:ext cx="1066053" cy="445202"/>
            <a:chOff x="0" y="0"/>
            <a:chExt cx="3070231" cy="1282182"/>
          </a:xfrm>
        </p:grpSpPr>
        <p:sp>
          <p:nvSpPr>
            <p:cNvPr name="Freeform 31" id="31"/>
            <p:cNvSpPr/>
            <p:nvPr/>
          </p:nvSpPr>
          <p:spPr>
            <a:xfrm flipH="false" flipV="false" rot="0">
              <a:off x="0" y="0"/>
              <a:ext cx="3070231" cy="1282182"/>
            </a:xfrm>
            <a:custGeom>
              <a:avLst/>
              <a:gdLst/>
              <a:ahLst/>
              <a:cxnLst/>
              <a:rect r="r" b="b" t="t" l="l"/>
              <a:pathLst>
                <a:path h="1282182" w="3070231">
                  <a:moveTo>
                    <a:pt x="225129" y="0"/>
                  </a:moveTo>
                  <a:lnTo>
                    <a:pt x="2845102" y="0"/>
                  </a:lnTo>
                  <a:cubicBezTo>
                    <a:pt x="2969438" y="0"/>
                    <a:pt x="3070231" y="100794"/>
                    <a:pt x="3070231" y="225129"/>
                  </a:cubicBezTo>
                  <a:lnTo>
                    <a:pt x="3070231" y="1057053"/>
                  </a:lnTo>
                  <a:cubicBezTo>
                    <a:pt x="3070231" y="1116761"/>
                    <a:pt x="3046512" y="1174023"/>
                    <a:pt x="3004293" y="1216243"/>
                  </a:cubicBezTo>
                  <a:cubicBezTo>
                    <a:pt x="2962073" y="1258463"/>
                    <a:pt x="2904810" y="1282182"/>
                    <a:pt x="2845102" y="1282182"/>
                  </a:cubicBezTo>
                  <a:lnTo>
                    <a:pt x="225129" y="1282182"/>
                  </a:lnTo>
                  <a:cubicBezTo>
                    <a:pt x="100794" y="1282182"/>
                    <a:pt x="0" y="1181388"/>
                    <a:pt x="0" y="1057053"/>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32" id="32"/>
            <p:cNvSpPr txBox="true"/>
            <p:nvPr/>
          </p:nvSpPr>
          <p:spPr>
            <a:xfrm>
              <a:off x="0" y="-38100"/>
              <a:ext cx="3070231" cy="1320282"/>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9/26</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strike="noStrike" u="none">
                <a:solidFill>
                  <a:srgbClr val="211F1C"/>
                </a:solidFill>
                <a:latin typeface="Anton"/>
                <a:ea typeface="Anton"/>
                <a:cs typeface="Anton"/>
                <a:sym typeface="Anton"/>
              </a:rPr>
              <a:t>IMPLÉMENTATION TECHNIQUE : PROPRIÉTÉS ET CONTRAINTES</a:t>
            </a:r>
          </a:p>
        </p:txBody>
      </p:sp>
      <p:sp>
        <p:nvSpPr>
          <p:cNvPr name="Freeform 6" id="6"/>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253334" y="2304438"/>
            <a:ext cx="9775329"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Relati</a:t>
            </a:r>
            <a:r>
              <a:rPr lang="en-US" b="true" sz="2339" spc="343">
                <a:solidFill>
                  <a:srgbClr val="211F1C"/>
                </a:solidFill>
                <a:latin typeface="Nunito Sans Expanded Semi-Bold"/>
                <a:ea typeface="Nunito Sans Expanded Semi-Bold"/>
                <a:cs typeface="Nunito Sans Expanded Semi-Bold"/>
                <a:sym typeface="Nunito Sans Expanded Semi-Bold"/>
              </a:rPr>
              <a:t>ons entre objets (Object Properties) :</a:t>
            </a:r>
          </a:p>
        </p:txBody>
      </p:sp>
      <p:sp>
        <p:nvSpPr>
          <p:cNvPr name="TextBox 8" id="8"/>
          <p:cNvSpPr txBox="true"/>
          <p:nvPr/>
        </p:nvSpPr>
        <p:spPr>
          <a:xfrm rot="0">
            <a:off x="2075421" y="3148125"/>
            <a:ext cx="14906978" cy="764820"/>
          </a:xfrm>
          <a:prstGeom prst="rect">
            <a:avLst/>
          </a:prstGeom>
        </p:spPr>
        <p:txBody>
          <a:bodyPr anchor="t" rtlCol="false" tIns="0" lIns="0" bIns="0" rIns="0">
            <a:spAutoFit/>
          </a:bodyPr>
          <a:lstStyle/>
          <a:p>
            <a:pPr algn="l" marL="462022" indent="-231011" lvl="1">
              <a:lnSpc>
                <a:spcPts val="3145"/>
              </a:lnSpc>
              <a:spcBef>
                <a:spcPct val="0"/>
              </a:spcBef>
              <a:buFont typeface="Arial"/>
              <a:buChar char="•"/>
            </a:pPr>
            <a:r>
              <a:rPr lang="en-US" b="true" sz="2139" spc="314">
                <a:solidFill>
                  <a:srgbClr val="211F1C"/>
                </a:solidFill>
                <a:latin typeface="Nunito Sans Expanded Semi-Bold"/>
                <a:ea typeface="Nunito Sans Expanded Semi-Bold"/>
                <a:cs typeface="Nunito Sans Expanded Semi-Bold"/>
                <a:sym typeface="Nunito Sans Expanded Semi-Bold"/>
              </a:rPr>
              <a:t>C</a:t>
            </a:r>
            <a:r>
              <a:rPr lang="en-US" b="true" sz="2139" spc="314">
                <a:solidFill>
                  <a:srgbClr val="211F1C"/>
                </a:solidFill>
                <a:latin typeface="Nunito Sans Expanded Semi-Bold"/>
                <a:ea typeface="Nunito Sans Expanded Semi-Bold"/>
                <a:cs typeface="Nunito Sans Expanded Semi-Bold"/>
                <a:sym typeface="Nunito Sans Expanded Semi-Bold"/>
              </a:rPr>
              <a:t>ontraintes Topologiques : CommenceDe (Segment → Arret) et estComposeeDeSegment (Ligne → Segment).</a:t>
            </a:r>
          </a:p>
        </p:txBody>
      </p:sp>
      <p:sp>
        <p:nvSpPr>
          <p:cNvPr name="TextBox 9" id="9"/>
          <p:cNvSpPr txBox="true"/>
          <p:nvPr/>
        </p:nvSpPr>
        <p:spPr>
          <a:xfrm rot="0">
            <a:off x="2075421" y="4305362"/>
            <a:ext cx="14906978" cy="764820"/>
          </a:xfrm>
          <a:prstGeom prst="rect">
            <a:avLst/>
          </a:prstGeom>
        </p:spPr>
        <p:txBody>
          <a:bodyPr anchor="t" rtlCol="false" tIns="0" lIns="0" bIns="0" rIns="0">
            <a:spAutoFit/>
          </a:bodyPr>
          <a:lstStyle/>
          <a:p>
            <a:pPr algn="l" marL="462022" indent="-231011" lvl="1">
              <a:lnSpc>
                <a:spcPts val="3145"/>
              </a:lnSpc>
              <a:spcBef>
                <a:spcPct val="0"/>
              </a:spcBef>
              <a:buFont typeface="Arial"/>
              <a:buChar char="•"/>
            </a:pPr>
            <a:r>
              <a:rPr lang="en-US" b="true" sz="2139" spc="314">
                <a:solidFill>
                  <a:srgbClr val="211F1C"/>
                </a:solidFill>
                <a:latin typeface="Nunito Sans Expanded Semi-Bold"/>
                <a:ea typeface="Nunito Sans Expanded Semi-Bold"/>
                <a:cs typeface="Nunito Sans Expanded Semi-Bold"/>
                <a:sym typeface="Nunito Sans Expanded Semi-Bold"/>
              </a:rPr>
              <a:t>M</a:t>
            </a:r>
            <a:r>
              <a:rPr lang="en-US" b="true" sz="2139" spc="314">
                <a:solidFill>
                  <a:srgbClr val="211F1C"/>
                </a:solidFill>
                <a:latin typeface="Nunito Sans Expanded Semi-Bold"/>
                <a:ea typeface="Nunito Sans Expanded Semi-Bold"/>
                <a:cs typeface="Nunito Sans Expanded Semi-Bold"/>
                <a:sym typeface="Nunito Sans Expanded Semi-Bold"/>
              </a:rPr>
              <a:t>odélisation de l'impact : affecteSegment et affecteLigne ayant pour domaine la classe Perturbation.</a:t>
            </a:r>
          </a:p>
        </p:txBody>
      </p:sp>
      <p:sp>
        <p:nvSpPr>
          <p:cNvPr name="TextBox 10" id="10"/>
          <p:cNvSpPr txBox="true"/>
          <p:nvPr/>
        </p:nvSpPr>
        <p:spPr>
          <a:xfrm rot="0">
            <a:off x="1253334" y="5508332"/>
            <a:ext cx="9775329"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Relati</a:t>
            </a:r>
            <a:r>
              <a:rPr lang="en-US" b="true" sz="2339" spc="343">
                <a:solidFill>
                  <a:srgbClr val="211F1C"/>
                </a:solidFill>
                <a:latin typeface="Nunito Sans Expanded Semi-Bold"/>
                <a:ea typeface="Nunito Sans Expanded Semi-Bold"/>
                <a:cs typeface="Nunito Sans Expanded Semi-Bold"/>
                <a:sym typeface="Nunito Sans Expanded Semi-Bold"/>
              </a:rPr>
              <a:t>ons entre objets (Object Properties) :</a:t>
            </a:r>
          </a:p>
        </p:txBody>
      </p:sp>
      <p:sp>
        <p:nvSpPr>
          <p:cNvPr name="TextBox 11" id="11"/>
          <p:cNvSpPr txBox="true"/>
          <p:nvPr/>
        </p:nvSpPr>
        <p:spPr>
          <a:xfrm rot="0">
            <a:off x="2075421" y="6304395"/>
            <a:ext cx="14906978" cy="764820"/>
          </a:xfrm>
          <a:prstGeom prst="rect">
            <a:avLst/>
          </a:prstGeom>
        </p:spPr>
        <p:txBody>
          <a:bodyPr anchor="t" rtlCol="false" tIns="0" lIns="0" bIns="0" rIns="0">
            <a:spAutoFit/>
          </a:bodyPr>
          <a:lstStyle/>
          <a:p>
            <a:pPr algn="l" marL="462022" indent="-231011" lvl="1">
              <a:lnSpc>
                <a:spcPts val="3145"/>
              </a:lnSpc>
              <a:spcBef>
                <a:spcPct val="0"/>
              </a:spcBef>
              <a:buFont typeface="Arial"/>
              <a:buChar char="•"/>
            </a:pPr>
            <a:r>
              <a:rPr lang="en-US" b="true" sz="2139" spc="314">
                <a:solidFill>
                  <a:srgbClr val="211F1C"/>
                </a:solidFill>
                <a:latin typeface="Nunito Sans Expanded Semi-Bold"/>
                <a:ea typeface="Nunito Sans Expanded Semi-Bold"/>
                <a:cs typeface="Nunito Sans Expanded Semi-Bold"/>
                <a:sym typeface="Nunito Sans Expanded Semi-Bold"/>
              </a:rPr>
              <a:t>Carac</a:t>
            </a:r>
            <a:r>
              <a:rPr lang="en-US" b="true" sz="2139" spc="314">
                <a:solidFill>
                  <a:srgbClr val="211F1C"/>
                </a:solidFill>
                <a:latin typeface="Nunito Sans Expanded Semi-Bold"/>
                <a:ea typeface="Nunito Sans Expanded Semi-Bold"/>
                <a:cs typeface="Nunito Sans Expanded Semi-Bold"/>
                <a:sym typeface="Nunito Sans Expanded Semi-Bold"/>
              </a:rPr>
              <a:t>térisation des individus via des littéraux (xsd:string) : NLigne, NomArret, description, IDPerturbation. </a:t>
            </a:r>
          </a:p>
        </p:txBody>
      </p:sp>
      <p:sp>
        <p:nvSpPr>
          <p:cNvPr name="TextBox 12" id="12"/>
          <p:cNvSpPr txBox="true"/>
          <p:nvPr/>
        </p:nvSpPr>
        <p:spPr>
          <a:xfrm rot="0">
            <a:off x="1028700" y="7507365"/>
            <a:ext cx="14960136" cy="834162"/>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Contrôle d'intégrité : Définiti</a:t>
            </a:r>
            <a:r>
              <a:rPr lang="en-US" b="true" sz="2339" spc="343">
                <a:solidFill>
                  <a:srgbClr val="211F1C"/>
                </a:solidFill>
                <a:latin typeface="Nunito Sans Expanded Semi-Bold"/>
                <a:ea typeface="Nunito Sans Expanded Semi-Bold"/>
                <a:cs typeface="Nunito Sans Expanded Semi-Bold"/>
                <a:sym typeface="Nunito Sans Expanded Semi-Bold"/>
              </a:rPr>
              <a:t>on stricte des domaines (Domain) et co-domaines (Range) pour chaque propriété.</a:t>
            </a:r>
          </a:p>
        </p:txBody>
      </p:sp>
      <p:grpSp>
        <p:nvGrpSpPr>
          <p:cNvPr name="Group 13" id="13"/>
          <p:cNvGrpSpPr/>
          <p:nvPr/>
        </p:nvGrpSpPr>
        <p:grpSpPr>
          <a:xfrm rot="0">
            <a:off x="16262089" y="9517632"/>
            <a:ext cx="1066053" cy="510035"/>
            <a:chOff x="0" y="0"/>
            <a:chExt cx="3070231" cy="1468901"/>
          </a:xfrm>
        </p:grpSpPr>
        <p:sp>
          <p:nvSpPr>
            <p:cNvPr name="Freeform 14" id="14"/>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5" id="15"/>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10/26</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690511" y="4746230"/>
            <a:ext cx="14906978" cy="2113434"/>
            <a:chOff x="0" y="0"/>
            <a:chExt cx="3926118" cy="556625"/>
          </a:xfrm>
        </p:grpSpPr>
        <p:sp>
          <p:nvSpPr>
            <p:cNvPr name="Freeform 7" id="7"/>
            <p:cNvSpPr/>
            <p:nvPr/>
          </p:nvSpPr>
          <p:spPr>
            <a:xfrm flipH="false" flipV="false" rot="0">
              <a:off x="0" y="0"/>
              <a:ext cx="3926118" cy="556625"/>
            </a:xfrm>
            <a:custGeom>
              <a:avLst/>
              <a:gdLst/>
              <a:ahLst/>
              <a:cxnLst/>
              <a:rect r="r" b="b" t="t" l="l"/>
              <a:pathLst>
                <a:path h="556625" w="3926118">
                  <a:moveTo>
                    <a:pt x="26487" y="0"/>
                  </a:moveTo>
                  <a:lnTo>
                    <a:pt x="3899631" y="0"/>
                  </a:lnTo>
                  <a:cubicBezTo>
                    <a:pt x="3914259" y="0"/>
                    <a:pt x="3926118" y="11859"/>
                    <a:pt x="3926118" y="26487"/>
                  </a:cubicBezTo>
                  <a:lnTo>
                    <a:pt x="3926118" y="530138"/>
                  </a:lnTo>
                  <a:cubicBezTo>
                    <a:pt x="3926118" y="544766"/>
                    <a:pt x="3914259" y="556625"/>
                    <a:pt x="3899631" y="556625"/>
                  </a:cubicBezTo>
                  <a:lnTo>
                    <a:pt x="26487" y="556625"/>
                  </a:lnTo>
                  <a:cubicBezTo>
                    <a:pt x="19462" y="556625"/>
                    <a:pt x="12725" y="553834"/>
                    <a:pt x="7758" y="548867"/>
                  </a:cubicBezTo>
                  <a:cubicBezTo>
                    <a:pt x="2791" y="543900"/>
                    <a:pt x="0" y="537163"/>
                    <a:pt x="0" y="530138"/>
                  </a:cubicBezTo>
                  <a:lnTo>
                    <a:pt x="0" y="26487"/>
                  </a:lnTo>
                  <a:cubicBezTo>
                    <a:pt x="0" y="19462"/>
                    <a:pt x="2791" y="12725"/>
                    <a:pt x="7758" y="7758"/>
                  </a:cubicBezTo>
                  <a:cubicBezTo>
                    <a:pt x="12725" y="2791"/>
                    <a:pt x="19462" y="0"/>
                    <a:pt x="26487" y="0"/>
                  </a:cubicBezTo>
                  <a:close/>
                </a:path>
              </a:pathLst>
            </a:custGeom>
            <a:solidFill>
              <a:srgbClr val="D1DCE0"/>
            </a:solidFill>
          </p:spPr>
        </p:sp>
        <p:sp>
          <p:nvSpPr>
            <p:cNvPr name="TextBox 8" id="8"/>
            <p:cNvSpPr txBox="true"/>
            <p:nvPr/>
          </p:nvSpPr>
          <p:spPr>
            <a:xfrm>
              <a:off x="0" y="-38100"/>
              <a:ext cx="3926118" cy="594725"/>
            </a:xfrm>
            <a:prstGeom prst="rect">
              <a:avLst/>
            </a:prstGeom>
          </p:spPr>
          <p:txBody>
            <a:bodyPr anchor="ctr" rtlCol="false" tIns="50800" lIns="50800" bIns="50800" rIns="50800"/>
            <a:lstStyle/>
            <a:p>
              <a:pPr algn="ctr">
                <a:lnSpc>
                  <a:spcPts val="2116"/>
                </a:lnSpc>
              </a:pPr>
            </a:p>
          </p:txBody>
        </p:sp>
      </p:grpSp>
      <p:sp>
        <p:nvSpPr>
          <p:cNvPr name="TextBox 9" id="9"/>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strike="noStrike" u="none">
                <a:solidFill>
                  <a:srgbClr val="211F1C"/>
                </a:solidFill>
                <a:latin typeface="Anton"/>
                <a:ea typeface="Anton"/>
                <a:cs typeface="Anton"/>
                <a:sym typeface="Anton"/>
              </a:rPr>
              <a:t>IMPLÉMENTATION TECHNIQUE : INFÉRENCE LOGIQUE (SWRL)</a:t>
            </a:r>
          </a:p>
        </p:txBody>
      </p:sp>
      <p:sp>
        <p:nvSpPr>
          <p:cNvPr name="TextBox 10" id="10"/>
          <p:cNvSpPr txBox="true"/>
          <p:nvPr/>
        </p:nvSpPr>
        <p:spPr>
          <a:xfrm rot="0">
            <a:off x="1253334" y="2304438"/>
            <a:ext cx="15729065" cy="834162"/>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Le bes</a:t>
            </a:r>
            <a:r>
              <a:rPr lang="en-US" b="true" sz="2339" spc="343">
                <a:solidFill>
                  <a:srgbClr val="211F1C"/>
                </a:solidFill>
                <a:latin typeface="Nunito Sans Expanded Semi-Bold"/>
                <a:ea typeface="Nunito Sans Expanded Semi-Bold"/>
                <a:cs typeface="Nunito Sans Expanded Semi-Bold"/>
                <a:sym typeface="Nunito Sans Expanded Semi-Bold"/>
              </a:rPr>
              <a:t>oin : Dépasser les limites descriptives d'OWL pour exprimer des règles métiers conditionnelles complexes. </a:t>
            </a:r>
          </a:p>
        </p:txBody>
      </p:sp>
      <p:sp>
        <p:nvSpPr>
          <p:cNvPr name="TextBox 11" id="11"/>
          <p:cNvSpPr txBox="true"/>
          <p:nvPr/>
        </p:nvSpPr>
        <p:spPr>
          <a:xfrm rot="0">
            <a:off x="1253334" y="3881829"/>
            <a:ext cx="8146653"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Règl</a:t>
            </a:r>
            <a:r>
              <a:rPr lang="en-US" b="true" sz="2339" spc="343">
                <a:solidFill>
                  <a:srgbClr val="211F1C"/>
                </a:solidFill>
                <a:latin typeface="Nunito Sans Expanded Semi-Bold"/>
                <a:ea typeface="Nunito Sans Expanded Semi-Bold"/>
                <a:cs typeface="Nunito Sans Expanded Semi-Bold"/>
                <a:sym typeface="Nunito Sans Expanded Semi-Bold"/>
              </a:rPr>
              <a:t>e SWRL majeure implémentée :</a:t>
            </a:r>
          </a:p>
        </p:txBody>
      </p:sp>
      <p:sp>
        <p:nvSpPr>
          <p:cNvPr name="TextBox 12" id="12"/>
          <p:cNvSpPr txBox="true"/>
          <p:nvPr/>
        </p:nvSpPr>
        <p:spPr>
          <a:xfrm rot="0">
            <a:off x="2075421" y="5030316"/>
            <a:ext cx="14117256" cy="1155345"/>
          </a:xfrm>
          <a:prstGeom prst="rect">
            <a:avLst/>
          </a:prstGeom>
        </p:spPr>
        <p:txBody>
          <a:bodyPr anchor="t" rtlCol="false" tIns="0" lIns="0" bIns="0" rIns="0">
            <a:spAutoFit/>
          </a:bodyPr>
          <a:lstStyle/>
          <a:p>
            <a:pPr algn="ctr">
              <a:lnSpc>
                <a:spcPts val="3145"/>
              </a:lnSpc>
              <a:spcBef>
                <a:spcPct val="0"/>
              </a:spcBef>
            </a:pPr>
            <a:r>
              <a:rPr lang="en-US" b="true" sz="2139" spc="314">
                <a:solidFill>
                  <a:srgbClr val="211F1C"/>
                </a:solidFill>
                <a:latin typeface="Nunito Sans Expanded Semi-Bold"/>
                <a:ea typeface="Nunito Sans Expanded Semi-Bold"/>
                <a:cs typeface="Nunito Sans Expanded Semi-Bold"/>
                <a:sym typeface="Nunito Sans Expanded Semi-Bold"/>
              </a:rPr>
              <a:t>Per</a:t>
            </a:r>
            <a:r>
              <a:rPr lang="en-US" b="true" sz="2139" spc="314">
                <a:solidFill>
                  <a:srgbClr val="211F1C"/>
                </a:solidFill>
                <a:latin typeface="Nunito Sans Expanded Semi-Bold"/>
                <a:ea typeface="Nunito Sans Expanded Semi-Bold"/>
                <a:cs typeface="Nunito Sans Expanded Semi-Bold"/>
                <a:sym typeface="Nunito Sans Expanded Semi-Bold"/>
              </a:rPr>
              <a:t>turbation(?p) ^ affecteSegment(?p, ?s) ^ appartientALigne(?s, ?l) ^ ItineraireAlternatif(?ta) ^ remplaceTrajetNominal(?ta, ?tn) -&gt; provoqueTrajetAlternatif(?p, ?ta)</a:t>
            </a:r>
          </a:p>
        </p:txBody>
      </p:sp>
      <p:sp>
        <p:nvSpPr>
          <p:cNvPr name="TextBox 13" id="13"/>
          <p:cNvSpPr txBox="true"/>
          <p:nvPr/>
        </p:nvSpPr>
        <p:spPr>
          <a:xfrm rot="0">
            <a:off x="1028700" y="7507365"/>
            <a:ext cx="15953699" cy="126278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Mécanisme : Si un incident t</a:t>
            </a:r>
            <a:r>
              <a:rPr lang="en-US" b="true" sz="2339" spc="343">
                <a:solidFill>
                  <a:srgbClr val="211F1C"/>
                </a:solidFill>
                <a:latin typeface="Nunito Sans Expanded Semi-Bold"/>
                <a:ea typeface="Nunito Sans Expanded Semi-Bold"/>
                <a:cs typeface="Nunito Sans Expanded Semi-Bold"/>
                <a:sym typeface="Nunito Sans Expanded Semi-Bold"/>
              </a:rPr>
              <a:t>ouche un segment de route d'une ligne, le système associe immédiatement et automatiquement la perturbation à la déviation correspondante.</a:t>
            </a:r>
          </a:p>
        </p:txBody>
      </p:sp>
      <p:grpSp>
        <p:nvGrpSpPr>
          <p:cNvPr name="Group 14" id="14"/>
          <p:cNvGrpSpPr/>
          <p:nvPr/>
        </p:nvGrpSpPr>
        <p:grpSpPr>
          <a:xfrm rot="0">
            <a:off x="16262089" y="9517632"/>
            <a:ext cx="1066053" cy="510035"/>
            <a:chOff x="0" y="0"/>
            <a:chExt cx="3070231" cy="1468901"/>
          </a:xfrm>
        </p:grpSpPr>
        <p:sp>
          <p:nvSpPr>
            <p:cNvPr name="Freeform 15" id="15"/>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6" id="16"/>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11/26</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strike="noStrike" u="none">
                <a:solidFill>
                  <a:srgbClr val="211F1C"/>
                </a:solidFill>
                <a:latin typeface="Anton"/>
                <a:ea typeface="Anton"/>
                <a:cs typeface="Anton"/>
                <a:sym typeface="Anton"/>
              </a:rPr>
              <a:t>IMPLÉMENTATION TECHNIQUE : RAISONNEUR &amp; VALIDATION</a:t>
            </a:r>
          </a:p>
        </p:txBody>
      </p:sp>
      <p:sp>
        <p:nvSpPr>
          <p:cNvPr name="TextBox 7" id="7"/>
          <p:cNvSpPr txBox="true"/>
          <p:nvPr/>
        </p:nvSpPr>
        <p:spPr>
          <a:xfrm rot="0">
            <a:off x="1253334" y="2555671"/>
            <a:ext cx="15729065"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M</a:t>
            </a:r>
            <a:r>
              <a:rPr lang="en-US" b="true" sz="2339" spc="343">
                <a:solidFill>
                  <a:srgbClr val="211F1C"/>
                </a:solidFill>
                <a:latin typeface="Nunito Sans Expanded Semi-Bold"/>
                <a:ea typeface="Nunito Sans Expanded Semi-Bold"/>
                <a:cs typeface="Nunito Sans Expanded Semi-Bold"/>
                <a:sym typeface="Nunito Sans Expanded Semi-Bold"/>
              </a:rPr>
              <a:t>oteur d'inférence utilisé : Pellet.</a:t>
            </a:r>
          </a:p>
        </p:txBody>
      </p:sp>
      <p:sp>
        <p:nvSpPr>
          <p:cNvPr name="TextBox 8" id="8"/>
          <p:cNvSpPr txBox="true"/>
          <p:nvPr/>
        </p:nvSpPr>
        <p:spPr>
          <a:xfrm rot="0">
            <a:off x="1253334" y="3652080"/>
            <a:ext cx="16225041" cy="126278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Vérification de la cohérence (Consistency Checking) : Validation d</a:t>
            </a:r>
            <a:r>
              <a:rPr lang="en-US" b="true" sz="2339" spc="343">
                <a:solidFill>
                  <a:srgbClr val="211F1C"/>
                </a:solidFill>
                <a:latin typeface="Nunito Sans Expanded Semi-Bold"/>
                <a:ea typeface="Nunito Sans Expanded Semi-Bold"/>
                <a:cs typeface="Nunito Sans Expanded Semi-Bold"/>
                <a:sym typeface="Nunito Sans Expanded Semi-Bold"/>
              </a:rPr>
              <a:t>e l'absence de contradictions logiques (ex: l'étanchéité des classes disjointes).</a:t>
            </a:r>
          </a:p>
        </p:txBody>
      </p:sp>
      <p:sp>
        <p:nvSpPr>
          <p:cNvPr name="TextBox 9" id="9"/>
          <p:cNvSpPr txBox="true"/>
          <p:nvPr/>
        </p:nvSpPr>
        <p:spPr>
          <a:xfrm rot="0">
            <a:off x="1253334" y="5610193"/>
            <a:ext cx="15953699" cy="834162"/>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Classification aut</a:t>
            </a:r>
            <a:r>
              <a:rPr lang="en-US" b="true" sz="2339" spc="343">
                <a:solidFill>
                  <a:srgbClr val="211F1C"/>
                </a:solidFill>
                <a:latin typeface="Nunito Sans Expanded Semi-Bold"/>
                <a:ea typeface="Nunito Sans Expanded Semi-Bold"/>
                <a:cs typeface="Nunito Sans Expanded Semi-Bold"/>
                <a:sym typeface="Nunito Sans Expanded Semi-Bold"/>
              </a:rPr>
              <a:t>omatique : Matérialisation des triplets cachés et des relations implicites déduites par SWRL. </a:t>
            </a:r>
          </a:p>
        </p:txBody>
      </p:sp>
      <p:sp>
        <p:nvSpPr>
          <p:cNvPr name="TextBox 10" id="10"/>
          <p:cNvSpPr txBox="true"/>
          <p:nvPr/>
        </p:nvSpPr>
        <p:spPr>
          <a:xfrm rot="0">
            <a:off x="1305601" y="7139680"/>
            <a:ext cx="15953699" cy="834162"/>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Résult</a:t>
            </a:r>
            <a:r>
              <a:rPr lang="en-US" b="true" sz="2339" spc="343">
                <a:solidFill>
                  <a:srgbClr val="211F1C"/>
                </a:solidFill>
                <a:latin typeface="Nunito Sans Expanded Semi-Bold"/>
                <a:ea typeface="Nunito Sans Expanded Semi-Bold"/>
                <a:cs typeface="Nunito Sans Expanded Semi-Bold"/>
                <a:sym typeface="Nunito Sans Expanded Semi-Bold"/>
              </a:rPr>
              <a:t>at : Ontologie validée avec succès, stable et prête pour l'interrogation sémantique (SPARQL). </a:t>
            </a:r>
          </a:p>
        </p:txBody>
      </p:sp>
      <p:grpSp>
        <p:nvGrpSpPr>
          <p:cNvPr name="Group 11" id="11"/>
          <p:cNvGrpSpPr/>
          <p:nvPr/>
        </p:nvGrpSpPr>
        <p:grpSpPr>
          <a:xfrm rot="0">
            <a:off x="16262089" y="9517632"/>
            <a:ext cx="1066053" cy="510035"/>
            <a:chOff x="0" y="0"/>
            <a:chExt cx="3070231" cy="1468901"/>
          </a:xfrm>
        </p:grpSpPr>
        <p:sp>
          <p:nvSpPr>
            <p:cNvPr name="Freeform 12" id="12"/>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3" id="13"/>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12/26</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2773222" y="0"/>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62012" y="3837575"/>
            <a:ext cx="15163977" cy="3772658"/>
          </a:xfrm>
          <a:custGeom>
            <a:avLst/>
            <a:gdLst/>
            <a:ahLst/>
            <a:cxnLst/>
            <a:rect r="r" b="b" t="t" l="l"/>
            <a:pathLst>
              <a:path h="3772658" w="15163977">
                <a:moveTo>
                  <a:pt x="0" y="0"/>
                </a:moveTo>
                <a:lnTo>
                  <a:pt x="15163976" y="0"/>
                </a:lnTo>
                <a:lnTo>
                  <a:pt x="15163976" y="3772658"/>
                </a:lnTo>
                <a:lnTo>
                  <a:pt x="0" y="3772658"/>
                </a:lnTo>
                <a:lnTo>
                  <a:pt x="0" y="0"/>
                </a:lnTo>
                <a:close/>
              </a:path>
            </a:pathLst>
          </a:custGeom>
          <a:blipFill>
            <a:blip r:embed="rId6"/>
            <a:stretch>
              <a:fillRect l="0" t="0" r="-521" b="0"/>
            </a:stretch>
          </a:blipFill>
        </p:spPr>
      </p:sp>
      <p:sp>
        <p:nvSpPr>
          <p:cNvPr name="TextBox 7" id="7"/>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a:solidFill>
                  <a:srgbClr val="211F1C"/>
                </a:solidFill>
                <a:latin typeface="Anton"/>
                <a:ea typeface="Anton"/>
                <a:cs typeface="Anton"/>
                <a:sym typeface="Anton"/>
              </a:rPr>
              <a:t>VISUA</a:t>
            </a:r>
            <a:r>
              <a:rPr lang="en-US" sz="4592" strike="noStrike" u="none">
                <a:solidFill>
                  <a:srgbClr val="211F1C"/>
                </a:solidFill>
                <a:latin typeface="Anton"/>
                <a:ea typeface="Anton"/>
                <a:cs typeface="Anton"/>
                <a:sym typeface="Anton"/>
              </a:rPr>
              <a:t>LISATION DU RÉSEAU SÉMANTIQUE (GRAPHE CONNOTATIF)</a:t>
            </a:r>
          </a:p>
        </p:txBody>
      </p:sp>
      <p:grpSp>
        <p:nvGrpSpPr>
          <p:cNvPr name="Group 8" id="8"/>
          <p:cNvGrpSpPr/>
          <p:nvPr/>
        </p:nvGrpSpPr>
        <p:grpSpPr>
          <a:xfrm rot="0">
            <a:off x="16262089" y="9517632"/>
            <a:ext cx="1066053" cy="477619"/>
            <a:chOff x="0" y="0"/>
            <a:chExt cx="3070231" cy="1375542"/>
          </a:xfrm>
        </p:grpSpPr>
        <p:sp>
          <p:nvSpPr>
            <p:cNvPr name="Freeform 9" id="9"/>
            <p:cNvSpPr/>
            <p:nvPr/>
          </p:nvSpPr>
          <p:spPr>
            <a:xfrm flipH="false" flipV="false" rot="0">
              <a:off x="0" y="0"/>
              <a:ext cx="3070231" cy="1375542"/>
            </a:xfrm>
            <a:custGeom>
              <a:avLst/>
              <a:gdLst/>
              <a:ahLst/>
              <a:cxnLst/>
              <a:rect r="r" b="b" t="t" l="l"/>
              <a:pathLst>
                <a:path h="1375542" w="3070231">
                  <a:moveTo>
                    <a:pt x="225129" y="0"/>
                  </a:moveTo>
                  <a:lnTo>
                    <a:pt x="2845102" y="0"/>
                  </a:lnTo>
                  <a:cubicBezTo>
                    <a:pt x="2969438" y="0"/>
                    <a:pt x="3070231" y="100794"/>
                    <a:pt x="3070231" y="225129"/>
                  </a:cubicBezTo>
                  <a:lnTo>
                    <a:pt x="3070231" y="1150412"/>
                  </a:lnTo>
                  <a:cubicBezTo>
                    <a:pt x="3070231" y="1274748"/>
                    <a:pt x="2969438" y="1375542"/>
                    <a:pt x="2845102" y="1375542"/>
                  </a:cubicBezTo>
                  <a:lnTo>
                    <a:pt x="225129" y="1375542"/>
                  </a:lnTo>
                  <a:cubicBezTo>
                    <a:pt x="100794" y="1375542"/>
                    <a:pt x="0" y="1274748"/>
                    <a:pt x="0" y="115041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0" id="10"/>
            <p:cNvSpPr txBox="true"/>
            <p:nvPr/>
          </p:nvSpPr>
          <p:spPr>
            <a:xfrm>
              <a:off x="0" y="-38100"/>
              <a:ext cx="3070231" cy="1413642"/>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13/26</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a:solidFill>
                  <a:srgbClr val="211F1C"/>
                </a:solidFill>
                <a:latin typeface="Anton"/>
                <a:ea typeface="Anton"/>
                <a:cs typeface="Anton"/>
                <a:sym typeface="Anton"/>
              </a:rPr>
              <a:t>VA</a:t>
            </a:r>
            <a:r>
              <a:rPr lang="en-US" sz="4592" strike="noStrike" u="none">
                <a:solidFill>
                  <a:srgbClr val="211F1C"/>
                </a:solidFill>
                <a:latin typeface="Anton"/>
                <a:ea typeface="Anton"/>
                <a:cs typeface="Anton"/>
                <a:sym typeface="Anton"/>
              </a:rPr>
              <a:t>LIDATION &amp; RÉSULTATS : LE CAS D'USAGE (OUED CHAABA)</a:t>
            </a:r>
          </a:p>
        </p:txBody>
      </p:sp>
      <p:sp>
        <p:nvSpPr>
          <p:cNvPr name="TextBox 7" id="7"/>
          <p:cNvSpPr txBox="true"/>
          <p:nvPr/>
        </p:nvSpPr>
        <p:spPr>
          <a:xfrm rot="0">
            <a:off x="1253334" y="2304438"/>
            <a:ext cx="15729065"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Activat</a:t>
            </a:r>
            <a:r>
              <a:rPr lang="en-US" b="true" sz="2339" spc="343">
                <a:solidFill>
                  <a:srgbClr val="211F1C"/>
                </a:solidFill>
                <a:latin typeface="Nunito Sans Expanded Semi-Bold"/>
                <a:ea typeface="Nunito Sans Expanded Semi-Bold"/>
                <a:cs typeface="Nunito Sans Expanded Semi-Bold"/>
                <a:sym typeface="Nunito Sans Expanded Semi-Bold"/>
              </a:rPr>
              <a:t>ion du raisonneur Pellet pour déclencher la règle SWRL.</a:t>
            </a:r>
          </a:p>
        </p:txBody>
      </p:sp>
      <p:sp>
        <p:nvSpPr>
          <p:cNvPr name="TextBox 8" id="8"/>
          <p:cNvSpPr txBox="true"/>
          <p:nvPr/>
        </p:nvSpPr>
        <p:spPr>
          <a:xfrm rot="0">
            <a:off x="1253334" y="3881829"/>
            <a:ext cx="13671550"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Déduction</a:t>
            </a:r>
            <a:r>
              <a:rPr lang="en-US" b="true" sz="2339" spc="343">
                <a:solidFill>
                  <a:srgbClr val="211F1C"/>
                </a:solidFill>
                <a:latin typeface="Nunito Sans Expanded Semi-Bold"/>
                <a:ea typeface="Nunito Sans Expanded Semi-Bold"/>
                <a:cs typeface="Nunito Sans Expanded Semi-Bold"/>
                <a:sym typeface="Nunito Sans Expanded Semi-Bold"/>
              </a:rPr>
              <a:t> automatique de la déviation (Itinéraire Alternatif).</a:t>
            </a:r>
          </a:p>
        </p:txBody>
      </p:sp>
      <p:grpSp>
        <p:nvGrpSpPr>
          <p:cNvPr name="Group 9" id="9"/>
          <p:cNvGrpSpPr/>
          <p:nvPr/>
        </p:nvGrpSpPr>
        <p:grpSpPr>
          <a:xfrm rot="0">
            <a:off x="16262089" y="9517632"/>
            <a:ext cx="1066053" cy="542452"/>
            <a:chOff x="0" y="0"/>
            <a:chExt cx="3070231" cy="1562261"/>
          </a:xfrm>
        </p:grpSpPr>
        <p:sp>
          <p:nvSpPr>
            <p:cNvPr name="Freeform 10" id="10"/>
            <p:cNvSpPr/>
            <p:nvPr/>
          </p:nvSpPr>
          <p:spPr>
            <a:xfrm flipH="false" flipV="false" rot="0">
              <a:off x="0" y="0"/>
              <a:ext cx="3070231" cy="1562261"/>
            </a:xfrm>
            <a:custGeom>
              <a:avLst/>
              <a:gdLst/>
              <a:ahLst/>
              <a:cxnLst/>
              <a:rect r="r" b="b" t="t" l="l"/>
              <a:pathLst>
                <a:path h="1562261" w="3070231">
                  <a:moveTo>
                    <a:pt x="225129" y="0"/>
                  </a:moveTo>
                  <a:lnTo>
                    <a:pt x="2845102" y="0"/>
                  </a:lnTo>
                  <a:cubicBezTo>
                    <a:pt x="2969438" y="0"/>
                    <a:pt x="3070231" y="100794"/>
                    <a:pt x="3070231" y="225129"/>
                  </a:cubicBezTo>
                  <a:lnTo>
                    <a:pt x="3070231" y="1337132"/>
                  </a:lnTo>
                  <a:cubicBezTo>
                    <a:pt x="3070231" y="1461467"/>
                    <a:pt x="2969438" y="1562261"/>
                    <a:pt x="2845102" y="1562261"/>
                  </a:cubicBezTo>
                  <a:lnTo>
                    <a:pt x="225129" y="1562261"/>
                  </a:lnTo>
                  <a:cubicBezTo>
                    <a:pt x="100794" y="1562261"/>
                    <a:pt x="0" y="1461467"/>
                    <a:pt x="0" y="133713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3070231" cy="160036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14/26</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a:solidFill>
                  <a:srgbClr val="211F1C"/>
                </a:solidFill>
                <a:latin typeface="Anton"/>
                <a:ea typeface="Anton"/>
                <a:cs typeface="Anton"/>
                <a:sym typeface="Anton"/>
              </a:rPr>
              <a:t>VA</a:t>
            </a:r>
            <a:r>
              <a:rPr lang="en-US" sz="4592" strike="noStrike" u="none">
                <a:solidFill>
                  <a:srgbClr val="211F1C"/>
                </a:solidFill>
                <a:latin typeface="Anton"/>
                <a:ea typeface="Anton"/>
                <a:cs typeface="Anton"/>
                <a:sym typeface="Anton"/>
              </a:rPr>
              <a:t>LIDATION &amp; RÉSULTATS : LE CAS D'USAGE (OUED CHAABA)</a:t>
            </a:r>
          </a:p>
        </p:txBody>
      </p:sp>
      <p:sp>
        <p:nvSpPr>
          <p:cNvPr name="TextBox 7" id="7"/>
          <p:cNvSpPr txBox="true"/>
          <p:nvPr/>
        </p:nvSpPr>
        <p:spPr>
          <a:xfrm rot="0">
            <a:off x="1270889" y="2314535"/>
            <a:ext cx="5217914"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In</a:t>
            </a:r>
            <a:r>
              <a:rPr lang="en-US" b="true" sz="2339" spc="343">
                <a:solidFill>
                  <a:srgbClr val="211F1C"/>
                </a:solidFill>
                <a:latin typeface="Nunito Sans Expanded Semi-Bold"/>
                <a:ea typeface="Nunito Sans Expanded Semi-Bold"/>
                <a:cs typeface="Nunito Sans Expanded Semi-Bold"/>
                <a:sym typeface="Nunito Sans Expanded Semi-Bold"/>
              </a:rPr>
              <a:t>terrogation SPARQL</a:t>
            </a:r>
          </a:p>
        </p:txBody>
      </p:sp>
      <p:grpSp>
        <p:nvGrpSpPr>
          <p:cNvPr name="Group 8" id="8"/>
          <p:cNvGrpSpPr/>
          <p:nvPr/>
        </p:nvGrpSpPr>
        <p:grpSpPr>
          <a:xfrm rot="0">
            <a:off x="1449778" y="3773734"/>
            <a:ext cx="14906978" cy="3577133"/>
            <a:chOff x="0" y="0"/>
            <a:chExt cx="3926118" cy="942126"/>
          </a:xfrm>
        </p:grpSpPr>
        <p:sp>
          <p:nvSpPr>
            <p:cNvPr name="Freeform 9" id="9"/>
            <p:cNvSpPr/>
            <p:nvPr/>
          </p:nvSpPr>
          <p:spPr>
            <a:xfrm flipH="false" flipV="false" rot="0">
              <a:off x="0" y="0"/>
              <a:ext cx="3926118" cy="942126"/>
            </a:xfrm>
            <a:custGeom>
              <a:avLst/>
              <a:gdLst/>
              <a:ahLst/>
              <a:cxnLst/>
              <a:rect r="r" b="b" t="t" l="l"/>
              <a:pathLst>
                <a:path h="942126" w="3926118">
                  <a:moveTo>
                    <a:pt x="0" y="0"/>
                  </a:moveTo>
                  <a:lnTo>
                    <a:pt x="3926118" y="0"/>
                  </a:lnTo>
                  <a:lnTo>
                    <a:pt x="3926118" y="942126"/>
                  </a:lnTo>
                  <a:lnTo>
                    <a:pt x="0" y="942126"/>
                  </a:lnTo>
                  <a:close/>
                </a:path>
              </a:pathLst>
            </a:custGeom>
            <a:solidFill>
              <a:srgbClr val="D1DCE0"/>
            </a:solidFill>
          </p:spPr>
        </p:sp>
        <p:sp>
          <p:nvSpPr>
            <p:cNvPr name="TextBox 10" id="10"/>
            <p:cNvSpPr txBox="true"/>
            <p:nvPr/>
          </p:nvSpPr>
          <p:spPr>
            <a:xfrm>
              <a:off x="0" y="-38100"/>
              <a:ext cx="3926118" cy="980226"/>
            </a:xfrm>
            <a:prstGeom prst="rect">
              <a:avLst/>
            </a:prstGeom>
          </p:spPr>
          <p:txBody>
            <a:bodyPr anchor="ctr" rtlCol="false" tIns="50800" lIns="50800" bIns="50800" rIns="50800"/>
            <a:lstStyle/>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PREFIX RDF: &lt;HTTP://WWW.W3.ORG/1999/02/22-RDF-SYNTAX-NS#&gt;</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PREFIX om: &lt;http://www.ests.ma/OntMobilite#&gt;</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SELECT ?incident ?descIncident ?trajetAnnule ?trajetDeviation</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WHERE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?perturbation rdf:type om:Perturbation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om:description ?descIncident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om:IDPerturbation ?incident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om:provoqueTrajetAlternatif ?deviation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?deviation rdf:type om:ItineraireAlternatif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om:nomT ?trajetDeviation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om:remplaceTrajetNominal ?trajetNormal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?trajetNormal om:nomT ?trajetAnnule .</a:t>
              </a:r>
            </a:p>
            <a:p>
              <a:pPr algn="ctr">
                <a:lnSpc>
                  <a:spcPts val="2116"/>
                </a:lnSpc>
              </a:pPr>
              <a:r>
                <a:rPr lang="en-US" b="true" sz="1439" spc="211">
                  <a:solidFill>
                    <a:srgbClr val="000000"/>
                  </a:solidFill>
                  <a:latin typeface="Nunito Sans Expanded Semi-Bold"/>
                  <a:ea typeface="Nunito Sans Expanded Semi-Bold"/>
                  <a:cs typeface="Nunito Sans Expanded Semi-Bold"/>
                  <a:sym typeface="Nunito Sans Expanded Semi-Bold"/>
                </a:rPr>
                <a:t>}</a:t>
              </a:r>
            </a:p>
          </p:txBody>
        </p:sp>
      </p:grpSp>
      <p:grpSp>
        <p:nvGrpSpPr>
          <p:cNvPr name="Group 11" id="11"/>
          <p:cNvGrpSpPr/>
          <p:nvPr/>
        </p:nvGrpSpPr>
        <p:grpSpPr>
          <a:xfrm rot="0">
            <a:off x="16262089" y="9517632"/>
            <a:ext cx="1066053" cy="510035"/>
            <a:chOff x="0" y="0"/>
            <a:chExt cx="3070231" cy="1468901"/>
          </a:xfrm>
        </p:grpSpPr>
        <p:sp>
          <p:nvSpPr>
            <p:cNvPr name="Freeform 12" id="12"/>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3" id="13"/>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15/26</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6486423" y="496912"/>
            <a:ext cx="991952" cy="847668"/>
          </a:xfrm>
          <a:custGeom>
            <a:avLst/>
            <a:gdLst/>
            <a:ahLst/>
            <a:cxnLst/>
            <a:rect r="r" b="b" t="t" l="l"/>
            <a:pathLst>
              <a:path h="847668" w="991952">
                <a:moveTo>
                  <a:pt x="0" y="0"/>
                </a:moveTo>
                <a:lnTo>
                  <a:pt x="991952" y="0"/>
                </a:lnTo>
                <a:lnTo>
                  <a:pt x="991952" y="847669"/>
                </a:lnTo>
                <a:lnTo>
                  <a:pt x="0" y="8476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115488" y="2719748"/>
            <a:ext cx="11862524" cy="5740316"/>
          </a:xfrm>
          <a:custGeom>
            <a:avLst/>
            <a:gdLst/>
            <a:ahLst/>
            <a:cxnLst/>
            <a:rect r="r" b="b" t="t" l="l"/>
            <a:pathLst>
              <a:path h="5740316" w="11862524">
                <a:moveTo>
                  <a:pt x="0" y="0"/>
                </a:moveTo>
                <a:lnTo>
                  <a:pt x="11862524" y="0"/>
                </a:lnTo>
                <a:lnTo>
                  <a:pt x="11862524" y="5740316"/>
                </a:lnTo>
                <a:lnTo>
                  <a:pt x="0" y="5740316"/>
                </a:lnTo>
                <a:lnTo>
                  <a:pt x="0" y="0"/>
                </a:lnTo>
                <a:close/>
              </a:path>
            </a:pathLst>
          </a:custGeom>
          <a:blipFill>
            <a:blip r:embed="rId6"/>
            <a:stretch>
              <a:fillRect l="0" t="0" r="0" b="0"/>
            </a:stretch>
          </a:blipFill>
        </p:spPr>
      </p:sp>
      <p:sp>
        <p:nvSpPr>
          <p:cNvPr name="TextBox 7" id="7"/>
          <p:cNvSpPr txBox="true"/>
          <p:nvPr/>
        </p:nvSpPr>
        <p:spPr>
          <a:xfrm rot="0">
            <a:off x="289696" y="453471"/>
            <a:ext cx="13916772" cy="606113"/>
          </a:xfrm>
          <a:prstGeom prst="rect">
            <a:avLst/>
          </a:prstGeom>
        </p:spPr>
        <p:txBody>
          <a:bodyPr anchor="t" rtlCol="false" tIns="0" lIns="0" bIns="0" rIns="0">
            <a:spAutoFit/>
          </a:bodyPr>
          <a:lstStyle/>
          <a:p>
            <a:pPr algn="ctr" marL="0" indent="0" lvl="0">
              <a:lnSpc>
                <a:spcPts val="4638"/>
              </a:lnSpc>
              <a:spcBef>
                <a:spcPct val="0"/>
              </a:spcBef>
            </a:pPr>
            <a:r>
              <a:rPr lang="en-US" sz="4592">
                <a:solidFill>
                  <a:srgbClr val="211F1C"/>
                </a:solidFill>
                <a:latin typeface="Anton"/>
                <a:ea typeface="Anton"/>
                <a:cs typeface="Anton"/>
                <a:sym typeface="Anton"/>
              </a:rPr>
              <a:t>VA</a:t>
            </a:r>
            <a:r>
              <a:rPr lang="en-US" sz="4592" strike="noStrike" u="none">
                <a:solidFill>
                  <a:srgbClr val="211F1C"/>
                </a:solidFill>
                <a:latin typeface="Anton"/>
                <a:ea typeface="Anton"/>
                <a:cs typeface="Anton"/>
                <a:sym typeface="Anton"/>
              </a:rPr>
              <a:t>LIDATION &amp; RÉSULTATS : LE CAS D'USAGE (OUED CHAABA)</a:t>
            </a:r>
          </a:p>
        </p:txBody>
      </p:sp>
      <p:sp>
        <p:nvSpPr>
          <p:cNvPr name="TextBox 8" id="8"/>
          <p:cNvSpPr txBox="true"/>
          <p:nvPr/>
        </p:nvSpPr>
        <p:spPr>
          <a:xfrm rot="0">
            <a:off x="1270889" y="1804197"/>
            <a:ext cx="5217914" cy="405537"/>
          </a:xfrm>
          <a:prstGeom prst="rect">
            <a:avLst/>
          </a:prstGeom>
        </p:spPr>
        <p:txBody>
          <a:bodyPr anchor="t" rtlCol="false" tIns="0" lIns="0" bIns="0" rIns="0">
            <a:spAutoFit/>
          </a:bodyPr>
          <a:lstStyle/>
          <a:p>
            <a:pPr algn="l" marL="505201" indent="-252601" lvl="1">
              <a:lnSpc>
                <a:spcPts val="3439"/>
              </a:lnSpc>
              <a:spcBef>
                <a:spcPct val="0"/>
              </a:spcBef>
              <a:buAutoNum type="arabicPeriod" startAt="1"/>
            </a:pPr>
            <a:r>
              <a:rPr lang="en-US" b="true" sz="2339" spc="343">
                <a:solidFill>
                  <a:srgbClr val="211F1C"/>
                </a:solidFill>
                <a:latin typeface="Nunito Sans Expanded Semi-Bold"/>
                <a:ea typeface="Nunito Sans Expanded Semi-Bold"/>
                <a:cs typeface="Nunito Sans Expanded Semi-Bold"/>
                <a:sym typeface="Nunito Sans Expanded Semi-Bold"/>
              </a:rPr>
              <a:t>In</a:t>
            </a:r>
            <a:r>
              <a:rPr lang="en-US" b="true" sz="2339" spc="343">
                <a:solidFill>
                  <a:srgbClr val="211F1C"/>
                </a:solidFill>
                <a:latin typeface="Nunito Sans Expanded Semi-Bold"/>
                <a:ea typeface="Nunito Sans Expanded Semi-Bold"/>
                <a:cs typeface="Nunito Sans Expanded Semi-Bold"/>
                <a:sym typeface="Nunito Sans Expanded Semi-Bold"/>
              </a:rPr>
              <a:t>terrogation SPARQL</a:t>
            </a:r>
          </a:p>
        </p:txBody>
      </p:sp>
      <p:grpSp>
        <p:nvGrpSpPr>
          <p:cNvPr name="Group 9" id="9"/>
          <p:cNvGrpSpPr/>
          <p:nvPr/>
        </p:nvGrpSpPr>
        <p:grpSpPr>
          <a:xfrm rot="0">
            <a:off x="16262089" y="9517632"/>
            <a:ext cx="1066053" cy="510035"/>
            <a:chOff x="0" y="0"/>
            <a:chExt cx="3070231" cy="1468901"/>
          </a:xfrm>
        </p:grpSpPr>
        <p:sp>
          <p:nvSpPr>
            <p:cNvPr name="Freeform 10" id="10"/>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16/26</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519790" y="4023465"/>
            <a:ext cx="11248419" cy="1669704"/>
          </a:xfrm>
          <a:prstGeom prst="rect">
            <a:avLst/>
          </a:prstGeom>
        </p:spPr>
        <p:txBody>
          <a:bodyPr anchor="t" rtlCol="false" tIns="0" lIns="0" bIns="0" rIns="0">
            <a:spAutoFit/>
          </a:bodyPr>
          <a:lstStyle/>
          <a:p>
            <a:pPr algn="ctr" marL="0" indent="0" lvl="0">
              <a:lnSpc>
                <a:spcPts val="6497"/>
              </a:lnSpc>
              <a:spcBef>
                <a:spcPct val="0"/>
              </a:spcBef>
            </a:pPr>
            <a:r>
              <a:rPr lang="en-US" sz="6433">
                <a:solidFill>
                  <a:srgbClr val="211F1C"/>
                </a:solidFill>
                <a:latin typeface="Anton"/>
                <a:ea typeface="Anton"/>
                <a:cs typeface="Anton"/>
                <a:sym typeface="Anton"/>
              </a:rPr>
              <a:t>ARCHITECTURE MULTI-AGENTS &amp; IMPLÉMENTATION</a:t>
            </a:r>
          </a:p>
        </p:txBody>
      </p:sp>
      <p:sp>
        <p:nvSpPr>
          <p:cNvPr name="Freeform 6" id="6"/>
          <p:cNvSpPr/>
          <p:nvPr/>
        </p:nvSpPr>
        <p:spPr>
          <a:xfrm flipH="false" flipV="false" rot="0">
            <a:off x="8282303" y="2236423"/>
            <a:ext cx="1723393" cy="1472718"/>
          </a:xfrm>
          <a:custGeom>
            <a:avLst/>
            <a:gdLst/>
            <a:ahLst/>
            <a:cxnLst/>
            <a:rect r="r" b="b" t="t" l="l"/>
            <a:pathLst>
              <a:path h="1472718" w="1723393">
                <a:moveTo>
                  <a:pt x="0" y="0"/>
                </a:moveTo>
                <a:lnTo>
                  <a:pt x="1723394" y="0"/>
                </a:lnTo>
                <a:lnTo>
                  <a:pt x="1723394" y="1472717"/>
                </a:lnTo>
                <a:lnTo>
                  <a:pt x="0" y="1472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58180"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575306"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6262089" y="9517632"/>
            <a:ext cx="1066053" cy="510035"/>
            <a:chOff x="0" y="0"/>
            <a:chExt cx="3070231" cy="1468901"/>
          </a:xfrm>
        </p:grpSpPr>
        <p:sp>
          <p:nvSpPr>
            <p:cNvPr name="Freeform 10" id="10"/>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17/26</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8574439" y="3336605"/>
            <a:ext cx="9815427" cy="4656798"/>
          </a:xfrm>
          <a:custGeom>
            <a:avLst/>
            <a:gdLst/>
            <a:ahLst/>
            <a:cxnLst/>
            <a:rect r="r" b="b" t="t" l="l"/>
            <a:pathLst>
              <a:path h="4656798" w="9815427">
                <a:moveTo>
                  <a:pt x="0" y="0"/>
                </a:moveTo>
                <a:lnTo>
                  <a:pt x="9815427" y="0"/>
                </a:lnTo>
                <a:lnTo>
                  <a:pt x="9815427" y="4656799"/>
                </a:lnTo>
                <a:lnTo>
                  <a:pt x="0" y="4656799"/>
                </a:lnTo>
                <a:lnTo>
                  <a:pt x="0" y="0"/>
                </a:lnTo>
                <a:close/>
              </a:path>
            </a:pathLst>
          </a:custGeom>
          <a:blipFill>
            <a:blip r:embed="rId2"/>
            <a:stretch>
              <a:fillRect l="-7804" t="-23119" r="-6538" b="-8447"/>
            </a:stretch>
          </a:blipFill>
        </p:spPr>
      </p:sp>
      <p:sp>
        <p:nvSpPr>
          <p:cNvPr name="TextBox 3" id="3"/>
          <p:cNvSpPr txBox="true"/>
          <p:nvPr/>
        </p:nvSpPr>
        <p:spPr>
          <a:xfrm rot="0">
            <a:off x="-347046" y="735105"/>
            <a:ext cx="15105147" cy="672915"/>
          </a:xfrm>
          <a:prstGeom prst="rect">
            <a:avLst/>
          </a:prstGeom>
        </p:spPr>
        <p:txBody>
          <a:bodyPr anchor="t" rtlCol="false" tIns="0" lIns="0" bIns="0" rIns="0">
            <a:spAutoFit/>
          </a:bodyPr>
          <a:lstStyle/>
          <a:p>
            <a:pPr algn="ctr" marL="0" indent="0" lvl="0">
              <a:lnSpc>
                <a:spcPts val="5042"/>
              </a:lnSpc>
              <a:spcBef>
                <a:spcPct val="0"/>
              </a:spcBef>
            </a:pPr>
            <a:r>
              <a:rPr lang="en-US" sz="4992">
                <a:solidFill>
                  <a:srgbClr val="211F1C"/>
                </a:solidFill>
                <a:latin typeface="Anton"/>
                <a:ea typeface="Anton"/>
                <a:cs typeface="Anton"/>
                <a:sym typeface="Anton"/>
              </a:rPr>
              <a:t>INTRODUCTION ET VUE D'EN</a:t>
            </a:r>
            <a:r>
              <a:rPr lang="en-US" sz="4992" strike="noStrike" u="none">
                <a:solidFill>
                  <a:srgbClr val="211F1C"/>
                </a:solidFill>
                <a:latin typeface="Anton"/>
                <a:ea typeface="Anton"/>
                <a:cs typeface="Anton"/>
                <a:sym typeface="Anton"/>
              </a:rPr>
              <a:t>SEMBLE DE L'ARCHITECTURE</a:t>
            </a:r>
          </a:p>
        </p:txBody>
      </p:sp>
      <p:grpSp>
        <p:nvGrpSpPr>
          <p:cNvPr name="Group 4" id="4"/>
          <p:cNvGrpSpPr/>
          <p:nvPr/>
        </p:nvGrpSpPr>
        <p:grpSpPr>
          <a:xfrm rot="0">
            <a:off x="261058" y="2291711"/>
            <a:ext cx="8313381" cy="6762044"/>
            <a:chOff x="0" y="0"/>
            <a:chExt cx="2651898" cy="2157034"/>
          </a:xfrm>
        </p:grpSpPr>
        <p:sp>
          <p:nvSpPr>
            <p:cNvPr name="Freeform 5" id="5"/>
            <p:cNvSpPr/>
            <p:nvPr/>
          </p:nvSpPr>
          <p:spPr>
            <a:xfrm flipH="false" flipV="false" rot="0">
              <a:off x="0" y="0"/>
              <a:ext cx="2651898" cy="2157034"/>
            </a:xfrm>
            <a:custGeom>
              <a:avLst/>
              <a:gdLst/>
              <a:ahLst/>
              <a:cxnLst/>
              <a:rect r="r" b="b" t="t" l="l"/>
              <a:pathLst>
                <a:path h="2157034" w="2651898">
                  <a:moveTo>
                    <a:pt x="33525" y="0"/>
                  </a:moveTo>
                  <a:lnTo>
                    <a:pt x="2618373" y="0"/>
                  </a:lnTo>
                  <a:cubicBezTo>
                    <a:pt x="2636888" y="0"/>
                    <a:pt x="2651898" y="15010"/>
                    <a:pt x="2651898" y="33525"/>
                  </a:cubicBezTo>
                  <a:lnTo>
                    <a:pt x="2651898" y="2123509"/>
                  </a:lnTo>
                  <a:cubicBezTo>
                    <a:pt x="2651898" y="2142025"/>
                    <a:pt x="2636888" y="2157034"/>
                    <a:pt x="2618373" y="2157034"/>
                  </a:cubicBezTo>
                  <a:lnTo>
                    <a:pt x="33525" y="2157034"/>
                  </a:lnTo>
                  <a:cubicBezTo>
                    <a:pt x="24634" y="2157034"/>
                    <a:pt x="16107" y="2153502"/>
                    <a:pt x="9819" y="2147215"/>
                  </a:cubicBezTo>
                  <a:cubicBezTo>
                    <a:pt x="3532" y="2140928"/>
                    <a:pt x="0" y="2132400"/>
                    <a:pt x="0" y="2123509"/>
                  </a:cubicBezTo>
                  <a:lnTo>
                    <a:pt x="0" y="33525"/>
                  </a:lnTo>
                  <a:cubicBezTo>
                    <a:pt x="0" y="15010"/>
                    <a:pt x="15010" y="0"/>
                    <a:pt x="33525" y="0"/>
                  </a:cubicBezTo>
                  <a:close/>
                </a:path>
              </a:pathLst>
            </a:custGeom>
            <a:solidFill>
              <a:srgbClr val="F1F1F1"/>
            </a:solidFill>
            <a:ln w="19050" cap="rnd">
              <a:solidFill>
                <a:srgbClr val="000000"/>
              </a:solidFill>
              <a:prstDash val="solid"/>
              <a:round/>
            </a:ln>
          </p:spPr>
        </p:sp>
        <p:sp>
          <p:nvSpPr>
            <p:cNvPr name="TextBox 6" id="6"/>
            <p:cNvSpPr txBox="true"/>
            <p:nvPr/>
          </p:nvSpPr>
          <p:spPr>
            <a:xfrm>
              <a:off x="0" y="-38100"/>
              <a:ext cx="2651898" cy="2195134"/>
            </a:xfrm>
            <a:prstGeom prst="rect">
              <a:avLst/>
            </a:prstGeom>
          </p:spPr>
          <p:txBody>
            <a:bodyPr anchor="ctr" rtlCol="false" tIns="50800" lIns="50800" bIns="50800" rIns="50800"/>
            <a:lstStyle/>
            <a:p>
              <a:pPr algn="ctr">
                <a:lnSpc>
                  <a:spcPts val="2116"/>
                </a:lnSpc>
              </a:pPr>
            </a:p>
          </p:txBody>
        </p:sp>
      </p:grpSp>
      <p:sp>
        <p:nvSpPr>
          <p:cNvPr name="TextBox 7" id="7"/>
          <p:cNvSpPr txBox="true"/>
          <p:nvPr/>
        </p:nvSpPr>
        <p:spPr>
          <a:xfrm rot="0">
            <a:off x="528674" y="2714086"/>
            <a:ext cx="7655880" cy="5473164"/>
          </a:xfrm>
          <a:prstGeom prst="rect">
            <a:avLst/>
          </a:prstGeom>
        </p:spPr>
        <p:txBody>
          <a:bodyPr anchor="t" rtlCol="false" tIns="0" lIns="0" bIns="0" rIns="0">
            <a:spAutoFit/>
          </a:bodyPr>
          <a:lstStyle/>
          <a:p>
            <a:pPr algn="l" marL="383197" indent="-191599" lvl="1">
              <a:lnSpc>
                <a:spcPts val="2609"/>
              </a:lnSpc>
              <a:buFont typeface="Arial"/>
              <a:buChar char="•"/>
            </a:pPr>
            <a:r>
              <a:rPr lang="en-US" b="true" sz="1774" spc="260">
                <a:solidFill>
                  <a:srgbClr val="211F1C"/>
                </a:solidFill>
                <a:latin typeface="Nunito Sans Expanded Semi-Bold"/>
                <a:ea typeface="Nunito Sans Expanded Semi-Bold"/>
                <a:cs typeface="Nunito Sans Expanded Semi-Bold"/>
                <a:sym typeface="Nunito Sans Expanded Semi-Bold"/>
              </a:rPr>
              <a:t>LE SYSTÈME DÉVELOPPÉ REPOSE SUR UNE APPROCHE HYBRIDE NOVATRICE COMBINANT LE WEB SÉMANTIQUE (GARANT DE LA RIGUEUR LOGIQUE ET DU RESPECT DES RÈGLES MÉTIERS LOCALES) ET L'INTELLIGENCE ARTIFICIELLE GÉNÉRATIVE (GARANTE DE LA FLEXIBILITÉ D'INTERFAÇAGE EN LANGAGE NATUREL).</a:t>
            </a:r>
          </a:p>
          <a:p>
            <a:pPr algn="l">
              <a:lnSpc>
                <a:spcPts val="2459"/>
              </a:lnSpc>
            </a:pPr>
          </a:p>
          <a:p>
            <a:pPr algn="l" marL="383197" indent="-191599" lvl="1">
              <a:lnSpc>
                <a:spcPts val="2609"/>
              </a:lnSpc>
              <a:buFont typeface="Arial"/>
              <a:buChar char="•"/>
            </a:pPr>
            <a:r>
              <a:rPr lang="en-US" b="true" sz="1774" spc="260">
                <a:solidFill>
                  <a:srgbClr val="211F1C"/>
                </a:solidFill>
                <a:latin typeface="Nunito Sans Expanded Semi-Bold"/>
                <a:ea typeface="Nunito Sans Expanded Semi-Bold"/>
                <a:cs typeface="Nunito Sans Expanded Semi-Bold"/>
                <a:sym typeface="Nunito Sans Expanded Semi-Bold"/>
              </a:rPr>
              <a:t>L'ARCHITECTURE SE DÉCLINE EN UN MODÈLE MULTICOUCHE OÙ CHAQUE COMPOSANT POSSÈDE UNE RESPONSABILITÉ STRICTE ET COMMUNIQUE VIA DES INTERFACES NORMALISÉES (APIS, PROTOCOLES SÉMANTIQUES ET APPELS DE FONCTIONS RPC).</a:t>
            </a:r>
          </a:p>
        </p:txBody>
      </p:sp>
      <p:grpSp>
        <p:nvGrpSpPr>
          <p:cNvPr name="Group 8" id="8"/>
          <p:cNvGrpSpPr/>
          <p:nvPr/>
        </p:nvGrpSpPr>
        <p:grpSpPr>
          <a:xfrm rot="0">
            <a:off x="16517314" y="9464381"/>
            <a:ext cx="1066053" cy="510035"/>
            <a:chOff x="0" y="0"/>
            <a:chExt cx="3070231" cy="1468901"/>
          </a:xfrm>
        </p:grpSpPr>
        <p:sp>
          <p:nvSpPr>
            <p:cNvPr name="Freeform 9" id="9"/>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0" id="10"/>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18/26</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262089" y="9517632"/>
            <a:ext cx="1066053" cy="510035"/>
            <a:chOff x="0" y="0"/>
            <a:chExt cx="3070231" cy="1468901"/>
          </a:xfrm>
        </p:grpSpPr>
        <p:sp>
          <p:nvSpPr>
            <p:cNvPr name="Freeform 3" id="3"/>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4" id="4"/>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19/26</a:t>
              </a:r>
            </a:p>
          </p:txBody>
        </p:sp>
      </p:grpSp>
      <p:sp>
        <p:nvSpPr>
          <p:cNvPr name="Freeform 5" id="5"/>
          <p:cNvSpPr/>
          <p:nvPr/>
        </p:nvSpPr>
        <p:spPr>
          <a:xfrm flipH="false" flipV="false" rot="0">
            <a:off x="2402475" y="7710983"/>
            <a:ext cx="11941084" cy="937717"/>
          </a:xfrm>
          <a:custGeom>
            <a:avLst/>
            <a:gdLst/>
            <a:ahLst/>
            <a:cxnLst/>
            <a:rect r="r" b="b" t="t" l="l"/>
            <a:pathLst>
              <a:path h="937717" w="11941084">
                <a:moveTo>
                  <a:pt x="0" y="0"/>
                </a:moveTo>
                <a:lnTo>
                  <a:pt x="11941084" y="0"/>
                </a:lnTo>
                <a:lnTo>
                  <a:pt x="11941084" y="937717"/>
                </a:lnTo>
                <a:lnTo>
                  <a:pt x="0" y="937717"/>
                </a:lnTo>
                <a:lnTo>
                  <a:pt x="0" y="0"/>
                </a:lnTo>
                <a:close/>
              </a:path>
            </a:pathLst>
          </a:custGeom>
          <a:blipFill>
            <a:blip r:embed="rId2"/>
            <a:stretch>
              <a:fillRect l="0" t="-11347" r="0" b="-44099"/>
            </a:stretch>
          </a:blipFill>
        </p:spPr>
      </p:sp>
      <p:sp>
        <p:nvSpPr>
          <p:cNvPr name="TextBox 6" id="6"/>
          <p:cNvSpPr txBox="true"/>
          <p:nvPr/>
        </p:nvSpPr>
        <p:spPr>
          <a:xfrm rot="0">
            <a:off x="1028700" y="1978890"/>
            <a:ext cx="10689788" cy="302286"/>
          </a:xfrm>
          <a:prstGeom prst="rect">
            <a:avLst/>
          </a:prstGeom>
        </p:spPr>
        <p:txBody>
          <a:bodyPr anchor="t" rtlCol="false" tIns="0" lIns="0" bIns="0" rIns="0">
            <a:spAutoFit/>
          </a:bodyPr>
          <a:lstStyle/>
          <a:p>
            <a:pPr algn="ctr">
              <a:lnSpc>
                <a:spcPts val="2557"/>
              </a:lnSpc>
              <a:spcBef>
                <a:spcPct val="0"/>
              </a:spcBef>
            </a:pPr>
            <a:r>
              <a:rPr lang="en-US" b="true" sz="1739" spc="255">
                <a:solidFill>
                  <a:srgbClr val="000000"/>
                </a:solidFill>
                <a:latin typeface="Nunito Sans Expanded Bold"/>
                <a:ea typeface="Nunito Sans Expanded Bold"/>
                <a:cs typeface="Nunito Sans Expanded Bold"/>
                <a:sym typeface="Nunito Sans Expanded Bold"/>
              </a:rPr>
              <a:t>1.</a:t>
            </a:r>
            <a:r>
              <a:rPr lang="en-US" b="true" sz="1739" spc="255">
                <a:solidFill>
                  <a:srgbClr val="000000"/>
                </a:solidFill>
                <a:latin typeface="Nunito Sans Expanded Bold"/>
                <a:ea typeface="Nunito Sans Expanded Bold"/>
                <a:cs typeface="Nunito Sans Expanded Bold"/>
                <a:sym typeface="Nunito Sans Expanded Bold"/>
              </a:rPr>
              <a:t> MODÉLISATION SÉMANTIQUE ET GRAPHE DE CONNAISSANCES</a:t>
            </a:r>
          </a:p>
        </p:txBody>
      </p:sp>
      <p:sp>
        <p:nvSpPr>
          <p:cNvPr name="TextBox 7" id="7"/>
          <p:cNvSpPr txBox="true"/>
          <p:nvPr/>
        </p:nvSpPr>
        <p:spPr>
          <a:xfrm rot="0">
            <a:off x="480017" y="558880"/>
            <a:ext cx="16779283" cy="672915"/>
          </a:xfrm>
          <a:prstGeom prst="rect">
            <a:avLst/>
          </a:prstGeom>
        </p:spPr>
        <p:txBody>
          <a:bodyPr anchor="t" rtlCol="false" tIns="0" lIns="0" bIns="0" rIns="0">
            <a:spAutoFit/>
          </a:bodyPr>
          <a:lstStyle/>
          <a:p>
            <a:pPr algn="ctr" marL="0" indent="0" lvl="0">
              <a:lnSpc>
                <a:spcPts val="5042"/>
              </a:lnSpc>
              <a:spcBef>
                <a:spcPct val="0"/>
              </a:spcBef>
            </a:pPr>
            <a:r>
              <a:rPr lang="en-US" sz="4992">
                <a:solidFill>
                  <a:srgbClr val="211F1C"/>
                </a:solidFill>
                <a:latin typeface="Anton"/>
                <a:ea typeface="Anton"/>
                <a:cs typeface="Anton"/>
                <a:sym typeface="Anton"/>
              </a:rPr>
              <a:t> </a:t>
            </a:r>
            <a:r>
              <a:rPr lang="en-US" sz="4992">
                <a:solidFill>
                  <a:srgbClr val="211F1C"/>
                </a:solidFill>
                <a:latin typeface="Anton"/>
                <a:ea typeface="Anton"/>
                <a:cs typeface="Anton"/>
                <a:sym typeface="Anton"/>
              </a:rPr>
              <a:t>Le Mo</a:t>
            </a:r>
            <a:r>
              <a:rPr lang="en-US" sz="4992">
                <a:solidFill>
                  <a:srgbClr val="211F1C"/>
                </a:solidFill>
                <a:latin typeface="Anton"/>
                <a:ea typeface="Anton"/>
                <a:cs typeface="Anton"/>
                <a:sym typeface="Anton"/>
              </a:rPr>
              <a:t>TEUR DE CONNAISSANCE SÉMANTIQUE (ONTO</a:t>
            </a:r>
            <a:r>
              <a:rPr lang="en-US" sz="4992" strike="noStrike" u="none">
                <a:solidFill>
                  <a:srgbClr val="211F1C"/>
                </a:solidFill>
                <a:latin typeface="Anton"/>
                <a:ea typeface="Anton"/>
                <a:cs typeface="Anton"/>
                <a:sym typeface="Anton"/>
              </a:rPr>
              <a:t>LOGIE &amp; RAISONNEUR)</a:t>
            </a:r>
          </a:p>
        </p:txBody>
      </p:sp>
      <p:sp>
        <p:nvSpPr>
          <p:cNvPr name="TextBox 8" id="8"/>
          <p:cNvSpPr txBox="true"/>
          <p:nvPr/>
        </p:nvSpPr>
        <p:spPr>
          <a:xfrm rot="0">
            <a:off x="1028700" y="2588588"/>
            <a:ext cx="17259300" cy="2141372"/>
          </a:xfrm>
          <a:prstGeom prst="rect">
            <a:avLst/>
          </a:prstGeom>
        </p:spPr>
        <p:txBody>
          <a:bodyPr anchor="t" rtlCol="false" tIns="0" lIns="0" bIns="0" rIns="0">
            <a:spAutoFit/>
          </a:bodyPr>
          <a:lstStyle/>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LES INFORMATIONS SONT ORGANISÉES SOUS FORME DE TRIPLETS RDF :</a:t>
            </a:r>
          </a:p>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     (S,P,O)</a:t>
            </a:r>
          </a:p>
          <a:p>
            <a:pPr algn="l">
              <a:lnSpc>
                <a:spcPts val="1166"/>
              </a:lnSpc>
            </a:pPr>
          </a:p>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SUJET (S) : ENTITÉ (EX. ZONE_BIADA)</a:t>
            </a:r>
          </a:p>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PRÉDICAT (P) : RELATION (EX. CONTIENTSEGMENT)</a:t>
            </a:r>
          </a:p>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OBJET (O) : VALEUR OU AUTRE ENTITÉ (EX. SEGMENT_ROUTE_A)</a:t>
            </a:r>
          </a:p>
          <a:p>
            <a:pPr algn="l">
              <a:lnSpc>
                <a:spcPts val="1166"/>
              </a:lnSpc>
            </a:pPr>
          </a:p>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CETTE STRUCTURE PERMET DE REPRÉSENTER LES CONNAISSANCES SOUS FORME D'UN GRAPHE SÉMANTIQUE FACILEMENT EXPLOITABLE.</a:t>
            </a:r>
          </a:p>
        </p:txBody>
      </p:sp>
      <p:sp>
        <p:nvSpPr>
          <p:cNvPr name="TextBox 9" id="9"/>
          <p:cNvSpPr txBox="true"/>
          <p:nvPr/>
        </p:nvSpPr>
        <p:spPr>
          <a:xfrm rot="0">
            <a:off x="1028700" y="5105400"/>
            <a:ext cx="6361152" cy="302286"/>
          </a:xfrm>
          <a:prstGeom prst="rect">
            <a:avLst/>
          </a:prstGeom>
        </p:spPr>
        <p:txBody>
          <a:bodyPr anchor="t" rtlCol="false" tIns="0" lIns="0" bIns="0" rIns="0">
            <a:spAutoFit/>
          </a:bodyPr>
          <a:lstStyle/>
          <a:p>
            <a:pPr algn="ctr">
              <a:lnSpc>
                <a:spcPts val="2557"/>
              </a:lnSpc>
              <a:spcBef>
                <a:spcPct val="0"/>
              </a:spcBef>
            </a:pPr>
            <a:r>
              <a:rPr lang="en-US" b="true" sz="1739" spc="255">
                <a:solidFill>
                  <a:srgbClr val="000000"/>
                </a:solidFill>
                <a:latin typeface="Nunito Sans Expanded Bold"/>
                <a:ea typeface="Nunito Sans Expanded Bold"/>
                <a:cs typeface="Nunito Sans Expanded Bold"/>
                <a:sym typeface="Nunito Sans Expanded Bold"/>
              </a:rPr>
              <a:t>2.</a:t>
            </a:r>
            <a:r>
              <a:rPr lang="en-US" b="true" sz="1739" spc="255">
                <a:solidFill>
                  <a:srgbClr val="000000"/>
                </a:solidFill>
                <a:latin typeface="Nunito Sans Expanded Bold"/>
                <a:ea typeface="Nunito Sans Expanded Bold"/>
                <a:cs typeface="Nunito Sans Expanded Bold"/>
                <a:sym typeface="Nunito Sans Expanded Bold"/>
              </a:rPr>
              <a:t> RAISONNEUR PELLET ET INFÉRENCE</a:t>
            </a:r>
          </a:p>
        </p:txBody>
      </p:sp>
      <p:sp>
        <p:nvSpPr>
          <p:cNvPr name="TextBox 10" id="10"/>
          <p:cNvSpPr txBox="true"/>
          <p:nvPr/>
        </p:nvSpPr>
        <p:spPr>
          <a:xfrm rot="0">
            <a:off x="1028700" y="5712486"/>
            <a:ext cx="15766415" cy="1588922"/>
          </a:xfrm>
          <a:prstGeom prst="rect">
            <a:avLst/>
          </a:prstGeom>
        </p:spPr>
        <p:txBody>
          <a:bodyPr anchor="t" rtlCol="false" tIns="0" lIns="0" bIns="0" rIns="0">
            <a:spAutoFit/>
          </a:bodyPr>
          <a:lstStyle/>
          <a:p>
            <a:pPr algn="l">
              <a:lnSpc>
                <a:spcPts val="2116"/>
              </a:lnSpc>
              <a:spcBef>
                <a:spcPct val="0"/>
              </a:spcBef>
            </a:pPr>
          </a:p>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LE RAISONNEUR PELLET APPLIQUE DES RÈGLES D'INFÉRENCE POUR DÉDUIRE AUTOMATIQUEMENT DE NOUVELLES CONNAISSANCES. PAR EXEMPLE, S</a:t>
            </a:r>
            <a:r>
              <a:rPr lang="en-US" b="true" sz="1439" spc="211">
                <a:solidFill>
                  <a:srgbClr val="000000"/>
                </a:solidFill>
                <a:latin typeface="Nunito Sans Expanded Semi-Bold"/>
                <a:ea typeface="Nunito Sans Expanded Semi-Bold"/>
                <a:cs typeface="Nunito Sans Expanded Semi-Bold"/>
                <a:sym typeface="Nunito Sans Expanded Semi-Bold"/>
              </a:rPr>
              <a:t>I UN INCIDENT EST DÉTECTÉ DANS UNE ZONE, IL PEUT CONCLURE QUE LES SEGMENTS ROUTIERS SONT BLOQUÉS ET QUE LE</a:t>
            </a:r>
            <a:r>
              <a:rPr lang="en-US" b="true" sz="1439" spc="211">
                <a:solidFill>
                  <a:srgbClr val="000000"/>
                </a:solidFill>
                <a:latin typeface="Nunito Sans Expanded Semi-Bold"/>
                <a:ea typeface="Nunito Sans Expanded Semi-Bold"/>
                <a:cs typeface="Nunito Sans Expanded Semi-Bold"/>
                <a:sym typeface="Nunito Sans Expanded Semi-Bold"/>
              </a:rPr>
              <a:t>S LIGNES DE BUS QUI LES EMPRUNTENT SONT IMPACTÉES.</a:t>
            </a:r>
          </a:p>
          <a:p>
            <a:pPr algn="l">
              <a:lnSpc>
                <a:spcPts val="2116"/>
              </a:lnSpc>
              <a:spcBef>
                <a:spcPct val="0"/>
              </a:spcBef>
            </a:pPr>
            <a:r>
              <a:rPr lang="en-US" b="true" sz="1439" spc="211">
                <a:solidFill>
                  <a:srgbClr val="000000"/>
                </a:solidFill>
                <a:latin typeface="Nunito Sans Expanded Semi-Bold"/>
                <a:ea typeface="Nunito Sans Expanded Semi-Bold"/>
                <a:cs typeface="Nunito Sans Expanded Semi-Bold"/>
                <a:sym typeface="Nunito Sans Expanded Semi-Bold"/>
              </a:rPr>
              <a:t>EXEMPLE DE PRÉDICAT : CONTIENTSEGMENT, ESTSITUEDANS, EMPRUNTESEGMENT, ESTBLOQUE, ESTIMPACTEE.</a:t>
            </a:r>
          </a:p>
          <a:p>
            <a:pPr algn="l">
              <a:lnSpc>
                <a:spcPts val="2116"/>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4564723" y="7569171"/>
            <a:ext cx="8382918" cy="2289245"/>
          </a:xfrm>
          <a:custGeom>
            <a:avLst/>
            <a:gdLst/>
            <a:ahLst/>
            <a:cxnLst/>
            <a:rect r="r" b="b" t="t" l="l"/>
            <a:pathLst>
              <a:path h="2289245" w="8382918">
                <a:moveTo>
                  <a:pt x="0" y="0"/>
                </a:moveTo>
                <a:lnTo>
                  <a:pt x="8382919" y="0"/>
                </a:lnTo>
                <a:lnTo>
                  <a:pt x="8382919" y="2289245"/>
                </a:lnTo>
                <a:lnTo>
                  <a:pt x="0" y="2289245"/>
                </a:lnTo>
                <a:lnTo>
                  <a:pt x="0" y="0"/>
                </a:lnTo>
                <a:close/>
              </a:path>
            </a:pathLst>
          </a:custGeom>
          <a:blipFill>
            <a:blip r:embed="rId2"/>
            <a:stretch>
              <a:fillRect l="0" t="0" r="0" b="0"/>
            </a:stretch>
          </a:blipFill>
        </p:spPr>
      </p:sp>
      <p:sp>
        <p:nvSpPr>
          <p:cNvPr name="TextBox 3" id="3"/>
          <p:cNvSpPr txBox="true"/>
          <p:nvPr/>
        </p:nvSpPr>
        <p:spPr>
          <a:xfrm rot="0">
            <a:off x="-1502511" y="536852"/>
            <a:ext cx="16779283" cy="672915"/>
          </a:xfrm>
          <a:prstGeom prst="rect">
            <a:avLst/>
          </a:prstGeom>
        </p:spPr>
        <p:txBody>
          <a:bodyPr anchor="t" rtlCol="false" tIns="0" lIns="0" bIns="0" rIns="0">
            <a:spAutoFit/>
          </a:bodyPr>
          <a:lstStyle/>
          <a:p>
            <a:pPr algn="ctr" marL="0" indent="0" lvl="0">
              <a:lnSpc>
                <a:spcPts val="5042"/>
              </a:lnSpc>
              <a:spcBef>
                <a:spcPct val="0"/>
              </a:spcBef>
            </a:pPr>
            <a:r>
              <a:rPr lang="en-US" sz="4992">
                <a:solidFill>
                  <a:srgbClr val="211F1C"/>
                </a:solidFill>
                <a:latin typeface="Anton"/>
                <a:ea typeface="Anton"/>
                <a:cs typeface="Anton"/>
                <a:sym typeface="Anton"/>
              </a:rPr>
              <a:t> </a:t>
            </a:r>
            <a:r>
              <a:rPr lang="en-US" sz="4992">
                <a:solidFill>
                  <a:srgbClr val="211F1C"/>
                </a:solidFill>
                <a:latin typeface="Anton"/>
                <a:ea typeface="Anton"/>
                <a:cs typeface="Anton"/>
                <a:sym typeface="Anton"/>
              </a:rPr>
              <a:t>La Co</a:t>
            </a:r>
            <a:r>
              <a:rPr lang="en-US" sz="4992">
                <a:solidFill>
                  <a:srgbClr val="211F1C"/>
                </a:solidFill>
                <a:latin typeface="Anton"/>
                <a:ea typeface="Anton"/>
                <a:cs typeface="Anton"/>
                <a:sym typeface="Anton"/>
              </a:rPr>
              <a:t>UCHE D'ABSTRACTION MULTI-AGENTS</a:t>
            </a:r>
            <a:r>
              <a:rPr lang="en-US" sz="4992" strike="noStrike" u="none">
                <a:solidFill>
                  <a:srgbClr val="211F1C"/>
                </a:solidFill>
                <a:latin typeface="Anton"/>
                <a:ea typeface="Anton"/>
                <a:cs typeface="Anton"/>
                <a:sym typeface="Anton"/>
              </a:rPr>
              <a:t> (CREWAI)</a:t>
            </a:r>
          </a:p>
        </p:txBody>
      </p:sp>
      <p:sp>
        <p:nvSpPr>
          <p:cNvPr name="TextBox 4" id="4"/>
          <p:cNvSpPr txBox="true"/>
          <p:nvPr/>
        </p:nvSpPr>
        <p:spPr>
          <a:xfrm rot="0">
            <a:off x="1260793" y="1855880"/>
            <a:ext cx="15766415" cy="3503447"/>
          </a:xfrm>
          <a:prstGeom prst="rect">
            <a:avLst/>
          </a:prstGeom>
        </p:spPr>
        <p:txBody>
          <a:bodyPr anchor="t" rtlCol="false" tIns="0" lIns="0" bIns="0" rIns="0">
            <a:spAutoFit/>
          </a:bodyPr>
          <a:lstStyle/>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AU-D</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SSUS</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DE L</a:t>
            </a:r>
            <a:r>
              <a:rPr lang="en-US" sz="1439" spc="211">
                <a:solidFill>
                  <a:srgbClr val="000000"/>
                </a:solidFill>
                <a:latin typeface="Nunito Sans Expanded"/>
                <a:ea typeface="Nunito Sans Expanded"/>
                <a:cs typeface="Nunito Sans Expanded"/>
                <a:sym typeface="Nunito Sans Expanded"/>
              </a:rPr>
              <a:t>A</a:t>
            </a:r>
            <a:r>
              <a:rPr lang="en-US" sz="1439" spc="211">
                <a:solidFill>
                  <a:srgbClr val="000000"/>
                </a:solidFill>
                <a:latin typeface="Nunito Sans Expanded"/>
                <a:ea typeface="Nunito Sans Expanded"/>
                <a:cs typeface="Nunito Sans Expanded"/>
                <a:sym typeface="Nunito Sans Expanded"/>
              </a:rPr>
              <a:t> COUCHE DE D</a:t>
            </a:r>
            <a:r>
              <a:rPr lang="en-US" sz="1439" spc="211">
                <a:solidFill>
                  <a:srgbClr val="000000"/>
                </a:solidFill>
                <a:latin typeface="Nunito Sans Expanded"/>
                <a:ea typeface="Nunito Sans Expanded"/>
                <a:cs typeface="Nunito Sans Expanded"/>
                <a:sym typeface="Nunito Sans Expanded"/>
              </a:rPr>
              <a:t>ONN</a:t>
            </a:r>
            <a:r>
              <a:rPr lang="en-US" sz="1439" spc="211">
                <a:solidFill>
                  <a:srgbClr val="000000"/>
                </a:solidFill>
                <a:latin typeface="Nunito Sans Expanded"/>
                <a:ea typeface="Nunito Sans Expanded"/>
                <a:cs typeface="Nunito Sans Expanded"/>
                <a:sym typeface="Nunito Sans Expanded"/>
              </a:rPr>
              <a:t>É</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 SÉMANTIQ</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ES SE T</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OUV</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LE </a:t>
            </a:r>
            <a:r>
              <a:rPr lang="en-US" sz="1439" spc="211">
                <a:solidFill>
                  <a:srgbClr val="000000"/>
                </a:solidFill>
                <a:latin typeface="Nunito Sans Expanded"/>
                <a:ea typeface="Nunito Sans Expanded"/>
                <a:cs typeface="Nunito Sans Expanded"/>
                <a:sym typeface="Nunito Sans Expanded"/>
              </a:rPr>
              <a:t>FR</a:t>
            </a:r>
            <a:r>
              <a:rPr lang="en-US" sz="1439" spc="211">
                <a:solidFill>
                  <a:srgbClr val="000000"/>
                </a:solidFill>
                <a:latin typeface="Nunito Sans Expanded"/>
                <a:ea typeface="Nunito Sans Expanded"/>
                <a:cs typeface="Nunito Sans Expanded"/>
                <a:sym typeface="Nunito Sans Expanded"/>
              </a:rPr>
              <a:t>A</a:t>
            </a:r>
            <a:r>
              <a:rPr lang="en-US" sz="1439" spc="211">
                <a:solidFill>
                  <a:srgbClr val="000000"/>
                </a:solidFill>
                <a:latin typeface="Nunito Sans Expanded"/>
                <a:ea typeface="Nunito Sans Expanded"/>
                <a:cs typeface="Nunito Sans Expanded"/>
                <a:sym typeface="Nunito Sans Expanded"/>
              </a:rPr>
              <a:t>M</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WORK</a:t>
            </a:r>
            <a:r>
              <a:rPr lang="en-US" sz="1439" spc="211">
                <a:solidFill>
                  <a:srgbClr val="000000"/>
                </a:solidFill>
                <a:latin typeface="Nunito Sans Expanded"/>
                <a:ea typeface="Nunito Sans Expanded"/>
                <a:cs typeface="Nunito Sans Expanded"/>
                <a:sym typeface="Nunito Sans Expanded"/>
              </a:rPr>
              <a:t> D</a:t>
            </a:r>
            <a:r>
              <a:rPr lang="en-US" sz="1439" spc="211">
                <a:solidFill>
                  <a:srgbClr val="000000"/>
                </a:solidFill>
                <a:latin typeface="Nunito Sans Expanded"/>
                <a:ea typeface="Nunito Sans Expanded"/>
                <a:cs typeface="Nunito Sans Expanded"/>
                <a:sym typeface="Nunito Sans Expanded"/>
              </a:rPr>
              <a:t>'ORCH</a:t>
            </a:r>
            <a:r>
              <a:rPr lang="en-US" sz="1439" spc="211">
                <a:solidFill>
                  <a:srgbClr val="000000"/>
                </a:solidFill>
                <a:latin typeface="Nunito Sans Expanded"/>
                <a:ea typeface="Nunito Sans Expanded"/>
                <a:cs typeface="Nunito Sans Expanded"/>
                <a:sym typeface="Nunito Sans Expanded"/>
              </a:rPr>
              <a:t>ES</a:t>
            </a:r>
            <a:r>
              <a:rPr lang="en-US" sz="1439" spc="211">
                <a:solidFill>
                  <a:srgbClr val="000000"/>
                </a:solidFill>
                <a:latin typeface="Nunito Sans Expanded"/>
                <a:ea typeface="Nunito Sans Expanded"/>
                <a:cs typeface="Nunito Sans Expanded"/>
                <a:sym typeface="Nunito Sans Expanded"/>
              </a:rPr>
              <a:t>TRATION</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MULTI- </a:t>
            </a:r>
          </a:p>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A</a:t>
            </a:r>
            <a:r>
              <a:rPr lang="en-US" sz="1439" spc="211">
                <a:solidFill>
                  <a:srgbClr val="000000"/>
                </a:solidFill>
                <a:latin typeface="Nunito Sans Expanded"/>
                <a:ea typeface="Nunito Sans Expanded"/>
                <a:cs typeface="Nunito Sans Expanded"/>
                <a:sym typeface="Nunito Sans Expanded"/>
              </a:rPr>
              <a:t>GE</a:t>
            </a:r>
            <a:r>
              <a:rPr lang="en-US" sz="1439" spc="211">
                <a:solidFill>
                  <a:srgbClr val="000000"/>
                </a:solidFill>
                <a:latin typeface="Nunito Sans Expanded"/>
                <a:ea typeface="Nunito Sans Expanded"/>
                <a:cs typeface="Nunito Sans Expanded"/>
                <a:sym typeface="Nunito Sans Expanded"/>
              </a:rPr>
              <a:t>NT</a:t>
            </a:r>
            <a:r>
              <a:rPr lang="en-US" sz="1439" spc="211">
                <a:solidFill>
                  <a:srgbClr val="000000"/>
                </a:solidFill>
                <a:latin typeface="Nunito Sans Expanded"/>
                <a:ea typeface="Nunito Sans Expanded"/>
                <a:cs typeface="Nunito Sans Expanded"/>
                <a:sym typeface="Nunito Sans Expanded"/>
              </a:rPr>
              <a:t>S </a:t>
            </a:r>
            <a:r>
              <a:rPr lang="en-US" sz="1439" spc="211">
                <a:solidFill>
                  <a:srgbClr val="000000"/>
                </a:solidFill>
                <a:latin typeface="Nunito Sans Expanded"/>
                <a:ea typeface="Nunito Sans Expanded"/>
                <a:cs typeface="Nunito Sans Expanded"/>
                <a:sym typeface="Nunito Sans Expanded"/>
              </a:rPr>
              <a:t>CREWAI. AU LIEU </a:t>
            </a:r>
            <a:r>
              <a:rPr lang="en-US" sz="1439" spc="211">
                <a:solidFill>
                  <a:srgbClr val="000000"/>
                </a:solidFill>
                <a:latin typeface="Nunito Sans Expanded"/>
                <a:ea typeface="Nunito Sans Expanded"/>
                <a:cs typeface="Nunito Sans Expanded"/>
                <a:sym typeface="Nunito Sans Expanded"/>
              </a:rPr>
              <a:t>D'</a:t>
            </a:r>
            <a:r>
              <a:rPr lang="en-US" sz="1439" spc="211">
                <a:solidFill>
                  <a:srgbClr val="000000"/>
                </a:solidFill>
                <a:latin typeface="Nunito Sans Expanded"/>
                <a:ea typeface="Nunito Sans Expanded"/>
                <a:cs typeface="Nunito Sans Expanded"/>
                <a:sym typeface="Nunito Sans Expanded"/>
              </a:rPr>
              <a:t>UT</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LISER U</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 SIMPLE SCRIPT LIN</a:t>
            </a:r>
            <a:r>
              <a:rPr lang="en-US" sz="1439" spc="211">
                <a:solidFill>
                  <a:srgbClr val="000000"/>
                </a:solidFill>
                <a:latin typeface="Nunito Sans Expanded"/>
                <a:ea typeface="Nunito Sans Expanded"/>
                <a:cs typeface="Nunito Sans Expanded"/>
                <a:sym typeface="Nunito Sans Expanded"/>
              </a:rPr>
              <a:t>É</a:t>
            </a:r>
            <a:r>
              <a:rPr lang="en-US" sz="1439" spc="211">
                <a:solidFill>
                  <a:srgbClr val="000000"/>
                </a:solidFill>
                <a:latin typeface="Nunito Sans Expanded"/>
                <a:ea typeface="Nunito Sans Expanded"/>
                <a:cs typeface="Nunito Sans Expanded"/>
                <a:sym typeface="Nunito Sans Expanded"/>
              </a:rPr>
              <a:t>AI</a:t>
            </a:r>
            <a:r>
              <a:rPr lang="en-US" sz="1439" spc="211">
                <a:solidFill>
                  <a:srgbClr val="000000"/>
                </a:solidFill>
                <a:latin typeface="Nunito Sans Expanded"/>
                <a:ea typeface="Nunito Sans Expanded"/>
                <a:cs typeface="Nunito Sans Expanded"/>
                <a:sym typeface="Nunito Sans Expanded"/>
              </a:rPr>
              <a:t>RE</a:t>
            </a:r>
            <a:r>
              <a:rPr lang="en-US" sz="1439" spc="211">
                <a:solidFill>
                  <a:srgbClr val="000000"/>
                </a:solidFill>
                <a:latin typeface="Nunito Sans Expanded"/>
                <a:ea typeface="Nunito Sans Expanded"/>
                <a:cs typeface="Nunito Sans Expanded"/>
                <a:sym typeface="Nunito Sans Expanded"/>
              </a:rPr>
              <a:t>, LE SYSTÈM</a:t>
            </a:r>
            <a:r>
              <a:rPr lang="en-US" sz="1439" spc="211">
                <a:solidFill>
                  <a:srgbClr val="000000"/>
                </a:solidFill>
                <a:latin typeface="Nunito Sans Expanded"/>
                <a:ea typeface="Nunito Sans Expanded"/>
                <a:cs typeface="Nunito Sans Expanded"/>
                <a:sym typeface="Nunito Sans Expanded"/>
              </a:rPr>
              <a:t>E </a:t>
            </a:r>
            <a:r>
              <a:rPr lang="en-US" sz="1439" spc="211">
                <a:solidFill>
                  <a:srgbClr val="000000"/>
                </a:solidFill>
                <a:latin typeface="Nunito Sans Expanded"/>
                <a:ea typeface="Nunito Sans Expanded"/>
                <a:cs typeface="Nunito Sans Expanded"/>
                <a:sym typeface="Nunito Sans Expanded"/>
              </a:rPr>
              <a:t>DÉLÈGUE LA RÉS</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TION</a:t>
            </a:r>
            <a:r>
              <a:rPr lang="en-US" sz="1439" spc="211">
                <a:solidFill>
                  <a:srgbClr val="000000"/>
                </a:solidFill>
                <a:latin typeface="Nunito Sans Expanded"/>
                <a:ea typeface="Nunito Sans Expanded"/>
                <a:cs typeface="Nunito Sans Expanded"/>
                <a:sym typeface="Nunito Sans Expanded"/>
              </a:rPr>
              <a:t> DU </a:t>
            </a:r>
          </a:p>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 P</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OBLÈM</a:t>
            </a:r>
            <a:r>
              <a:rPr lang="en-US" sz="1439" spc="211">
                <a:solidFill>
                  <a:srgbClr val="000000"/>
                </a:solidFill>
                <a:latin typeface="Nunito Sans Expanded"/>
                <a:ea typeface="Nunito Sans Expanded"/>
                <a:cs typeface="Nunito Sans Expanded"/>
                <a:sym typeface="Nunito Sans Expanded"/>
              </a:rPr>
              <a:t>E </a:t>
            </a:r>
            <a:r>
              <a:rPr lang="en-US" sz="1439" spc="211">
                <a:solidFill>
                  <a:srgbClr val="000000"/>
                </a:solidFill>
                <a:latin typeface="Nunito Sans Expanded"/>
                <a:ea typeface="Nunito Sans Expanded"/>
                <a:cs typeface="Nunito Sans Expanded"/>
                <a:sym typeface="Nunito Sans Expanded"/>
              </a:rPr>
              <a:t>À UN AGENT </a:t>
            </a:r>
            <a:r>
              <a:rPr lang="en-US" sz="1439" spc="211">
                <a:solidFill>
                  <a:srgbClr val="000000"/>
                </a:solidFill>
                <a:latin typeface="Nunito Sans Expanded"/>
                <a:ea typeface="Nunito Sans Expanded"/>
                <a:cs typeface="Nunito Sans Expanded"/>
                <a:sym typeface="Nunito Sans Expanded"/>
              </a:rPr>
              <a:t>AUTO</a:t>
            </a:r>
            <a:r>
              <a:rPr lang="en-US" sz="1439" spc="211">
                <a:solidFill>
                  <a:srgbClr val="000000"/>
                </a:solidFill>
                <a:latin typeface="Nunito Sans Expanded"/>
                <a:ea typeface="Nunito Sans Expanded"/>
                <a:cs typeface="Nunito Sans Expanded"/>
                <a:sym typeface="Nunito Sans Expanded"/>
              </a:rPr>
              <a:t>NO</a:t>
            </a:r>
            <a:r>
              <a:rPr lang="en-US" sz="1439" spc="211">
                <a:solidFill>
                  <a:srgbClr val="000000"/>
                </a:solidFill>
                <a:latin typeface="Nunito Sans Expanded"/>
                <a:ea typeface="Nunito Sans Expanded"/>
                <a:cs typeface="Nunito Sans Expanded"/>
                <a:sym typeface="Nunito Sans Expanded"/>
              </a:rPr>
              <a:t>M</a:t>
            </a:r>
            <a:r>
              <a:rPr lang="en-US" sz="1439" spc="211">
                <a:solidFill>
                  <a:srgbClr val="000000"/>
                </a:solidFill>
                <a:latin typeface="Nunito Sans Expanded"/>
                <a:ea typeface="Nunito Sans Expanded"/>
                <a:cs typeface="Nunito Sans Expanded"/>
                <a:sym typeface="Nunito Sans Expanded"/>
              </a:rPr>
              <a:t>E SPÉCI</a:t>
            </a:r>
            <a:r>
              <a:rPr lang="en-US" sz="1439" spc="211">
                <a:solidFill>
                  <a:srgbClr val="000000"/>
                </a:solidFill>
                <a:latin typeface="Nunito Sans Expanded"/>
                <a:ea typeface="Nunito Sans Expanded"/>
                <a:cs typeface="Nunito Sans Expanded"/>
                <a:sym typeface="Nunito Sans Expanded"/>
              </a:rPr>
              <a:t>A</a:t>
            </a:r>
            <a:r>
              <a:rPr lang="en-US" sz="1439" spc="211">
                <a:solidFill>
                  <a:srgbClr val="000000"/>
                </a:solidFill>
                <a:latin typeface="Nunito Sans Expanded"/>
                <a:ea typeface="Nunito Sans Expanded"/>
                <a:cs typeface="Nunito Sans Expanded"/>
                <a:sym typeface="Nunito Sans Expanded"/>
              </a:rPr>
              <a:t>LISÉ.</a:t>
            </a:r>
          </a:p>
          <a:p>
            <a:pPr algn="l">
              <a:lnSpc>
                <a:spcPts val="820"/>
              </a:lnSpc>
            </a:pPr>
          </a:p>
          <a:p>
            <a:pPr algn="l">
              <a:lnSpc>
                <a:spcPts val="2410"/>
              </a:lnSpc>
              <a:spcBef>
                <a:spcPct val="0"/>
              </a:spcBef>
            </a:pPr>
            <a:r>
              <a:rPr lang="en-US" sz="1639" spc="241">
                <a:solidFill>
                  <a:srgbClr val="000000"/>
                </a:solidFill>
                <a:latin typeface="Nunito Sans Expanded"/>
                <a:ea typeface="Nunito Sans Expanded"/>
                <a:cs typeface="Nunito Sans Expanded"/>
                <a:sym typeface="Nunito Sans Expanded"/>
              </a:rPr>
              <a:t>1. DÉFINI</a:t>
            </a:r>
            <a:r>
              <a:rPr lang="en-US" sz="1639" spc="241">
                <a:solidFill>
                  <a:srgbClr val="000000"/>
                </a:solidFill>
                <a:latin typeface="Nunito Sans Expanded"/>
                <a:ea typeface="Nunito Sans Expanded"/>
                <a:cs typeface="Nunito Sans Expanded"/>
                <a:sym typeface="Nunito Sans Expanded"/>
              </a:rPr>
              <a:t>TI</a:t>
            </a:r>
            <a:r>
              <a:rPr lang="en-US" sz="1639" spc="241">
                <a:solidFill>
                  <a:srgbClr val="000000"/>
                </a:solidFill>
                <a:latin typeface="Nunito Sans Expanded"/>
                <a:ea typeface="Nunito Sans Expanded"/>
                <a:cs typeface="Nunito Sans Expanded"/>
                <a:sym typeface="Nunito Sans Expanded"/>
              </a:rPr>
              <a:t>ON SÉ</a:t>
            </a:r>
            <a:r>
              <a:rPr lang="en-US" sz="1639" spc="241">
                <a:solidFill>
                  <a:srgbClr val="000000"/>
                </a:solidFill>
                <a:latin typeface="Nunito Sans Expanded"/>
                <a:ea typeface="Nunito Sans Expanded"/>
                <a:cs typeface="Nunito Sans Expanded"/>
                <a:sym typeface="Nunito Sans Expanded"/>
              </a:rPr>
              <a:t>M</a:t>
            </a:r>
            <a:r>
              <a:rPr lang="en-US" sz="1639" spc="241">
                <a:solidFill>
                  <a:srgbClr val="000000"/>
                </a:solidFill>
                <a:latin typeface="Nunito Sans Expanded"/>
                <a:ea typeface="Nunito Sans Expanded"/>
                <a:cs typeface="Nunito Sans Expanded"/>
                <a:sym typeface="Nunito Sans Expanded"/>
              </a:rPr>
              <a:t>A</a:t>
            </a:r>
            <a:r>
              <a:rPr lang="en-US" sz="1639" spc="241">
                <a:solidFill>
                  <a:srgbClr val="000000"/>
                </a:solidFill>
                <a:latin typeface="Nunito Sans Expanded"/>
                <a:ea typeface="Nunito Sans Expanded"/>
                <a:cs typeface="Nunito Sans Expanded"/>
                <a:sym typeface="Nunito Sans Expanded"/>
              </a:rPr>
              <a:t>NT</a:t>
            </a:r>
            <a:r>
              <a:rPr lang="en-US" sz="1639" spc="241">
                <a:solidFill>
                  <a:srgbClr val="000000"/>
                </a:solidFill>
                <a:latin typeface="Nunito Sans Expanded"/>
                <a:ea typeface="Nunito Sans Expanded"/>
                <a:cs typeface="Nunito Sans Expanded"/>
                <a:sym typeface="Nunito Sans Expanded"/>
              </a:rPr>
              <a:t>IQUE</a:t>
            </a:r>
            <a:r>
              <a:rPr lang="en-US" sz="1639" spc="241">
                <a:solidFill>
                  <a:srgbClr val="000000"/>
                </a:solidFill>
                <a:latin typeface="Nunito Sans Expanded"/>
                <a:ea typeface="Nunito Sans Expanded"/>
                <a:cs typeface="Nunito Sans Expanded"/>
                <a:sym typeface="Nunito Sans Expanded"/>
              </a:rPr>
              <a:t> DE </a:t>
            </a:r>
            <a:r>
              <a:rPr lang="en-US" sz="1639" spc="241">
                <a:solidFill>
                  <a:srgbClr val="000000"/>
                </a:solidFill>
                <a:latin typeface="Nunito Sans Expanded"/>
                <a:ea typeface="Nunito Sans Expanded"/>
                <a:cs typeface="Nunito Sans Expanded"/>
                <a:sym typeface="Nunito Sans Expanded"/>
              </a:rPr>
              <a:t>L'AGE</a:t>
            </a:r>
            <a:r>
              <a:rPr lang="en-US" sz="1639" spc="241">
                <a:solidFill>
                  <a:srgbClr val="000000"/>
                </a:solidFill>
                <a:latin typeface="Nunito Sans Expanded"/>
                <a:ea typeface="Nunito Sans Expanded"/>
                <a:cs typeface="Nunito Sans Expanded"/>
                <a:sym typeface="Nunito Sans Expanded"/>
              </a:rPr>
              <a:t>N</a:t>
            </a:r>
            <a:r>
              <a:rPr lang="en-US" sz="1639" spc="241">
                <a:solidFill>
                  <a:srgbClr val="000000"/>
                </a:solidFill>
                <a:latin typeface="Nunito Sans Expanded"/>
                <a:ea typeface="Nunito Sans Expanded"/>
                <a:cs typeface="Nunito Sans Expanded"/>
                <a:sym typeface="Nunito Sans Expanded"/>
              </a:rPr>
              <a:t>T</a:t>
            </a:r>
          </a:p>
          <a:p>
            <a:pPr algn="l">
              <a:lnSpc>
                <a:spcPts val="1443"/>
              </a:lnSpc>
            </a:pPr>
          </a:p>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L'AG</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NT </a:t>
            </a:r>
            <a:r>
              <a:rPr lang="en-US" sz="1439" spc="211">
                <a:solidFill>
                  <a:srgbClr val="000000"/>
                </a:solidFill>
                <a:latin typeface="Nunito Sans Expanded"/>
                <a:ea typeface="Nunito Sans Expanded"/>
                <a:cs typeface="Nunito Sans Expanded"/>
                <a:sym typeface="Nunito Sans Expanded"/>
              </a:rPr>
              <a:t>ES</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 CON</a:t>
            </a:r>
            <a:r>
              <a:rPr lang="en-US" sz="1439" spc="211">
                <a:solidFill>
                  <a:srgbClr val="000000"/>
                </a:solidFill>
                <a:latin typeface="Nunito Sans Expanded"/>
                <a:ea typeface="Nunito Sans Expanded"/>
                <a:cs typeface="Nunito Sans Expanded"/>
                <a:sym typeface="Nunito Sans Expanded"/>
              </a:rPr>
              <a:t>FIGURÉ SELO</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 TRO</a:t>
            </a:r>
            <a:r>
              <a:rPr lang="en-US" sz="1439" spc="211">
                <a:solidFill>
                  <a:srgbClr val="000000"/>
                </a:solidFill>
                <a:latin typeface="Nunito Sans Expanded"/>
                <a:ea typeface="Nunito Sans Expanded"/>
                <a:cs typeface="Nunito Sans Expanded"/>
                <a:sym typeface="Nunito Sans Expanded"/>
              </a:rPr>
              <a:t>IS</a:t>
            </a:r>
            <a:r>
              <a:rPr lang="en-US" sz="1439" spc="211">
                <a:solidFill>
                  <a:srgbClr val="000000"/>
                </a:solidFill>
                <a:latin typeface="Nunito Sans Expanded"/>
                <a:ea typeface="Nunito Sans Expanded"/>
                <a:cs typeface="Nunito Sans Expanded"/>
                <a:sym typeface="Nunito Sans Expanded"/>
              </a:rPr>
              <a:t> PROPRIÉTÉ</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AN</a:t>
            </a:r>
            <a:r>
              <a:rPr lang="en-US" sz="1439" spc="211">
                <a:solidFill>
                  <a:srgbClr val="000000"/>
                </a:solidFill>
                <a:latin typeface="Nunito Sans Expanded"/>
                <a:ea typeface="Nunito Sans Expanded"/>
                <a:cs typeface="Nunito Sans Expanded"/>
                <a:sym typeface="Nunito Sans Expanded"/>
              </a:rPr>
              <a:t>THROPOMORPH</a:t>
            </a:r>
            <a:r>
              <a:rPr lang="en-US" sz="1439" spc="211">
                <a:solidFill>
                  <a:srgbClr val="000000"/>
                </a:solidFill>
                <a:latin typeface="Nunito Sans Expanded"/>
                <a:ea typeface="Nunito Sans Expanded"/>
                <a:cs typeface="Nunito Sans Expanded"/>
                <a:sym typeface="Nunito Sans Expanded"/>
              </a:rPr>
              <a:t>ES </a:t>
            </a:r>
            <a:r>
              <a:rPr lang="en-US" sz="1439" spc="211">
                <a:solidFill>
                  <a:srgbClr val="000000"/>
                </a:solidFill>
                <a:latin typeface="Nunito Sans Expanded"/>
                <a:ea typeface="Nunito Sans Expanded"/>
                <a:cs typeface="Nunito Sans Expanded"/>
                <a:sym typeface="Nunito Sans Expanded"/>
              </a:rPr>
              <a:t>ST</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ICT</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 :</a:t>
            </a:r>
          </a:p>
          <a:p>
            <a:pPr algn="l" marL="310896" indent="-155448" lvl="1">
              <a:lnSpc>
                <a:spcPts val="2116"/>
              </a:lnSpc>
              <a:buFont typeface="Arial"/>
              <a:buChar char="•"/>
            </a:pPr>
            <a:r>
              <a:rPr lang="en-US" b="true" sz="1439" spc="211">
                <a:solidFill>
                  <a:srgbClr val="000000"/>
                </a:solidFill>
                <a:latin typeface="Nunito Sans Expanded Bold"/>
                <a:ea typeface="Nunito Sans Expanded Bold"/>
                <a:cs typeface="Nunito Sans Expanded Bold"/>
                <a:sym typeface="Nunito Sans Expanded Bold"/>
              </a:rPr>
              <a:t>ROL</a:t>
            </a:r>
            <a:r>
              <a:rPr lang="en-US" b="true" sz="1439" spc="211">
                <a:solidFill>
                  <a:srgbClr val="000000"/>
                </a:solidFill>
                <a:latin typeface="Nunito Sans Expanded Bold"/>
                <a:ea typeface="Nunito Sans Expanded Bold"/>
                <a:cs typeface="Nunito Sans Expanded Bold"/>
                <a:sym typeface="Nunito Sans Expanded Bold"/>
              </a:rPr>
              <a:t>E</a:t>
            </a:r>
            <a:r>
              <a:rPr lang="en-US" b="true" sz="1439" spc="211">
                <a:solidFill>
                  <a:srgbClr val="000000"/>
                </a:solidFill>
                <a:latin typeface="Nunito Sans Expanded Bold"/>
                <a:ea typeface="Nunito Sans Expanded Bold"/>
                <a:cs typeface="Nunito Sans Expanded Bold"/>
                <a:sym typeface="Nunito Sans Expanded Bold"/>
              </a:rPr>
              <a:t> (RÔ</a:t>
            </a:r>
            <a:r>
              <a:rPr lang="en-US" b="true" sz="1439" spc="211">
                <a:solidFill>
                  <a:srgbClr val="000000"/>
                </a:solidFill>
                <a:latin typeface="Nunito Sans Expanded Bold"/>
                <a:ea typeface="Nunito Sans Expanded Bold"/>
                <a:cs typeface="Nunito Sans Expanded Bold"/>
                <a:sym typeface="Nunito Sans Expanded Bold"/>
              </a:rPr>
              <a:t>LE</a:t>
            </a:r>
            <a:r>
              <a:rPr lang="en-US" b="true" sz="1439" spc="211">
                <a:solidFill>
                  <a:srgbClr val="000000"/>
                </a:solidFill>
                <a:latin typeface="Nunito Sans Expanded Bold"/>
                <a:ea typeface="Nunito Sans Expanded Bold"/>
                <a:cs typeface="Nunito Sans Expanded Bold"/>
                <a:sym typeface="Nunito Sans Expanded Bold"/>
              </a:rPr>
              <a:t>)</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RÉG</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LATEUR</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DE MOB</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TÉ </a:t>
            </a:r>
            <a:r>
              <a:rPr lang="en-US" sz="1439" spc="211">
                <a:solidFill>
                  <a:srgbClr val="000000"/>
                </a:solidFill>
                <a:latin typeface="Nunito Sans Expanded"/>
                <a:ea typeface="Nunito Sans Expanded"/>
                <a:cs typeface="Nunito Sans Expanded"/>
                <a:sym typeface="Nunito Sans Expanded"/>
              </a:rPr>
              <a:t>DE</a:t>
            </a:r>
            <a:r>
              <a:rPr lang="en-US" sz="1439" spc="211">
                <a:solidFill>
                  <a:srgbClr val="000000"/>
                </a:solidFill>
                <a:latin typeface="Nunito Sans Expanded"/>
                <a:ea typeface="Nunito Sans Expanded"/>
                <a:cs typeface="Nunito Sans Expanded"/>
                <a:sym typeface="Nunito Sans Expanded"/>
              </a:rPr>
              <a:t> LA</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VILL</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DE SAFI. IL</a:t>
            </a:r>
            <a:r>
              <a:rPr lang="en-US" sz="1439" spc="211">
                <a:solidFill>
                  <a:srgbClr val="000000"/>
                </a:solidFill>
                <a:latin typeface="Nunito Sans Expanded"/>
                <a:ea typeface="Nunito Sans Expanded"/>
                <a:cs typeface="Nunito Sans Expanded"/>
                <a:sym typeface="Nunito Sans Expanded"/>
              </a:rPr>
              <a:t> DÉ</a:t>
            </a:r>
            <a:r>
              <a:rPr lang="en-US" sz="1439" spc="211">
                <a:solidFill>
                  <a:srgbClr val="000000"/>
                </a:solidFill>
                <a:latin typeface="Nunito Sans Expanded"/>
                <a:ea typeface="Nunito Sans Expanded"/>
                <a:cs typeface="Nunito Sans Expanded"/>
                <a:sym typeface="Nunito Sans Expanded"/>
              </a:rPr>
              <a:t>FINI</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 L</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C</a:t>
            </a:r>
            <a:r>
              <a:rPr lang="en-US" sz="1439" spc="211">
                <a:solidFill>
                  <a:srgbClr val="000000"/>
                </a:solidFill>
                <a:latin typeface="Nunito Sans Expanded"/>
                <a:ea typeface="Nunito Sans Expanded"/>
                <a:cs typeface="Nunito Sans Expanded"/>
                <a:sym typeface="Nunito Sans Expanded"/>
              </a:rPr>
              <a:t>ADRE</a:t>
            </a:r>
            <a:r>
              <a:rPr lang="en-US" sz="1439" spc="211">
                <a:solidFill>
                  <a:srgbClr val="000000"/>
                </a:solidFill>
                <a:latin typeface="Nunito Sans Expanded"/>
                <a:ea typeface="Nunito Sans Expanded"/>
                <a:cs typeface="Nunito Sans Expanded"/>
                <a:sym typeface="Nunito Sans Expanded"/>
              </a:rPr>
              <a:t> D</a:t>
            </a:r>
            <a:r>
              <a:rPr lang="en-US" sz="1439" spc="211">
                <a:solidFill>
                  <a:srgbClr val="000000"/>
                </a:solidFill>
                <a:latin typeface="Nunito Sans Expanded"/>
                <a:ea typeface="Nunito Sans Expanded"/>
                <a:cs typeface="Nunito Sans Expanded"/>
                <a:sym typeface="Nunito Sans Expanded"/>
              </a:rPr>
              <a:t>E </a:t>
            </a:r>
            <a:r>
              <a:rPr lang="en-US" sz="1439" spc="211">
                <a:solidFill>
                  <a:srgbClr val="000000"/>
                </a:solidFill>
                <a:latin typeface="Nunito Sans Expanded"/>
                <a:ea typeface="Nunito Sans Expanded"/>
                <a:cs typeface="Nunito Sans Expanded"/>
                <a:sym typeface="Nunito Sans Expanded"/>
              </a:rPr>
              <a:t>SE</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C</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MPÉTE</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C</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a:t>
            </a:r>
          </a:p>
          <a:p>
            <a:pPr algn="l" marL="310896" indent="-155448" lvl="1">
              <a:lnSpc>
                <a:spcPts val="2116"/>
              </a:lnSpc>
              <a:spcBef>
                <a:spcPct val="0"/>
              </a:spcBef>
              <a:buFont typeface="Arial"/>
              <a:buChar char="•"/>
            </a:pPr>
            <a:r>
              <a:rPr lang="en-US" b="true" sz="1439" spc="211">
                <a:solidFill>
                  <a:srgbClr val="000000"/>
                </a:solidFill>
                <a:latin typeface="Nunito Sans Expanded Bold"/>
                <a:ea typeface="Nunito Sans Expanded Bold"/>
                <a:cs typeface="Nunito Sans Expanded Bold"/>
                <a:sym typeface="Nunito Sans Expanded Bold"/>
              </a:rPr>
              <a:t>GOA</a:t>
            </a:r>
            <a:r>
              <a:rPr lang="en-US" b="true" sz="1439" spc="211">
                <a:solidFill>
                  <a:srgbClr val="000000"/>
                </a:solidFill>
                <a:latin typeface="Nunito Sans Expanded Bold"/>
                <a:ea typeface="Nunito Sans Expanded Bold"/>
                <a:cs typeface="Nunito Sans Expanded Bold"/>
                <a:sym typeface="Nunito Sans Expanded Bold"/>
              </a:rPr>
              <a:t>L </a:t>
            </a:r>
            <a:r>
              <a:rPr lang="en-US" b="true" sz="1439" spc="211">
                <a:solidFill>
                  <a:srgbClr val="000000"/>
                </a:solidFill>
                <a:latin typeface="Nunito Sans Expanded Bold"/>
                <a:ea typeface="Nunito Sans Expanded Bold"/>
                <a:cs typeface="Nunito Sans Expanded Bold"/>
                <a:sym typeface="Nunito Sans Expanded Bold"/>
              </a:rPr>
              <a:t>(OBJ</a:t>
            </a:r>
            <a:r>
              <a:rPr lang="en-US" b="true" sz="1439" spc="211">
                <a:solidFill>
                  <a:srgbClr val="000000"/>
                </a:solidFill>
                <a:latin typeface="Nunito Sans Expanded Bold"/>
                <a:ea typeface="Nunito Sans Expanded Bold"/>
                <a:cs typeface="Nunito Sans Expanded Bold"/>
                <a:sym typeface="Nunito Sans Expanded Bold"/>
              </a:rPr>
              <a:t>E</a:t>
            </a:r>
            <a:r>
              <a:rPr lang="en-US" b="true" sz="1439" spc="211">
                <a:solidFill>
                  <a:srgbClr val="000000"/>
                </a:solidFill>
                <a:latin typeface="Nunito Sans Expanded Bold"/>
                <a:ea typeface="Nunito Sans Expanded Bold"/>
                <a:cs typeface="Nunito Sans Expanded Bold"/>
                <a:sym typeface="Nunito Sans Expanded Bold"/>
              </a:rPr>
              <a:t>C</a:t>
            </a:r>
            <a:r>
              <a:rPr lang="en-US" b="true" sz="1439" spc="211">
                <a:solidFill>
                  <a:srgbClr val="000000"/>
                </a:solidFill>
                <a:latin typeface="Nunito Sans Expanded Bold"/>
                <a:ea typeface="Nunito Sans Expanded Bold"/>
                <a:cs typeface="Nunito Sans Expanded Bold"/>
                <a:sym typeface="Nunito Sans Expanded Bold"/>
              </a:rPr>
              <a:t>T</a:t>
            </a:r>
            <a:r>
              <a:rPr lang="en-US" b="true" sz="1439" spc="211">
                <a:solidFill>
                  <a:srgbClr val="000000"/>
                </a:solidFill>
                <a:latin typeface="Nunito Sans Expanded Bold"/>
                <a:ea typeface="Nunito Sans Expanded Bold"/>
                <a:cs typeface="Nunito Sans Expanded Bold"/>
                <a:sym typeface="Nunito Sans Expanded Bold"/>
              </a:rPr>
              <a:t>IF)</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 I</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FO</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M</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VOYAG</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UR</a:t>
            </a:r>
            <a:r>
              <a:rPr lang="en-US" sz="1439" spc="211">
                <a:solidFill>
                  <a:srgbClr val="000000"/>
                </a:solidFill>
                <a:latin typeface="Nunito Sans Expanded"/>
                <a:ea typeface="Nunito Sans Expanded"/>
                <a:cs typeface="Nunito Sans Expanded"/>
                <a:sym typeface="Nunito Sans Expanded"/>
              </a:rPr>
              <a:t>S </a:t>
            </a:r>
            <a:r>
              <a:rPr lang="en-US" sz="1439" spc="211">
                <a:solidFill>
                  <a:srgbClr val="000000"/>
                </a:solidFill>
                <a:latin typeface="Nunito Sans Expanded"/>
                <a:ea typeface="Nunito Sans Expanded"/>
                <a:cs typeface="Nunito Sans Expanded"/>
                <a:sym typeface="Nunito Sans Expanded"/>
              </a:rPr>
              <a:t>D</a:t>
            </a:r>
            <a:r>
              <a:rPr lang="en-US" sz="1439" spc="211">
                <a:solidFill>
                  <a:srgbClr val="000000"/>
                </a:solidFill>
                <a:latin typeface="Nunito Sans Expanded"/>
                <a:ea typeface="Nunito Sans Expanded"/>
                <a:cs typeface="Nunito Sans Expanded"/>
                <a:sym typeface="Nunito Sans Expanded"/>
              </a:rPr>
              <a:t>ES </a:t>
            </a:r>
            <a:r>
              <a:rPr lang="en-US" sz="1439" spc="211">
                <a:solidFill>
                  <a:srgbClr val="000000"/>
                </a:solidFill>
                <a:latin typeface="Nunito Sans Expanded"/>
                <a:ea typeface="Nunito Sans Expanded"/>
                <a:cs typeface="Nunito Sans Expanded"/>
                <a:sym typeface="Nunito Sans Expanded"/>
              </a:rPr>
              <a:t>PE</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RBA</a:t>
            </a:r>
            <a:r>
              <a:rPr lang="en-US" sz="1439" spc="211">
                <a:solidFill>
                  <a:srgbClr val="000000"/>
                </a:solidFill>
                <a:latin typeface="Nunito Sans Expanded"/>
                <a:ea typeface="Nunito Sans Expanded"/>
                <a:cs typeface="Nunito Sans Expanded"/>
                <a:sym typeface="Nunito Sans Expanded"/>
              </a:rPr>
              <a:t>TI</a:t>
            </a:r>
            <a:r>
              <a:rPr lang="en-US" sz="1439" spc="211">
                <a:solidFill>
                  <a:srgbClr val="000000"/>
                </a:solidFill>
                <a:latin typeface="Nunito Sans Expanded"/>
                <a:ea typeface="Nunito Sans Expanded"/>
                <a:cs typeface="Nunito Sans Expanded"/>
                <a:sym typeface="Nunito Sans Expanded"/>
              </a:rPr>
              <a:t>ONS </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T LEU</a:t>
            </a:r>
            <a:r>
              <a:rPr lang="en-US" sz="1439" spc="211">
                <a:solidFill>
                  <a:srgbClr val="000000"/>
                </a:solidFill>
                <a:latin typeface="Nunito Sans Expanded"/>
                <a:ea typeface="Nunito Sans Expanded"/>
                <a:cs typeface="Nunito Sans Expanded"/>
                <a:sym typeface="Nunito Sans Expanded"/>
              </a:rPr>
              <a:t>R </a:t>
            </a:r>
            <a:r>
              <a:rPr lang="en-US" sz="1439" spc="211">
                <a:solidFill>
                  <a:srgbClr val="000000"/>
                </a:solidFill>
                <a:latin typeface="Nunito Sans Expanded"/>
                <a:ea typeface="Nunito Sans Expanded"/>
                <a:cs typeface="Nunito Sans Expanded"/>
                <a:sym typeface="Nunito Sans Expanded"/>
              </a:rPr>
              <a:t>D</a:t>
            </a:r>
            <a:r>
              <a:rPr lang="en-US" sz="1439" spc="211">
                <a:solidFill>
                  <a:srgbClr val="000000"/>
                </a:solidFill>
                <a:latin typeface="Nunito Sans Expanded"/>
                <a:ea typeface="Nunito Sans Expanded"/>
                <a:cs typeface="Nunito Sans Expanded"/>
                <a:sym typeface="Nunito Sans Expanded"/>
              </a:rPr>
              <a:t>ON</a:t>
            </a:r>
            <a:r>
              <a:rPr lang="en-US" sz="1439" spc="211">
                <a:solidFill>
                  <a:srgbClr val="000000"/>
                </a:solidFill>
                <a:latin typeface="Nunito Sans Expanded"/>
                <a:ea typeface="Nunito Sans Expanded"/>
                <a:cs typeface="Nunito Sans Expanded"/>
                <a:sym typeface="Nunito Sans Expanded"/>
              </a:rPr>
              <a:t>NER</a:t>
            </a:r>
            <a:r>
              <a:rPr lang="en-US" sz="1439" spc="211">
                <a:solidFill>
                  <a:srgbClr val="000000"/>
                </a:solidFill>
                <a:latin typeface="Nunito Sans Expanded"/>
                <a:ea typeface="Nunito Sans Expanded"/>
                <a:cs typeface="Nunito Sans Expanded"/>
                <a:sym typeface="Nunito Sans Expanded"/>
              </a:rPr>
              <a:t> L</a:t>
            </a:r>
            <a:r>
              <a:rPr lang="en-US" sz="1439" spc="211">
                <a:solidFill>
                  <a:srgbClr val="000000"/>
                </a:solidFill>
                <a:latin typeface="Nunito Sans Expanded"/>
                <a:ea typeface="Nunito Sans Expanded"/>
                <a:cs typeface="Nunito Sans Expanded"/>
                <a:sym typeface="Nunito Sans Expanded"/>
              </a:rPr>
              <a:t>E B</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TRAJ</a:t>
            </a:r>
            <a:r>
              <a:rPr lang="en-US" sz="1439" spc="211">
                <a:solidFill>
                  <a:srgbClr val="000000"/>
                </a:solidFill>
                <a:latin typeface="Nunito Sans Expanded"/>
                <a:ea typeface="Nunito Sans Expanded"/>
                <a:cs typeface="Nunito Sans Expanded"/>
                <a:sym typeface="Nunito Sans Expanded"/>
              </a:rPr>
              <a:t>ET </a:t>
            </a:r>
            <a:r>
              <a:rPr lang="en-US" sz="1439" spc="211">
                <a:solidFill>
                  <a:srgbClr val="000000"/>
                </a:solidFill>
                <a:latin typeface="Nunito Sans Expanded"/>
                <a:ea typeface="Nunito Sans Expanded"/>
                <a:cs typeface="Nunito Sans Expanded"/>
                <a:sym typeface="Nunito Sans Expanded"/>
              </a:rPr>
              <a:t>ALT</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RNATIF.</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C'</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 L</a:t>
            </a:r>
            <a:r>
              <a:rPr lang="en-US" sz="1439" spc="211">
                <a:solidFill>
                  <a:srgbClr val="000000"/>
                </a:solidFill>
                <a:latin typeface="Nunito Sans Expanded"/>
                <a:ea typeface="Nunito Sans Expanded"/>
                <a:cs typeface="Nunito Sans Expanded"/>
                <a:sym typeface="Nunito Sans Expanded"/>
              </a:rPr>
              <a:t>A COND</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TIO</a:t>
            </a:r>
            <a:r>
              <a:rPr lang="en-US" sz="1439" spc="211">
                <a:solidFill>
                  <a:srgbClr val="000000"/>
                </a:solidFill>
                <a:latin typeface="Nunito Sans Expanded"/>
                <a:ea typeface="Nunito Sans Expanded"/>
                <a:cs typeface="Nunito Sans Expanded"/>
                <a:sym typeface="Nunito Sans Expanded"/>
              </a:rPr>
              <a:t>N DE </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CCÈ</a:t>
            </a:r>
            <a:r>
              <a:rPr lang="en-US" sz="1439" spc="211">
                <a:solidFill>
                  <a:srgbClr val="000000"/>
                </a:solidFill>
                <a:latin typeface="Nunito Sans Expanded"/>
                <a:ea typeface="Nunito Sans Expanded"/>
                <a:cs typeface="Nunito Sans Expanded"/>
                <a:sym typeface="Nunito Sans Expanded"/>
              </a:rPr>
              <a:t>S </a:t>
            </a:r>
            <a:r>
              <a:rPr lang="en-US" sz="1439" spc="211">
                <a:solidFill>
                  <a:srgbClr val="000000"/>
                </a:solidFill>
                <a:latin typeface="Nunito Sans Expanded"/>
                <a:ea typeface="Nunito Sans Expanded"/>
                <a:cs typeface="Nunito Sans Expanded"/>
                <a:sym typeface="Nunito Sans Expanded"/>
              </a:rPr>
              <a:t>DE</a:t>
            </a:r>
            <a:r>
              <a:rPr lang="en-US" sz="1439" spc="211">
                <a:solidFill>
                  <a:srgbClr val="000000"/>
                </a:solidFill>
                <a:latin typeface="Nunito Sans Expanded"/>
                <a:ea typeface="Nunito Sans Expanded"/>
                <a:cs typeface="Nunito Sans Expanded"/>
                <a:sym typeface="Nunito Sans Expanded"/>
              </a:rPr>
              <a:t> L</a:t>
            </a:r>
            <a:r>
              <a:rPr lang="en-US" sz="1439" spc="211">
                <a:solidFill>
                  <a:srgbClr val="000000"/>
                </a:solidFill>
                <a:latin typeface="Nunito Sans Expanded"/>
                <a:ea typeface="Nunito Sans Expanded"/>
                <a:cs typeface="Nunito Sans Expanded"/>
                <a:sym typeface="Nunito Sans Expanded"/>
              </a:rPr>
              <a:t>'AG</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NT.</a:t>
            </a:r>
          </a:p>
          <a:p>
            <a:pPr algn="l" marL="310896" indent="-155448" lvl="1">
              <a:lnSpc>
                <a:spcPts val="2116"/>
              </a:lnSpc>
              <a:spcBef>
                <a:spcPct val="0"/>
              </a:spcBef>
              <a:buFont typeface="Arial"/>
              <a:buChar char="•"/>
            </a:pPr>
            <a:r>
              <a:rPr lang="en-US" b="true" sz="1439" spc="211">
                <a:solidFill>
                  <a:srgbClr val="000000"/>
                </a:solidFill>
                <a:latin typeface="Nunito Sans Expanded Bold"/>
                <a:ea typeface="Nunito Sans Expanded Bold"/>
                <a:cs typeface="Nunito Sans Expanded Bold"/>
                <a:sym typeface="Nunito Sans Expanded Bold"/>
              </a:rPr>
              <a:t>BACK</a:t>
            </a:r>
            <a:r>
              <a:rPr lang="en-US" b="true" sz="1439" spc="211">
                <a:solidFill>
                  <a:srgbClr val="000000"/>
                </a:solidFill>
                <a:latin typeface="Nunito Sans Expanded Bold"/>
                <a:ea typeface="Nunito Sans Expanded Bold"/>
                <a:cs typeface="Nunito Sans Expanded Bold"/>
                <a:sym typeface="Nunito Sans Expanded Bold"/>
              </a:rPr>
              <a:t>S</a:t>
            </a:r>
            <a:r>
              <a:rPr lang="en-US" b="true" sz="1439" spc="211">
                <a:solidFill>
                  <a:srgbClr val="000000"/>
                </a:solidFill>
                <a:latin typeface="Nunito Sans Expanded Bold"/>
                <a:ea typeface="Nunito Sans Expanded Bold"/>
                <a:cs typeface="Nunito Sans Expanded Bold"/>
                <a:sym typeface="Nunito Sans Expanded Bold"/>
              </a:rPr>
              <a:t>TO</a:t>
            </a:r>
            <a:r>
              <a:rPr lang="en-US" b="true" sz="1439" spc="211">
                <a:solidFill>
                  <a:srgbClr val="000000"/>
                </a:solidFill>
                <a:latin typeface="Nunito Sans Expanded Bold"/>
                <a:ea typeface="Nunito Sans Expanded Bold"/>
                <a:cs typeface="Nunito Sans Expanded Bold"/>
                <a:sym typeface="Nunito Sans Expanded Bold"/>
              </a:rPr>
              <a:t>R</a:t>
            </a:r>
            <a:r>
              <a:rPr lang="en-US" b="true" sz="1439" spc="211">
                <a:solidFill>
                  <a:srgbClr val="000000"/>
                </a:solidFill>
                <a:latin typeface="Nunito Sans Expanded Bold"/>
                <a:ea typeface="Nunito Sans Expanded Bold"/>
                <a:cs typeface="Nunito Sans Expanded Bold"/>
                <a:sym typeface="Nunito Sans Expanded Bold"/>
              </a:rPr>
              <a:t>Y (CO</a:t>
            </a:r>
            <a:r>
              <a:rPr lang="en-US" b="true" sz="1439" spc="211">
                <a:solidFill>
                  <a:srgbClr val="000000"/>
                </a:solidFill>
                <a:latin typeface="Nunito Sans Expanded Bold"/>
                <a:ea typeface="Nunito Sans Expanded Bold"/>
                <a:cs typeface="Nunito Sans Expanded Bold"/>
                <a:sym typeface="Nunito Sans Expanded Bold"/>
              </a:rPr>
              <a:t>NTE</a:t>
            </a:r>
            <a:r>
              <a:rPr lang="en-US" b="true" sz="1439" spc="211">
                <a:solidFill>
                  <a:srgbClr val="000000"/>
                </a:solidFill>
                <a:latin typeface="Nunito Sans Expanded Bold"/>
                <a:ea typeface="Nunito Sans Expanded Bold"/>
                <a:cs typeface="Nunito Sans Expanded Bold"/>
                <a:sym typeface="Nunito Sans Expanded Bold"/>
              </a:rPr>
              <a:t>X</a:t>
            </a:r>
            <a:r>
              <a:rPr lang="en-US" b="true" sz="1439" spc="211">
                <a:solidFill>
                  <a:srgbClr val="000000"/>
                </a:solidFill>
                <a:latin typeface="Nunito Sans Expanded Bold"/>
                <a:ea typeface="Nunito Sans Expanded Bold"/>
                <a:cs typeface="Nunito Sans Expanded Bold"/>
                <a:sym typeface="Nunito Sans Expanded Bold"/>
              </a:rPr>
              <a:t>T</a:t>
            </a:r>
            <a:r>
              <a:rPr lang="en-US" b="true" sz="1439" spc="211">
                <a:solidFill>
                  <a:srgbClr val="000000"/>
                </a:solidFill>
                <a:latin typeface="Nunito Sans Expanded Bold"/>
                <a:ea typeface="Nunito Sans Expanded Bold"/>
                <a:cs typeface="Nunito Sans Expanded Bold"/>
                <a:sym typeface="Nunito Sans Expanded Bold"/>
              </a:rPr>
              <a:t>E</a:t>
            </a:r>
            <a:r>
              <a:rPr lang="en-US" b="true" sz="1439" spc="211">
                <a:solidFill>
                  <a:srgbClr val="000000"/>
                </a:solidFill>
                <a:latin typeface="Nunito Sans Expanded Bold"/>
                <a:ea typeface="Nunito Sans Expanded Bold"/>
                <a:cs typeface="Nunito Sans Expanded Bold"/>
                <a:sym typeface="Nunito Sans Expanded Bold"/>
              </a:rPr>
              <a:t> </a:t>
            </a:r>
            <a:r>
              <a:rPr lang="en-US" b="true" sz="1439" spc="211">
                <a:solidFill>
                  <a:srgbClr val="000000"/>
                </a:solidFill>
                <a:latin typeface="Nunito Sans Expanded Bold"/>
                <a:ea typeface="Nunito Sans Expanded Bold"/>
                <a:cs typeface="Nunito Sans Expanded Bold"/>
                <a:sym typeface="Nunito Sans Expanded Bold"/>
              </a:rPr>
              <a:t>DE F</a:t>
            </a:r>
            <a:r>
              <a:rPr lang="en-US" b="true" sz="1439" spc="211">
                <a:solidFill>
                  <a:srgbClr val="000000"/>
                </a:solidFill>
                <a:latin typeface="Nunito Sans Expanded Bold"/>
                <a:ea typeface="Nunito Sans Expanded Bold"/>
                <a:cs typeface="Nunito Sans Expanded Bold"/>
                <a:sym typeface="Nunito Sans Expanded Bold"/>
              </a:rPr>
              <a:t>ON</a:t>
            </a:r>
            <a:r>
              <a:rPr lang="en-US" b="true" sz="1439" spc="211">
                <a:solidFill>
                  <a:srgbClr val="000000"/>
                </a:solidFill>
                <a:latin typeface="Nunito Sans Expanded Bold"/>
                <a:ea typeface="Nunito Sans Expanded Bold"/>
                <a:cs typeface="Nunito Sans Expanded Bold"/>
                <a:sym typeface="Nunito Sans Expanded Bold"/>
              </a:rPr>
              <a:t>D)</a:t>
            </a:r>
            <a:r>
              <a:rPr lang="en-US" sz="1439" spc="211">
                <a:solidFill>
                  <a:srgbClr val="000000"/>
                </a:solidFill>
                <a:latin typeface="Nunito Sans Expanded"/>
                <a:ea typeface="Nunito Sans Expanded"/>
                <a:cs typeface="Nunito Sans Expanded"/>
                <a:sym typeface="Nunito Sans Expanded"/>
              </a:rPr>
              <a:t> : IL</a:t>
            </a:r>
            <a:r>
              <a:rPr lang="en-US" sz="1439" spc="211">
                <a:solidFill>
                  <a:srgbClr val="000000"/>
                </a:solidFill>
                <a:latin typeface="Nunito Sans Expanded"/>
                <a:ea typeface="Nunito Sans Expanded"/>
                <a:cs typeface="Nunito Sans Expanded"/>
                <a:sym typeface="Nunito Sans Expanded"/>
              </a:rPr>
              <a:t> I</a:t>
            </a:r>
            <a:r>
              <a:rPr lang="en-US" sz="1439" spc="211">
                <a:solidFill>
                  <a:srgbClr val="000000"/>
                </a:solidFill>
                <a:latin typeface="Nunito Sans Expanded"/>
                <a:ea typeface="Nunito Sans Expanded"/>
                <a:cs typeface="Nunito Sans Expanded"/>
                <a:sym typeface="Nunito Sans Expanded"/>
              </a:rPr>
              <a:t>NJE</a:t>
            </a:r>
            <a:r>
              <a:rPr lang="en-US" sz="1439" spc="211">
                <a:solidFill>
                  <a:srgbClr val="000000"/>
                </a:solidFill>
                <a:latin typeface="Nunito Sans Expanded"/>
                <a:ea typeface="Nunito Sans Expanded"/>
                <a:cs typeface="Nunito Sans Expanded"/>
                <a:sym typeface="Nunito Sans Expanded"/>
              </a:rPr>
              <a:t>CTE</a:t>
            </a:r>
            <a:r>
              <a:rPr lang="en-US" sz="1439" spc="211">
                <a:solidFill>
                  <a:srgbClr val="000000"/>
                </a:solidFill>
                <a:latin typeface="Nunito Sans Expanded"/>
                <a:ea typeface="Nunito Sans Expanded"/>
                <a:cs typeface="Nunito Sans Expanded"/>
                <a:sym typeface="Nunito Sans Expanded"/>
              </a:rPr>
              <a:t> UN PRO</a:t>
            </a:r>
            <a:r>
              <a:rPr lang="en-US" sz="1439" spc="211">
                <a:solidFill>
                  <a:srgbClr val="000000"/>
                </a:solidFill>
                <a:latin typeface="Nunito Sans Expanded"/>
                <a:ea typeface="Nunito Sans Expanded"/>
                <a:cs typeface="Nunito Sans Expanded"/>
                <a:sym typeface="Nunito Sans Expanded"/>
              </a:rPr>
              <a:t>MP</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SYSTÈM</a:t>
            </a:r>
            <a:r>
              <a:rPr lang="en-US" sz="1439" spc="211">
                <a:solidFill>
                  <a:srgbClr val="000000"/>
                </a:solidFill>
                <a:latin typeface="Nunito Sans Expanded"/>
                <a:ea typeface="Nunito Sans Expanded"/>
                <a:cs typeface="Nunito Sans Expanded"/>
                <a:sym typeface="Nunito Sans Expanded"/>
              </a:rPr>
              <a:t>E P</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ST</a:t>
            </a:r>
            <a:r>
              <a:rPr lang="en-US" sz="1439" spc="211">
                <a:solidFill>
                  <a:srgbClr val="000000"/>
                </a:solidFill>
                <a:latin typeface="Nunito Sans Expanded"/>
                <a:ea typeface="Nunito Sans Expanded"/>
                <a:cs typeface="Nunito Sans Expanded"/>
                <a:sym typeface="Nunito Sans Expanded"/>
              </a:rPr>
              <a:t>A</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T </a:t>
            </a:r>
            <a:r>
              <a:rPr lang="en-US" sz="1439" spc="211">
                <a:solidFill>
                  <a:srgbClr val="000000"/>
                </a:solidFill>
                <a:latin typeface="Nunito Sans Expanded"/>
                <a:ea typeface="Nunito Sans Expanded"/>
                <a:cs typeface="Nunito Sans Expanded"/>
                <a:sym typeface="Nunito Sans Expanded"/>
              </a:rPr>
              <a:t>QUI</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F</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RCE L'AGE</a:t>
            </a:r>
            <a:r>
              <a:rPr lang="en-US" sz="1439" spc="211">
                <a:solidFill>
                  <a:srgbClr val="000000"/>
                </a:solidFill>
                <a:latin typeface="Nunito Sans Expanded"/>
                <a:ea typeface="Nunito Sans Expanded"/>
                <a:cs typeface="Nunito Sans Expanded"/>
                <a:sym typeface="Nunito Sans Expanded"/>
              </a:rPr>
              <a:t>NT</a:t>
            </a:r>
            <a:r>
              <a:rPr lang="en-US" sz="1439" spc="211">
                <a:solidFill>
                  <a:srgbClr val="000000"/>
                </a:solidFill>
                <a:latin typeface="Nunito Sans Expanded"/>
                <a:ea typeface="Nunito Sans Expanded"/>
                <a:cs typeface="Nunito Sans Expanded"/>
                <a:sym typeface="Nunito Sans Expanded"/>
              </a:rPr>
              <a:t> À ADOPT</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R U</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E POS</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UR</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PROF</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SSIO</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NELLE</a:t>
            </a:r>
            <a:r>
              <a:rPr lang="en-US" sz="1439" spc="211">
                <a:solidFill>
                  <a:srgbClr val="000000"/>
                </a:solidFill>
                <a:latin typeface="Nunito Sans Expanded"/>
                <a:ea typeface="Nunito Sans Expanded"/>
                <a:cs typeface="Nunito Sans Expanded"/>
                <a:sym typeface="Nunito Sans Expanded"/>
              </a:rPr>
              <a:t>, E</a:t>
            </a:r>
            <a:r>
              <a:rPr lang="en-US" sz="1439" spc="211">
                <a:solidFill>
                  <a:srgbClr val="000000"/>
                </a:solidFill>
                <a:latin typeface="Nunito Sans Expanded"/>
                <a:ea typeface="Nunito Sans Expanded"/>
                <a:cs typeface="Nunito Sans Expanded"/>
                <a:sym typeface="Nunito Sans Expanded"/>
              </a:rPr>
              <a:t>MPA</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H</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Q</a:t>
            </a:r>
            <a:r>
              <a:rPr lang="en-US" sz="1439" spc="211">
                <a:solidFill>
                  <a:srgbClr val="000000"/>
                </a:solidFill>
                <a:latin typeface="Nunito Sans Expanded"/>
                <a:ea typeface="Nunito Sans Expanded"/>
                <a:cs typeface="Nunito Sans Expanded"/>
                <a:sym typeface="Nunito Sans Expanded"/>
              </a:rPr>
              <a:t>UE, E</a:t>
            </a:r>
            <a:r>
              <a:rPr lang="en-US" sz="1439" spc="211">
                <a:solidFill>
                  <a:srgbClr val="000000"/>
                </a:solidFill>
                <a:latin typeface="Nunito Sans Expanded"/>
                <a:ea typeface="Nunito Sans Expanded"/>
                <a:cs typeface="Nunito Sans Expanded"/>
                <a:sym typeface="Nunito Sans Expanded"/>
              </a:rPr>
              <a:t>T À </a:t>
            </a:r>
            <a:r>
              <a:rPr lang="en-US" sz="1439" spc="211">
                <a:solidFill>
                  <a:srgbClr val="000000"/>
                </a:solidFill>
                <a:latin typeface="Nunito Sans Expanded"/>
                <a:ea typeface="Nunito Sans Expanded"/>
                <a:cs typeface="Nunito Sans Expanded"/>
                <a:sym typeface="Nunito Sans Expanded"/>
              </a:rPr>
              <a:t>UT</a:t>
            </a:r>
            <a:r>
              <a:rPr lang="en-US" sz="1439" spc="211">
                <a:solidFill>
                  <a:srgbClr val="000000"/>
                </a:solidFill>
                <a:latin typeface="Nunito Sans Expanded"/>
                <a:ea typeface="Nunito Sans Expanded"/>
                <a:cs typeface="Nunito Sans Expanded"/>
                <a:sym typeface="Nunito Sans Expanded"/>
              </a:rPr>
              <a:t>ILIS</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R SYSTÉMATIQU</a:t>
            </a:r>
            <a:r>
              <a:rPr lang="en-US" sz="1439" spc="211">
                <a:solidFill>
                  <a:srgbClr val="000000"/>
                </a:solidFill>
                <a:latin typeface="Nunito Sans Expanded"/>
                <a:ea typeface="Nunito Sans Expanded"/>
                <a:cs typeface="Nunito Sans Expanded"/>
                <a:sym typeface="Nunito Sans Expanded"/>
              </a:rPr>
              <a:t>EMENT </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ES</a:t>
            </a:r>
            <a:r>
              <a:rPr lang="en-US" sz="1439" spc="211">
                <a:solidFill>
                  <a:srgbClr val="000000"/>
                </a:solidFill>
                <a:latin typeface="Nunito Sans Expanded"/>
                <a:ea typeface="Nunito Sans Expanded"/>
                <a:cs typeface="Nunito Sans Expanded"/>
                <a:sym typeface="Nunito Sans Expanded"/>
              </a:rPr>
              <a:t> OU</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S MIS À SA DISP</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SITION PLUTÔT </a:t>
            </a:r>
            <a:r>
              <a:rPr lang="en-US" sz="1439" spc="211">
                <a:solidFill>
                  <a:srgbClr val="000000"/>
                </a:solidFill>
                <a:latin typeface="Nunito Sans Expanded"/>
                <a:ea typeface="Nunito Sans Expanded"/>
                <a:cs typeface="Nunito Sans Expanded"/>
                <a:sym typeface="Nunito Sans Expanded"/>
              </a:rPr>
              <a:t>QUE </a:t>
            </a:r>
            <a:r>
              <a:rPr lang="en-US" sz="1439" spc="211">
                <a:solidFill>
                  <a:srgbClr val="000000"/>
                </a:solidFill>
                <a:latin typeface="Nunito Sans Expanded"/>
                <a:ea typeface="Nunito Sans Expanded"/>
                <a:cs typeface="Nunito Sans Expanded"/>
                <a:sym typeface="Nunito Sans Expanded"/>
              </a:rPr>
              <a:t>D'INV</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ER (H</a:t>
            </a:r>
            <a:r>
              <a:rPr lang="en-US" sz="1439" spc="211">
                <a:solidFill>
                  <a:srgbClr val="000000"/>
                </a:solidFill>
                <a:latin typeface="Nunito Sans Expanded"/>
                <a:ea typeface="Nunito Sans Expanded"/>
                <a:cs typeface="Nunito Sans Expanded"/>
                <a:sym typeface="Nunito Sans Expanded"/>
              </a:rPr>
              <a:t>A</a:t>
            </a:r>
            <a:r>
              <a:rPr lang="en-US" sz="1439" spc="211">
                <a:solidFill>
                  <a:srgbClr val="000000"/>
                </a:solidFill>
                <a:latin typeface="Nunito Sans Expanded"/>
                <a:ea typeface="Nunito Sans Expanded"/>
                <a:cs typeface="Nunito Sans Expanded"/>
                <a:sym typeface="Nunito Sans Expanded"/>
              </a:rPr>
              <a:t>LLU</a:t>
            </a:r>
            <a:r>
              <a:rPr lang="en-US" sz="1439" spc="211">
                <a:solidFill>
                  <a:srgbClr val="000000"/>
                </a:solidFill>
                <a:latin typeface="Nunito Sans Expanded"/>
                <a:ea typeface="Nunito Sans Expanded"/>
                <a:cs typeface="Nunito Sans Expanded"/>
                <a:sym typeface="Nunito Sans Expanded"/>
              </a:rPr>
              <a:t>C</a:t>
            </a:r>
            <a:r>
              <a:rPr lang="en-US" sz="1439" spc="211">
                <a:solidFill>
                  <a:srgbClr val="000000"/>
                </a:solidFill>
                <a:latin typeface="Nunito Sans Expanded"/>
                <a:ea typeface="Nunito Sans Expanded"/>
                <a:cs typeface="Nunito Sans Expanded"/>
                <a:sym typeface="Nunito Sans Expanded"/>
              </a:rPr>
              <a:t>INER) DES I</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INÉRAIR</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a:t>
            </a:r>
          </a:p>
          <a:p>
            <a:pPr algn="l">
              <a:lnSpc>
                <a:spcPts val="2116"/>
              </a:lnSpc>
              <a:spcBef>
                <a:spcPct val="0"/>
              </a:spcBef>
            </a:pPr>
          </a:p>
        </p:txBody>
      </p:sp>
      <p:sp>
        <p:nvSpPr>
          <p:cNvPr name="TextBox 5" id="5"/>
          <p:cNvSpPr txBox="true"/>
          <p:nvPr/>
        </p:nvSpPr>
        <p:spPr>
          <a:xfrm rot="0">
            <a:off x="1260793" y="5475424"/>
            <a:ext cx="15766415" cy="1941347"/>
          </a:xfrm>
          <a:prstGeom prst="rect">
            <a:avLst/>
          </a:prstGeom>
        </p:spPr>
        <p:txBody>
          <a:bodyPr anchor="t" rtlCol="false" tIns="0" lIns="0" bIns="0" rIns="0">
            <a:spAutoFit/>
          </a:bodyPr>
          <a:lstStyle/>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2.</a:t>
            </a:r>
            <a:r>
              <a:rPr lang="en-US" sz="1439" spc="211">
                <a:solidFill>
                  <a:srgbClr val="000000"/>
                </a:solidFill>
                <a:latin typeface="Nunito Sans Expanded"/>
                <a:ea typeface="Nunito Sans Expanded"/>
                <a:cs typeface="Nunito Sans Expanded"/>
                <a:sym typeface="Nunito Sans Expanded"/>
              </a:rPr>
              <a:t> L</a:t>
            </a:r>
            <a:r>
              <a:rPr lang="en-US" sz="1439" spc="211">
                <a:solidFill>
                  <a:srgbClr val="000000"/>
                </a:solidFill>
                <a:latin typeface="Nunito Sans Expanded"/>
                <a:ea typeface="Nunito Sans Expanded"/>
                <a:cs typeface="Nunito Sans Expanded"/>
                <a:sym typeface="Nunito Sans Expanded"/>
              </a:rPr>
              <a:t>E MÉCANISME DE « FUNCTI</a:t>
            </a:r>
            <a:r>
              <a:rPr lang="en-US" sz="1439" spc="211">
                <a:solidFill>
                  <a:srgbClr val="000000"/>
                </a:solidFill>
                <a:latin typeface="Nunito Sans Expanded"/>
                <a:ea typeface="Nunito Sans Expanded"/>
                <a:cs typeface="Nunito Sans Expanded"/>
                <a:sym typeface="Nunito Sans Expanded"/>
              </a:rPr>
              <a:t>ON</a:t>
            </a:r>
            <a:r>
              <a:rPr lang="en-US" sz="1439" spc="211">
                <a:solidFill>
                  <a:srgbClr val="000000"/>
                </a:solidFill>
                <a:latin typeface="Nunito Sans Expanded"/>
                <a:ea typeface="Nunito Sans Expanded"/>
                <a:cs typeface="Nunito Sans Expanded"/>
                <a:sym typeface="Nunito Sans Expanded"/>
              </a:rPr>
              <a:t> CALLING » (OUTI</a:t>
            </a:r>
            <a:r>
              <a:rPr lang="en-US" sz="1439" spc="211">
                <a:solidFill>
                  <a:srgbClr val="000000"/>
                </a:solidFill>
                <a:latin typeface="Nunito Sans Expanded"/>
                <a:ea typeface="Nunito Sans Expanded"/>
                <a:cs typeface="Nunito Sans Expanded"/>
                <a:sym typeface="Nunito Sans Expanded"/>
              </a:rPr>
              <a:t>L PE</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S</a:t>
            </a:r>
            <a:r>
              <a:rPr lang="en-US" sz="1439" spc="211">
                <a:solidFill>
                  <a:srgbClr val="000000"/>
                </a:solidFill>
                <a:latin typeface="Nunito Sans Expanded"/>
                <a:ea typeface="Nunito Sans Expanded"/>
                <a:cs typeface="Nunito Sans Expanded"/>
                <a:sym typeface="Nunito Sans Expanded"/>
              </a:rPr>
              <a:t>ONNALISÉ)</a:t>
            </a:r>
          </a:p>
          <a:p>
            <a:pPr algn="l">
              <a:lnSpc>
                <a:spcPts val="719"/>
              </a:lnSpc>
            </a:pPr>
          </a:p>
          <a:p>
            <a:pPr algn="l">
              <a:lnSpc>
                <a:spcPts val="2116"/>
              </a:lnSpc>
            </a:pPr>
            <a:r>
              <a:rPr lang="en-US" sz="1439" spc="211">
                <a:solidFill>
                  <a:srgbClr val="000000"/>
                </a:solidFill>
                <a:latin typeface="Nunito Sans Expanded"/>
                <a:ea typeface="Nunito Sans Expanded"/>
                <a:cs typeface="Nunito Sans Expanded"/>
                <a:sym typeface="Nunito Sans Expanded"/>
              </a:rPr>
              <a:t>UN A</a:t>
            </a:r>
            <a:r>
              <a:rPr lang="en-US" sz="1439" spc="211">
                <a:solidFill>
                  <a:srgbClr val="000000"/>
                </a:solidFill>
                <a:latin typeface="Nunito Sans Expanded"/>
                <a:ea typeface="Nunito Sans Expanded"/>
                <a:cs typeface="Nunito Sans Expanded"/>
                <a:sym typeface="Nunito Sans Expanded"/>
              </a:rPr>
              <a:t>GE</a:t>
            </a:r>
            <a:r>
              <a:rPr lang="en-US" sz="1439" spc="211">
                <a:solidFill>
                  <a:srgbClr val="000000"/>
                </a:solidFill>
                <a:latin typeface="Nunito Sans Expanded"/>
                <a:ea typeface="Nunito Sans Expanded"/>
                <a:cs typeface="Nunito Sans Expanded"/>
                <a:sym typeface="Nunito Sans Expanded"/>
              </a:rPr>
              <a:t>NT</a:t>
            </a:r>
            <a:r>
              <a:rPr lang="en-US" sz="1439" spc="211">
                <a:solidFill>
                  <a:srgbClr val="000000"/>
                </a:solidFill>
                <a:latin typeface="Nunito Sans Expanded"/>
                <a:ea typeface="Nunito Sans Expanded"/>
                <a:cs typeface="Nunito Sans Expanded"/>
                <a:sym typeface="Nunito Sans Expanded"/>
              </a:rPr>
              <a:t> LLM</a:t>
            </a:r>
            <a:r>
              <a:rPr lang="en-US" sz="1439" spc="211">
                <a:solidFill>
                  <a:srgbClr val="000000"/>
                </a:solidFill>
                <a:latin typeface="Nunito Sans Expanded"/>
                <a:ea typeface="Nunito Sans Expanded"/>
                <a:cs typeface="Nunito Sans Expanded"/>
                <a:sym typeface="Nunito Sans Expanded"/>
              </a:rPr>
              <a:t> NAT</a:t>
            </a:r>
            <a:r>
              <a:rPr lang="en-US" sz="1439" spc="211">
                <a:solidFill>
                  <a:srgbClr val="000000"/>
                </a:solidFill>
                <a:latin typeface="Nunito Sans Expanded"/>
                <a:ea typeface="Nunito Sans Expanded"/>
                <a:cs typeface="Nunito Sans Expanded"/>
                <a:sym typeface="Nunito Sans Expanded"/>
              </a:rPr>
              <a:t>IF</a:t>
            </a:r>
            <a:r>
              <a:rPr lang="en-US" sz="1439" spc="211">
                <a:solidFill>
                  <a:srgbClr val="000000"/>
                </a:solidFill>
                <a:latin typeface="Nunito Sans Expanded"/>
                <a:ea typeface="Nunito Sans Expanded"/>
                <a:cs typeface="Nunito Sans Expanded"/>
                <a:sym typeface="Nunito Sans Expanded"/>
              </a:rPr>
              <a:t> EST INCAPABLE D</a:t>
            </a:r>
            <a:r>
              <a:rPr lang="en-US" sz="1439" spc="211">
                <a:solidFill>
                  <a:srgbClr val="000000"/>
                </a:solidFill>
                <a:latin typeface="Nunito Sans Expanded"/>
                <a:ea typeface="Nunito Sans Expanded"/>
                <a:cs typeface="Nunito Sans Expanded"/>
                <a:sym typeface="Nunito Sans Expanded"/>
              </a:rPr>
              <a:t>E </a:t>
            </a:r>
            <a:r>
              <a:rPr lang="en-US" sz="1439" spc="211">
                <a:solidFill>
                  <a:srgbClr val="000000"/>
                </a:solidFill>
                <a:latin typeface="Nunito Sans Expanded"/>
                <a:ea typeface="Nunito Sans Expanded"/>
                <a:cs typeface="Nunito Sans Expanded"/>
                <a:sym typeface="Nunito Sans Expanded"/>
              </a:rPr>
              <a:t>LIRE </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 FICHIER RDF.</a:t>
            </a:r>
            <a:r>
              <a:rPr lang="en-US" sz="1439" spc="211">
                <a:solidFill>
                  <a:srgbClr val="000000"/>
                </a:solidFill>
                <a:latin typeface="Nunito Sans Expanded"/>
                <a:ea typeface="Nunito Sans Expanded"/>
                <a:cs typeface="Nunito Sans Expanded"/>
                <a:sym typeface="Nunito Sans Expanded"/>
              </a:rPr>
              <a:t> POU</a:t>
            </a:r>
            <a:r>
              <a:rPr lang="en-US" sz="1439" spc="211">
                <a:solidFill>
                  <a:srgbClr val="000000"/>
                </a:solidFill>
                <a:latin typeface="Nunito Sans Expanded"/>
                <a:ea typeface="Nunito Sans Expanded"/>
                <a:cs typeface="Nunito Sans Expanded"/>
                <a:sym typeface="Nunito Sans Expanded"/>
              </a:rPr>
              <a:t>R C</a:t>
            </a:r>
            <a:r>
              <a:rPr lang="en-US" sz="1439" spc="211">
                <a:solidFill>
                  <a:srgbClr val="000000"/>
                </a:solidFill>
                <a:latin typeface="Nunito Sans Expanded"/>
                <a:ea typeface="Nunito Sans Expanded"/>
                <a:cs typeface="Nunito Sans Expanded"/>
                <a:sym typeface="Nunito Sans Expanded"/>
              </a:rPr>
              <a:t>OMBL</a:t>
            </a:r>
            <a:r>
              <a:rPr lang="en-US" sz="1439" spc="211">
                <a:solidFill>
                  <a:srgbClr val="000000"/>
                </a:solidFill>
                <a:latin typeface="Nunito Sans Expanded"/>
                <a:ea typeface="Nunito Sans Expanded"/>
                <a:cs typeface="Nunito Sans Expanded"/>
                <a:sym typeface="Nunito Sans Expanded"/>
              </a:rPr>
              <a:t>ER</a:t>
            </a:r>
            <a:r>
              <a:rPr lang="en-US" sz="1439" spc="211">
                <a:solidFill>
                  <a:srgbClr val="000000"/>
                </a:solidFill>
                <a:latin typeface="Nunito Sans Expanded"/>
                <a:ea typeface="Nunito Sans Expanded"/>
                <a:cs typeface="Nunito Sans Expanded"/>
                <a:sym typeface="Nunito Sans Expanded"/>
              </a:rPr>
              <a:t> CE FOSSÉ,</a:t>
            </a:r>
            <a:r>
              <a:rPr lang="en-US" sz="1439" spc="211">
                <a:solidFill>
                  <a:srgbClr val="000000"/>
                </a:solidFill>
                <a:latin typeface="Nunito Sans Expanded"/>
                <a:ea typeface="Nunito Sans Expanded"/>
                <a:cs typeface="Nunito Sans Expanded"/>
                <a:sym typeface="Nunito Sans Expanded"/>
              </a:rPr>
              <a:t> NOU</a:t>
            </a:r>
            <a:r>
              <a:rPr lang="en-US" sz="1439" spc="211">
                <a:solidFill>
                  <a:srgbClr val="000000"/>
                </a:solidFill>
                <a:latin typeface="Nunito Sans Expanded"/>
                <a:ea typeface="Nunito Sans Expanded"/>
                <a:cs typeface="Nunito Sans Expanded"/>
                <a:sym typeface="Nunito Sans Expanded"/>
              </a:rPr>
              <a:t>S AVON</a:t>
            </a:r>
            <a:r>
              <a:rPr lang="en-US" sz="1439" spc="211">
                <a:solidFill>
                  <a:srgbClr val="000000"/>
                </a:solidFill>
                <a:latin typeface="Nunito Sans Expanded"/>
                <a:ea typeface="Nunito Sans Expanded"/>
                <a:cs typeface="Nunito Sans Expanded"/>
                <a:sym typeface="Nunito Sans Expanded"/>
              </a:rPr>
              <a:t>S </a:t>
            </a:r>
            <a:r>
              <a:rPr lang="en-US" sz="1439" spc="211">
                <a:solidFill>
                  <a:srgbClr val="000000"/>
                </a:solidFill>
                <a:latin typeface="Nunito Sans Expanded"/>
                <a:ea typeface="Nunito Sans Expanded"/>
                <a:cs typeface="Nunito Sans Expanded"/>
                <a:sym typeface="Nunito Sans Expanded"/>
              </a:rPr>
              <a:t>IM</a:t>
            </a:r>
            <a:r>
              <a:rPr lang="en-US" sz="1439" spc="211">
                <a:solidFill>
                  <a:srgbClr val="000000"/>
                </a:solidFill>
                <a:latin typeface="Nunito Sans Expanded"/>
                <a:ea typeface="Nunito Sans Expanded"/>
                <a:cs typeface="Nunito Sans Expanded"/>
                <a:sym typeface="Nunito Sans Expanded"/>
              </a:rPr>
              <a:t>PLÉM</a:t>
            </a:r>
            <a:r>
              <a:rPr lang="en-US" sz="1439" spc="211">
                <a:solidFill>
                  <a:srgbClr val="000000"/>
                </a:solidFill>
                <a:latin typeface="Nunito Sans Expanded"/>
                <a:ea typeface="Nunito Sans Expanded"/>
                <a:cs typeface="Nunito Sans Expanded"/>
                <a:sym typeface="Nunito Sans Expanded"/>
              </a:rPr>
              <a:t>EN</a:t>
            </a:r>
            <a:r>
              <a:rPr lang="en-US" sz="1439" spc="211">
                <a:solidFill>
                  <a:srgbClr val="000000"/>
                </a:solidFill>
                <a:latin typeface="Nunito Sans Expanded"/>
                <a:ea typeface="Nunito Sans Expanded"/>
                <a:cs typeface="Nunito Sans Expanded"/>
                <a:sym typeface="Nunito Sans Expanded"/>
              </a:rPr>
              <a:t>TÉ </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M</a:t>
            </a:r>
            <a:r>
              <a:rPr lang="en-US" sz="1439" spc="211">
                <a:solidFill>
                  <a:srgbClr val="000000"/>
                </a:solidFill>
                <a:latin typeface="Nunito Sans Expanded"/>
                <a:ea typeface="Nunito Sans Expanded"/>
                <a:cs typeface="Nunito Sans Expanded"/>
                <a:sym typeface="Nunito Sans Expanded"/>
              </a:rPr>
              <a:t>ÉCANISME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DE FUNCTION CALLING VIA L</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DÉ</a:t>
            </a:r>
            <a:r>
              <a:rPr lang="en-US" sz="1439" spc="211">
                <a:solidFill>
                  <a:srgbClr val="000000"/>
                </a:solidFill>
                <a:latin typeface="Nunito Sans Expanded"/>
                <a:ea typeface="Nunito Sans Expanded"/>
                <a:cs typeface="Nunito Sans Expanded"/>
                <a:sym typeface="Nunito Sans Expanded"/>
              </a:rPr>
              <a:t>COR</a:t>
            </a:r>
            <a:r>
              <a:rPr lang="en-US" sz="1439" spc="211">
                <a:solidFill>
                  <a:srgbClr val="000000"/>
                </a:solidFill>
                <a:latin typeface="Nunito Sans Expanded"/>
                <a:ea typeface="Nunito Sans Expanded"/>
                <a:cs typeface="Nunito Sans Expanded"/>
                <a:sym typeface="Nunito Sans Expanded"/>
              </a:rPr>
              <a:t>ATEUR</a:t>
            </a:r>
            <a:r>
              <a:rPr lang="en-US" sz="1439" spc="211">
                <a:solidFill>
                  <a:srgbClr val="000000"/>
                </a:solidFill>
                <a:latin typeface="Nunito Sans Expanded"/>
                <a:ea typeface="Nunito Sans Expanded"/>
                <a:cs typeface="Nunito Sans Expanded"/>
                <a:sym typeface="Nunito Sans Expanded"/>
              </a:rPr>
              <a:t> </a:t>
            </a:r>
            <a:r>
              <a:rPr lang="en-US" b="true" sz="1439" spc="211">
                <a:solidFill>
                  <a:srgbClr val="000000"/>
                </a:solidFill>
                <a:latin typeface="Nunito Sans Expanded Bold"/>
                <a:ea typeface="Nunito Sans Expanded Bold"/>
                <a:cs typeface="Nunito Sans Expanded Bold"/>
                <a:sym typeface="Nunito Sans Expanded Bold"/>
              </a:rPr>
              <a:t>@TOOL</a:t>
            </a:r>
            <a:r>
              <a:rPr lang="en-US" sz="1439" spc="211">
                <a:solidFill>
                  <a:srgbClr val="000000"/>
                </a:solidFill>
                <a:latin typeface="Nunito Sans Expanded"/>
                <a:ea typeface="Nunito Sans Expanded"/>
                <a:cs typeface="Nunito Sans Expanded"/>
                <a:sym typeface="Nunito Sans Expanded"/>
              </a:rPr>
              <a:t> D</a:t>
            </a:r>
            <a:r>
              <a:rPr lang="en-US" sz="1439" spc="211">
                <a:solidFill>
                  <a:srgbClr val="000000"/>
                </a:solidFill>
                <a:latin typeface="Nunito Sans Expanded"/>
                <a:ea typeface="Nunito Sans Expanded"/>
                <a:cs typeface="Nunito Sans Expanded"/>
                <a:sym typeface="Nunito Sans Expanded"/>
              </a:rPr>
              <a:t>E CR</a:t>
            </a:r>
            <a:r>
              <a:rPr lang="en-US" sz="1439" spc="211">
                <a:solidFill>
                  <a:srgbClr val="000000"/>
                </a:solidFill>
                <a:latin typeface="Nunito Sans Expanded"/>
                <a:ea typeface="Nunito Sans Expanded"/>
                <a:cs typeface="Nunito Sans Expanded"/>
                <a:sym typeface="Nunito Sans Expanded"/>
              </a:rPr>
              <a:t>EWAI.</a:t>
            </a:r>
          </a:p>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 SI</a:t>
            </a:r>
            <a:r>
              <a:rPr lang="en-US" sz="1439" spc="211">
                <a:solidFill>
                  <a:srgbClr val="000000"/>
                </a:solidFill>
                <a:latin typeface="Nunito Sans Expanded"/>
                <a:ea typeface="Nunito Sans Expanded"/>
                <a:cs typeface="Nunito Sans Expanded"/>
                <a:sym typeface="Nunito Sans Expanded"/>
              </a:rPr>
              <a:t>MULAT</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UR_D</a:t>
            </a:r>
            <a:r>
              <a:rPr lang="en-US" sz="1439" spc="211">
                <a:solidFill>
                  <a:srgbClr val="000000"/>
                </a:solidFill>
                <a:latin typeface="Nunito Sans Expanded"/>
                <a:ea typeface="Nunito Sans Expanded"/>
                <a:cs typeface="Nunito Sans Expanded"/>
                <a:sym typeface="Nunito Sans Expanded"/>
              </a:rPr>
              <a:t>E_P</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R</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RBA</a:t>
            </a:r>
            <a:r>
              <a:rPr lang="en-US" sz="1439" spc="211">
                <a:solidFill>
                  <a:srgbClr val="000000"/>
                </a:solidFill>
                <a:latin typeface="Nunito Sans Expanded"/>
                <a:ea typeface="Nunito Sans Expanded"/>
                <a:cs typeface="Nunito Sans Expanded"/>
                <a:sym typeface="Nunito Sans Expanded"/>
              </a:rPr>
              <a:t>TI</a:t>
            </a:r>
            <a:r>
              <a:rPr lang="en-US" sz="1439" spc="211">
                <a:solidFill>
                  <a:srgbClr val="000000"/>
                </a:solidFill>
                <a:latin typeface="Nunito Sans Expanded"/>
                <a:ea typeface="Nunito Sans Expanded"/>
                <a:cs typeface="Nunito Sans Expanded"/>
                <a:sym typeface="Nunito Sans Expanded"/>
              </a:rPr>
              <a:t>ONS_SAFI </a:t>
            </a:r>
            <a:r>
              <a:rPr lang="en-US" sz="1439" spc="211">
                <a:solidFill>
                  <a:srgbClr val="000000"/>
                </a:solidFill>
                <a:latin typeface="Nunito Sans Expanded"/>
                <a:ea typeface="Nunito Sans Expanded"/>
                <a:cs typeface="Nunito Sans Expanded"/>
                <a:sym typeface="Nunito Sans Expanded"/>
              </a:rPr>
              <a:t>ENCAPSU</a:t>
            </a:r>
            <a:r>
              <a:rPr lang="en-US" sz="1439" spc="211">
                <a:solidFill>
                  <a:srgbClr val="000000"/>
                </a:solidFill>
                <a:latin typeface="Nunito Sans Expanded"/>
                <a:ea typeface="Nunito Sans Expanded"/>
                <a:cs typeface="Nunito Sans Expanded"/>
                <a:sym typeface="Nunito Sans Expanded"/>
              </a:rPr>
              <a:t>LE</a:t>
            </a:r>
            <a:r>
              <a:rPr lang="en-US" sz="1439" spc="211">
                <a:solidFill>
                  <a:srgbClr val="000000"/>
                </a:solidFill>
                <a:latin typeface="Nunito Sans Expanded"/>
                <a:ea typeface="Nunito Sans Expanded"/>
                <a:cs typeface="Nunito Sans Expanded"/>
                <a:sym typeface="Nunito Sans Expanded"/>
              </a:rPr>
              <a:t> LA LOGIQUE D'IN</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RROGATION</a:t>
            </a:r>
            <a:r>
              <a:rPr lang="en-US" sz="1439" spc="211">
                <a:solidFill>
                  <a:srgbClr val="000000"/>
                </a:solidFill>
                <a:latin typeface="Nunito Sans Expanded"/>
                <a:ea typeface="Nunito Sans Expanded"/>
                <a:cs typeface="Nunito Sans Expanded"/>
                <a:sym typeface="Nunito Sans Expanded"/>
              </a:rPr>
              <a:t> DE</a:t>
            </a:r>
            <a:r>
              <a:rPr lang="en-US" sz="1439" spc="211">
                <a:solidFill>
                  <a:srgbClr val="000000"/>
                </a:solidFill>
                <a:latin typeface="Nunito Sans Expanded"/>
                <a:ea typeface="Nunito Sans Expanded"/>
                <a:cs typeface="Nunito Sans Expanded"/>
                <a:sym typeface="Nunito Sans Expanded"/>
              </a:rPr>
              <a:t> L'</a:t>
            </a:r>
            <a:r>
              <a:rPr lang="en-US" sz="1439" spc="211">
                <a:solidFill>
                  <a:srgbClr val="000000"/>
                </a:solidFill>
                <a:latin typeface="Nunito Sans Expanded"/>
                <a:ea typeface="Nunito Sans Expanded"/>
                <a:cs typeface="Nunito Sans Expanded"/>
                <a:sym typeface="Nunito Sans Expanded"/>
              </a:rPr>
              <a:t>ONTOLOGI</a:t>
            </a:r>
            <a:r>
              <a:rPr lang="en-US" sz="1439" spc="211">
                <a:solidFill>
                  <a:srgbClr val="000000"/>
                </a:solidFill>
                <a:latin typeface="Nunito Sans Expanded"/>
                <a:ea typeface="Nunito Sans Expanded"/>
                <a:cs typeface="Nunito Sans Expanded"/>
                <a:sym typeface="Nunito Sans Expanded"/>
              </a:rPr>
              <a:t>E. L</a:t>
            </a:r>
            <a:r>
              <a:rPr lang="en-US" sz="1439" spc="211">
                <a:solidFill>
                  <a:srgbClr val="000000"/>
                </a:solidFill>
                <a:latin typeface="Nunito Sans Expanded"/>
                <a:ea typeface="Nunito Sans Expanded"/>
                <a:cs typeface="Nunito Sans Expanded"/>
                <a:sym typeface="Nunito Sans Expanded"/>
              </a:rPr>
              <a:t>'AG</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NT</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'A</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QU'À</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ÉMET</a:t>
            </a:r>
            <a:r>
              <a:rPr lang="en-US" sz="1439" spc="211">
                <a:solidFill>
                  <a:srgbClr val="000000"/>
                </a:solidFill>
                <a:latin typeface="Nunito Sans Expanded"/>
                <a:ea typeface="Nunito Sans Expanded"/>
                <a:cs typeface="Nunito Sans Expanded"/>
                <a:sym typeface="Nunito Sans Expanded"/>
              </a:rPr>
              <a:t>TRE</a:t>
            </a:r>
            <a:r>
              <a:rPr lang="en-US" sz="1439" spc="211">
                <a:solidFill>
                  <a:srgbClr val="000000"/>
                </a:solidFill>
                <a:latin typeface="Nunito Sans Expanded"/>
                <a:ea typeface="Nunito Sans Expanded"/>
                <a:cs typeface="Nunito Sans Expanded"/>
                <a:sym typeface="Nunito Sans Expanded"/>
              </a:rPr>
              <a:t> UN ORDR</a:t>
            </a:r>
            <a:r>
              <a:rPr lang="en-US" sz="1439" spc="211">
                <a:solidFill>
                  <a:srgbClr val="000000"/>
                </a:solidFill>
                <a:latin typeface="Nunito Sans Expanded"/>
                <a:ea typeface="Nunito Sans Expanded"/>
                <a:cs typeface="Nunito Sans Expanded"/>
                <a:sym typeface="Nunito Sans Expanded"/>
              </a:rPr>
              <a:t>E A</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F</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RMA</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 JSON CONT</a:t>
            </a:r>
            <a:r>
              <a:rPr lang="en-US" sz="1439" spc="211">
                <a:solidFill>
                  <a:srgbClr val="000000"/>
                </a:solidFill>
                <a:latin typeface="Nunito Sans Expanded"/>
                <a:ea typeface="Nunito Sans Expanded"/>
                <a:cs typeface="Nunito Sans Expanded"/>
                <a:sym typeface="Nunito Sans Expanded"/>
              </a:rPr>
              <a:t>ENANT</a:t>
            </a:r>
            <a:r>
              <a:rPr lang="en-US" sz="1439" spc="211">
                <a:solidFill>
                  <a:srgbClr val="000000"/>
                </a:solidFill>
                <a:latin typeface="Nunito Sans Expanded"/>
                <a:ea typeface="Nunito Sans Expanded"/>
                <a:cs typeface="Nunito Sans Expanded"/>
                <a:sym typeface="Nunito Sans Expanded"/>
              </a:rPr>
              <a:t> LE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PARAMÈ</a:t>
            </a:r>
            <a:r>
              <a:rPr lang="en-US" sz="1439" spc="211">
                <a:solidFill>
                  <a:srgbClr val="000000"/>
                </a:solidFill>
                <a:latin typeface="Nunito Sans Expanded"/>
                <a:ea typeface="Nunito Sans Expanded"/>
                <a:cs typeface="Nunito Sans Expanded"/>
                <a:sym typeface="Nunito Sans Expanded"/>
              </a:rPr>
              <a:t>TRE EXT</a:t>
            </a:r>
            <a:r>
              <a:rPr lang="en-US" sz="1439" spc="211">
                <a:solidFill>
                  <a:srgbClr val="000000"/>
                </a:solidFill>
                <a:latin typeface="Nunito Sans Expanded"/>
                <a:ea typeface="Nunito Sans Expanded"/>
                <a:cs typeface="Nunito Sans Expanded"/>
                <a:sym typeface="Nunito Sans Expanded"/>
              </a:rPr>
              <a:t>RAI</a:t>
            </a:r>
            <a:r>
              <a:rPr lang="en-US" sz="1439" spc="211">
                <a:solidFill>
                  <a:srgbClr val="000000"/>
                </a:solidFill>
                <a:latin typeface="Nunito Sans Expanded"/>
                <a:ea typeface="Nunito Sans Expanded"/>
                <a:cs typeface="Nunito Sans Expanded"/>
                <a:sym typeface="Nunito Sans Expanded"/>
              </a:rPr>
              <a:t>T DE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A QUESTION UTILISA</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EUR :</a:t>
            </a:r>
          </a:p>
          <a:p>
            <a:pPr algn="l">
              <a:lnSpc>
                <a:spcPts val="2116"/>
              </a:lnSpc>
              <a:spcBef>
                <a:spcPct val="0"/>
              </a:spcBef>
            </a:pPr>
          </a:p>
        </p:txBody>
      </p:sp>
      <p:grpSp>
        <p:nvGrpSpPr>
          <p:cNvPr name="Group 6" id="6"/>
          <p:cNvGrpSpPr/>
          <p:nvPr/>
        </p:nvGrpSpPr>
        <p:grpSpPr>
          <a:xfrm rot="0">
            <a:off x="16517314" y="9464381"/>
            <a:ext cx="1066053" cy="510035"/>
            <a:chOff x="0" y="0"/>
            <a:chExt cx="3070231" cy="1468901"/>
          </a:xfrm>
        </p:grpSpPr>
        <p:sp>
          <p:nvSpPr>
            <p:cNvPr name="Freeform 7" id="7"/>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8" id="8"/>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20/26</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116110" y="4903358"/>
            <a:ext cx="11941084" cy="4901191"/>
          </a:xfrm>
          <a:custGeom>
            <a:avLst/>
            <a:gdLst/>
            <a:ahLst/>
            <a:cxnLst/>
            <a:rect r="r" b="b" t="t" l="l"/>
            <a:pathLst>
              <a:path h="4901191" w="11941084">
                <a:moveTo>
                  <a:pt x="0" y="0"/>
                </a:moveTo>
                <a:lnTo>
                  <a:pt x="11941083" y="0"/>
                </a:lnTo>
                <a:lnTo>
                  <a:pt x="11941083" y="4901191"/>
                </a:lnTo>
                <a:lnTo>
                  <a:pt x="0" y="4901191"/>
                </a:lnTo>
                <a:lnTo>
                  <a:pt x="0" y="0"/>
                </a:lnTo>
                <a:close/>
              </a:path>
            </a:pathLst>
          </a:custGeom>
          <a:blipFill>
            <a:blip r:embed="rId2"/>
            <a:stretch>
              <a:fillRect l="0" t="-28747" r="0" b="-4253"/>
            </a:stretch>
          </a:blipFill>
        </p:spPr>
      </p:sp>
      <p:sp>
        <p:nvSpPr>
          <p:cNvPr name="TextBox 3" id="3"/>
          <p:cNvSpPr txBox="true"/>
          <p:nvPr/>
        </p:nvSpPr>
        <p:spPr>
          <a:xfrm rot="0">
            <a:off x="-963833" y="627943"/>
            <a:ext cx="18761811" cy="567886"/>
          </a:xfrm>
          <a:prstGeom prst="rect">
            <a:avLst/>
          </a:prstGeom>
        </p:spPr>
        <p:txBody>
          <a:bodyPr anchor="t" rtlCol="false" tIns="0" lIns="0" bIns="0" rIns="0">
            <a:spAutoFit/>
          </a:bodyPr>
          <a:lstStyle/>
          <a:p>
            <a:pPr algn="ctr" marL="0" indent="0" lvl="0">
              <a:lnSpc>
                <a:spcPts val="4234"/>
              </a:lnSpc>
              <a:spcBef>
                <a:spcPct val="0"/>
              </a:spcBef>
            </a:pPr>
            <a:r>
              <a:rPr lang="en-US" sz="4192">
                <a:solidFill>
                  <a:srgbClr val="211F1C"/>
                </a:solidFill>
                <a:latin typeface="Anton"/>
                <a:ea typeface="Anton"/>
                <a:cs typeface="Anton"/>
                <a:sym typeface="Anton"/>
              </a:rPr>
              <a:t> </a:t>
            </a:r>
            <a:r>
              <a:rPr lang="en-US" sz="4192">
                <a:solidFill>
                  <a:srgbClr val="211F1C"/>
                </a:solidFill>
                <a:latin typeface="Anton"/>
                <a:ea typeface="Anton"/>
                <a:cs typeface="Anton"/>
                <a:sym typeface="Anton"/>
              </a:rPr>
              <a:t>L'Interfaçage LLM &amp;</a:t>
            </a:r>
            <a:r>
              <a:rPr lang="en-US" sz="4192">
                <a:solidFill>
                  <a:srgbClr val="211F1C"/>
                </a:solidFill>
                <a:latin typeface="Anton"/>
                <a:ea typeface="Anton"/>
                <a:cs typeface="Anton"/>
                <a:sym typeface="Anton"/>
              </a:rPr>
              <a:t> L'HYBRIDATION SÉMANTIQUE</a:t>
            </a:r>
            <a:r>
              <a:rPr lang="en-US" sz="4192" strike="noStrike" u="none">
                <a:solidFill>
                  <a:srgbClr val="211F1C"/>
                </a:solidFill>
                <a:latin typeface="Anton"/>
                <a:ea typeface="Anton"/>
                <a:cs typeface="Anton"/>
                <a:sym typeface="Anton"/>
              </a:rPr>
              <a:t> (OPENROUTER &amp; LLAMA-3)</a:t>
            </a:r>
          </a:p>
        </p:txBody>
      </p:sp>
      <p:sp>
        <p:nvSpPr>
          <p:cNvPr name="TextBox 4" id="4"/>
          <p:cNvSpPr txBox="true"/>
          <p:nvPr/>
        </p:nvSpPr>
        <p:spPr>
          <a:xfrm rot="0">
            <a:off x="1028700" y="2428610"/>
            <a:ext cx="15766415" cy="2474747"/>
          </a:xfrm>
          <a:prstGeom prst="rect">
            <a:avLst/>
          </a:prstGeom>
        </p:spPr>
        <p:txBody>
          <a:bodyPr anchor="t" rtlCol="false" tIns="0" lIns="0" bIns="0" rIns="0">
            <a:spAutoFit/>
          </a:bodyPr>
          <a:lstStyle/>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1. ROUTAG</a:t>
            </a:r>
            <a:r>
              <a:rPr lang="en-US" sz="1439" spc="211">
                <a:solidFill>
                  <a:srgbClr val="000000"/>
                </a:solidFill>
                <a:latin typeface="Nunito Sans Expanded"/>
                <a:ea typeface="Nunito Sans Expanded"/>
                <a:cs typeface="Nunito Sans Expanded"/>
                <a:sym typeface="Nunito Sans Expanded"/>
              </a:rPr>
              <a:t>E VIA</a:t>
            </a:r>
            <a:r>
              <a:rPr lang="en-US" sz="1439" spc="211">
                <a:solidFill>
                  <a:srgbClr val="000000"/>
                </a:solidFill>
                <a:latin typeface="Nunito Sans Expanded"/>
                <a:ea typeface="Nunito Sans Expanded"/>
                <a:cs typeface="Nunito Sans Expanded"/>
                <a:sym typeface="Nunito Sans Expanded"/>
              </a:rPr>
              <a:t> OPENROUTER ET TRADUCTI</a:t>
            </a:r>
            <a:r>
              <a:rPr lang="en-US" sz="1439" spc="211">
                <a:solidFill>
                  <a:srgbClr val="000000"/>
                </a:solidFill>
                <a:latin typeface="Nunito Sans Expanded"/>
                <a:ea typeface="Nunito Sans Expanded"/>
                <a:cs typeface="Nunito Sans Expanded"/>
                <a:sym typeface="Nunito Sans Expanded"/>
              </a:rPr>
              <a:t>ON</a:t>
            </a:r>
            <a:r>
              <a:rPr lang="en-US" sz="1439" spc="211">
                <a:solidFill>
                  <a:srgbClr val="000000"/>
                </a:solidFill>
                <a:latin typeface="Nunito Sans Expanded"/>
                <a:ea typeface="Nunito Sans Expanded"/>
                <a:cs typeface="Nunito Sans Expanded"/>
                <a:sym typeface="Nunito Sans Expanded"/>
              </a:rPr>
              <a:t> PAR LITELLM</a:t>
            </a:r>
          </a:p>
          <a:p>
            <a:pPr algn="l">
              <a:lnSpc>
                <a:spcPts val="719"/>
              </a:lnSpc>
            </a:pPr>
          </a:p>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POUR DOTER NOT</a:t>
            </a:r>
            <a:r>
              <a:rPr lang="en-US" sz="1439" spc="211">
                <a:solidFill>
                  <a:srgbClr val="000000"/>
                </a:solidFill>
                <a:latin typeface="Nunito Sans Expanded"/>
                <a:ea typeface="Nunito Sans Expanded"/>
                <a:cs typeface="Nunito Sans Expanded"/>
                <a:sym typeface="Nunito Sans Expanded"/>
              </a:rPr>
              <a:t>RE</a:t>
            </a:r>
            <a:r>
              <a:rPr lang="en-US" sz="1439" spc="211">
                <a:solidFill>
                  <a:srgbClr val="000000"/>
                </a:solidFill>
                <a:latin typeface="Nunito Sans Expanded"/>
                <a:ea typeface="Nunito Sans Expanded"/>
                <a:cs typeface="Nunito Sans Expanded"/>
                <a:sym typeface="Nunito Sans Expanded"/>
              </a:rPr>
              <a:t> AG</a:t>
            </a:r>
            <a:r>
              <a:rPr lang="en-US" sz="1439" spc="211">
                <a:solidFill>
                  <a:srgbClr val="000000"/>
                </a:solidFill>
                <a:latin typeface="Nunito Sans Expanded"/>
                <a:ea typeface="Nunito Sans Expanded"/>
                <a:cs typeface="Nunito Sans Expanded"/>
                <a:sym typeface="Nunito Sans Expanded"/>
              </a:rPr>
              <a:t>ENT DE </a:t>
            </a:r>
            <a:r>
              <a:rPr lang="en-US" sz="1439" spc="211">
                <a:solidFill>
                  <a:srgbClr val="000000"/>
                </a:solidFill>
                <a:latin typeface="Nunito Sans Expanded"/>
                <a:ea typeface="Nunito Sans Expanded"/>
                <a:cs typeface="Nunito Sans Expanded"/>
                <a:sym typeface="Nunito Sans Expanded"/>
              </a:rPr>
              <a:t>CAPACITÉS COGNITIV</a:t>
            </a:r>
            <a:r>
              <a:rPr lang="en-US" sz="1439" spc="211">
                <a:solidFill>
                  <a:srgbClr val="000000"/>
                </a:solidFill>
                <a:latin typeface="Nunito Sans Expanded"/>
                <a:ea typeface="Nunito Sans Expanded"/>
                <a:cs typeface="Nunito Sans Expanded"/>
                <a:sym typeface="Nunito Sans Expanded"/>
              </a:rPr>
              <a:t>ES </a:t>
            </a:r>
            <a:r>
              <a:rPr lang="en-US" sz="1439" spc="211">
                <a:solidFill>
                  <a:srgbClr val="000000"/>
                </a:solidFill>
                <a:latin typeface="Nunito Sans Expanded"/>
                <a:ea typeface="Nunito Sans Expanded"/>
                <a:cs typeface="Nunito Sans Expanded"/>
                <a:sym typeface="Nunito Sans Expanded"/>
              </a:rPr>
              <a:t>ET LINGUISTIQUES AVANC</a:t>
            </a:r>
            <a:r>
              <a:rPr lang="en-US" sz="1439" spc="211">
                <a:solidFill>
                  <a:srgbClr val="000000"/>
                </a:solidFill>
                <a:latin typeface="Nunito Sans Expanded"/>
                <a:ea typeface="Nunito Sans Expanded"/>
                <a:cs typeface="Nunito Sans Expanded"/>
                <a:sym typeface="Nunito Sans Expanded"/>
              </a:rPr>
              <a:t>ÉES</a:t>
            </a:r>
            <a:r>
              <a:rPr lang="en-US" sz="1439" spc="211">
                <a:solidFill>
                  <a:srgbClr val="000000"/>
                </a:solidFill>
                <a:latin typeface="Nunito Sans Expanded"/>
                <a:ea typeface="Nunito Sans Expanded"/>
                <a:cs typeface="Nunito Sans Expanded"/>
                <a:sym typeface="Nunito Sans Expanded"/>
              </a:rPr>
              <a:t>, LE SYSTÈM</a:t>
            </a:r>
            <a:r>
              <a:rPr lang="en-US" sz="1439" spc="211">
                <a:solidFill>
                  <a:srgbClr val="000000"/>
                </a:solidFill>
                <a:latin typeface="Nunito Sans Expanded"/>
                <a:ea typeface="Nunito Sans Expanded"/>
                <a:cs typeface="Nunito Sans Expanded"/>
                <a:sym typeface="Nunito Sans Expanded"/>
              </a:rPr>
              <a:t>E CONSOMM</a:t>
            </a:r>
            <a:r>
              <a:rPr lang="en-US" sz="1439" spc="211">
                <a:solidFill>
                  <a:srgbClr val="000000"/>
                </a:solidFill>
                <a:latin typeface="Nunito Sans Expanded"/>
                <a:ea typeface="Nunito Sans Expanded"/>
                <a:cs typeface="Nunito Sans Expanded"/>
                <a:sym typeface="Nunito Sans Expanded"/>
              </a:rPr>
              <a:t>E LE M</a:t>
            </a:r>
            <a:r>
              <a:rPr lang="en-US" sz="1439" spc="211">
                <a:solidFill>
                  <a:srgbClr val="000000"/>
                </a:solidFill>
                <a:latin typeface="Nunito Sans Expanded"/>
                <a:ea typeface="Nunito Sans Expanded"/>
                <a:cs typeface="Nunito Sans Expanded"/>
                <a:sym typeface="Nunito Sans Expanded"/>
              </a:rPr>
              <a:t>ODÈ</a:t>
            </a:r>
            <a:r>
              <a:rPr lang="en-US" sz="1439" spc="211">
                <a:solidFill>
                  <a:srgbClr val="000000"/>
                </a:solidFill>
                <a:latin typeface="Nunito Sans Expanded"/>
                <a:ea typeface="Nunito Sans Expanded"/>
                <a:cs typeface="Nunito Sans Expanded"/>
                <a:sym typeface="Nunito Sans Expanded"/>
              </a:rPr>
              <a:t>LE</a:t>
            </a:r>
            <a:r>
              <a:rPr lang="en-US" sz="1439" spc="211">
                <a:solidFill>
                  <a:srgbClr val="000000"/>
                </a:solidFill>
                <a:latin typeface="Nunito Sans Expanded"/>
                <a:ea typeface="Nunito Sans Expanded"/>
                <a:cs typeface="Nunito Sans Expanded"/>
                <a:sym typeface="Nunito Sans Expanded"/>
              </a:rPr>
              <a:t> DE </a:t>
            </a:r>
            <a:r>
              <a:rPr lang="en-US" sz="1439" spc="211">
                <a:solidFill>
                  <a:srgbClr val="000000"/>
                </a:solidFill>
                <a:latin typeface="Nunito Sans Expanded"/>
                <a:ea typeface="Nunito Sans Expanded"/>
                <a:cs typeface="Nunito Sans Expanded"/>
                <a:sym typeface="Nunito Sans Expanded"/>
              </a:rPr>
              <a:t>LANGAGE META-LLAMA-3-8B-INSTR</a:t>
            </a:r>
            <a:r>
              <a:rPr lang="en-US" sz="1439" spc="211">
                <a:solidFill>
                  <a:srgbClr val="000000"/>
                </a:solidFill>
                <a:latin typeface="Nunito Sans Expanded"/>
                <a:ea typeface="Nunito Sans Expanded"/>
                <a:cs typeface="Nunito Sans Expanded"/>
                <a:sym typeface="Nunito Sans Expanded"/>
              </a:rPr>
              <a:t>UCT MIS</a:t>
            </a:r>
            <a:r>
              <a:rPr lang="en-US" sz="1439" spc="211">
                <a:solidFill>
                  <a:srgbClr val="000000"/>
                </a:solidFill>
                <a:latin typeface="Nunito Sans Expanded"/>
                <a:ea typeface="Nunito Sans Expanded"/>
                <a:cs typeface="Nunito Sans Expanded"/>
                <a:sym typeface="Nunito Sans Expanded"/>
              </a:rPr>
              <a:t> À DISPOS</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TI</a:t>
            </a:r>
            <a:r>
              <a:rPr lang="en-US" sz="1439" spc="211">
                <a:solidFill>
                  <a:srgbClr val="000000"/>
                </a:solidFill>
                <a:latin typeface="Nunito Sans Expanded"/>
                <a:ea typeface="Nunito Sans Expanded"/>
                <a:cs typeface="Nunito Sans Expanded"/>
                <a:sym typeface="Nunito Sans Expanded"/>
              </a:rPr>
              <a:t>ON VIA L'AGRÉGA</a:t>
            </a:r>
            <a:r>
              <a:rPr lang="en-US" sz="1439" spc="211">
                <a:solidFill>
                  <a:srgbClr val="000000"/>
                </a:solidFill>
                <a:latin typeface="Nunito Sans Expanded"/>
                <a:ea typeface="Nunito Sans Expanded"/>
                <a:cs typeface="Nunito Sans Expanded"/>
                <a:sym typeface="Nunito Sans Expanded"/>
              </a:rPr>
              <a:t>TE</a:t>
            </a:r>
            <a:r>
              <a:rPr lang="en-US" sz="1439" spc="211">
                <a:solidFill>
                  <a:srgbClr val="000000"/>
                </a:solidFill>
                <a:latin typeface="Nunito Sans Expanded"/>
                <a:ea typeface="Nunito Sans Expanded"/>
                <a:cs typeface="Nunito Sans Expanded"/>
                <a:sym typeface="Nunito Sans Expanded"/>
              </a:rPr>
              <a:t>UR</a:t>
            </a:r>
            <a:r>
              <a:rPr lang="en-US" sz="1439" spc="211">
                <a:solidFill>
                  <a:srgbClr val="000000"/>
                </a:solidFill>
                <a:latin typeface="Nunito Sans Expanded"/>
                <a:ea typeface="Nunito Sans Expanded"/>
                <a:cs typeface="Nunito Sans Expanded"/>
                <a:sym typeface="Nunito Sans Expanded"/>
              </a:rPr>
              <a:t> DE C</a:t>
            </a:r>
            <a:r>
              <a:rPr lang="en-US" sz="1439" spc="211">
                <a:solidFill>
                  <a:srgbClr val="000000"/>
                </a:solidFill>
                <a:latin typeface="Nunito Sans Expanded"/>
                <a:ea typeface="Nunito Sans Expanded"/>
                <a:cs typeface="Nunito Sans Expanded"/>
                <a:sym typeface="Nunito Sans Expanded"/>
              </a:rPr>
              <a:t>LOUD OPE</a:t>
            </a:r>
            <a:r>
              <a:rPr lang="en-US" sz="1439" spc="211">
                <a:solidFill>
                  <a:srgbClr val="000000"/>
                </a:solidFill>
                <a:latin typeface="Nunito Sans Expanded"/>
                <a:ea typeface="Nunito Sans Expanded"/>
                <a:cs typeface="Nunito Sans Expanded"/>
                <a:sym typeface="Nunito Sans Expanded"/>
              </a:rPr>
              <a:t>NROU</a:t>
            </a:r>
            <a:r>
              <a:rPr lang="en-US" sz="1439" spc="211">
                <a:solidFill>
                  <a:srgbClr val="000000"/>
                </a:solidFill>
                <a:latin typeface="Nunito Sans Expanded"/>
                <a:ea typeface="Nunito Sans Expanded"/>
                <a:cs typeface="Nunito Sans Expanded"/>
                <a:sym typeface="Nunito Sans Expanded"/>
              </a:rPr>
              <a:t>TER.</a:t>
            </a:r>
          </a:p>
          <a:p>
            <a:pPr algn="l">
              <a:lnSpc>
                <a:spcPts val="2116"/>
              </a:lnSpc>
            </a:pPr>
          </a:p>
          <a:p>
            <a:pPr algn="l">
              <a:lnSpc>
                <a:spcPts val="2116"/>
              </a:lnSpc>
              <a:spcBef>
                <a:spcPct val="0"/>
              </a:spcBef>
            </a:pPr>
            <a:r>
              <a:rPr lang="en-US" sz="1439" spc="211">
                <a:solidFill>
                  <a:srgbClr val="000000"/>
                </a:solidFill>
                <a:latin typeface="Nunito Sans Expanded"/>
                <a:ea typeface="Nunito Sans Expanded"/>
                <a:cs typeface="Nunito Sans Expanded"/>
                <a:sym typeface="Nunito Sans Expanded"/>
              </a:rPr>
              <a:t>L'INTÉGRATION</a:t>
            </a:r>
            <a:r>
              <a:rPr lang="en-US" sz="1439" spc="211">
                <a:solidFill>
                  <a:srgbClr val="000000"/>
                </a:solidFill>
                <a:latin typeface="Nunito Sans Expanded"/>
                <a:ea typeface="Nunito Sans Expanded"/>
                <a:cs typeface="Nunito Sans Expanded"/>
                <a:sym typeface="Nunito Sans Expanded"/>
              </a:rPr>
              <a:t> TECHN</a:t>
            </a:r>
            <a:r>
              <a:rPr lang="en-US" sz="1439" spc="211">
                <a:solidFill>
                  <a:srgbClr val="000000"/>
                </a:solidFill>
                <a:latin typeface="Nunito Sans Expanded"/>
                <a:ea typeface="Nunito Sans Expanded"/>
                <a:cs typeface="Nunito Sans Expanded"/>
                <a:sym typeface="Nunito Sans Expanded"/>
              </a:rPr>
              <a:t>IQUE REQUIERT L'UT</a:t>
            </a:r>
            <a:r>
              <a:rPr lang="en-US" sz="1439" spc="211">
                <a:solidFill>
                  <a:srgbClr val="000000"/>
                </a:solidFill>
                <a:latin typeface="Nunito Sans Expanded"/>
                <a:ea typeface="Nunito Sans Expanded"/>
                <a:cs typeface="Nunito Sans Expanded"/>
                <a:sym typeface="Nunito Sans Expanded"/>
              </a:rPr>
              <a:t>IL</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SA</a:t>
            </a:r>
            <a:r>
              <a:rPr lang="en-US" sz="1439" spc="211">
                <a:solidFill>
                  <a:srgbClr val="000000"/>
                </a:solidFill>
                <a:latin typeface="Nunito Sans Expanded"/>
                <a:ea typeface="Nunito Sans Expanded"/>
                <a:cs typeface="Nunito Sans Expanded"/>
                <a:sym typeface="Nunito Sans Expanded"/>
              </a:rPr>
              <a:t>TION CONJOINT</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D</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LA</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B</a:t>
            </a:r>
            <a:r>
              <a:rPr lang="en-US" sz="1439" spc="211">
                <a:solidFill>
                  <a:srgbClr val="000000"/>
                </a:solidFill>
                <a:latin typeface="Nunito Sans Expanded"/>
                <a:ea typeface="Nunito Sans Expanded"/>
                <a:cs typeface="Nunito Sans Expanded"/>
                <a:sym typeface="Nunito Sans Expanded"/>
              </a:rPr>
              <a:t>IB</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IO</a:t>
            </a:r>
            <a:r>
              <a:rPr lang="en-US" sz="1439" spc="211">
                <a:solidFill>
                  <a:srgbClr val="000000"/>
                </a:solidFill>
                <a:latin typeface="Nunito Sans Expanded"/>
                <a:ea typeface="Nunito Sans Expanded"/>
                <a:cs typeface="Nunito Sans Expanded"/>
                <a:sym typeface="Nunito Sans Expanded"/>
              </a:rPr>
              <a:t>THÈQU</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LITELLM (AGISSAN</a:t>
            </a:r>
            <a:r>
              <a:rPr lang="en-US" sz="1439" spc="211">
                <a:solidFill>
                  <a:srgbClr val="000000"/>
                </a:solidFill>
                <a:latin typeface="Nunito Sans Expanded"/>
                <a:ea typeface="Nunito Sans Expanded"/>
                <a:cs typeface="Nunito Sans Expanded"/>
                <a:sym typeface="Nunito Sans Expanded"/>
              </a:rPr>
              <a:t>T </a:t>
            </a:r>
            <a:r>
              <a:rPr lang="en-US" sz="1439" spc="211">
                <a:solidFill>
                  <a:srgbClr val="000000"/>
                </a:solidFill>
                <a:latin typeface="Nunito Sans Expanded"/>
                <a:ea typeface="Nunito Sans Expanded"/>
                <a:cs typeface="Nunito Sans Expanded"/>
                <a:sym typeface="Nunito Sans Expanded"/>
              </a:rPr>
              <a:t>C</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MME U</a:t>
            </a:r>
            <a:r>
              <a:rPr lang="en-US" sz="1439" spc="211">
                <a:solidFill>
                  <a:srgbClr val="000000"/>
                </a:solidFill>
                <a:latin typeface="Nunito Sans Expanded"/>
                <a:ea typeface="Nunito Sans Expanded"/>
                <a:cs typeface="Nunito Sans Expanded"/>
                <a:sym typeface="Nunito Sans Expanded"/>
              </a:rPr>
              <a:t>N</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MIDDL</a:t>
            </a:r>
            <a:r>
              <a:rPr lang="en-US" sz="1439" spc="211">
                <a:solidFill>
                  <a:srgbClr val="000000"/>
                </a:solidFill>
                <a:latin typeface="Nunito Sans Expanded"/>
                <a:ea typeface="Nunito Sans Expanded"/>
                <a:cs typeface="Nunito Sans Expanded"/>
                <a:sym typeface="Nunito Sans Expanded"/>
              </a:rPr>
              <a:t>EW</a:t>
            </a:r>
            <a:r>
              <a:rPr lang="en-US" sz="1439" spc="211">
                <a:solidFill>
                  <a:srgbClr val="000000"/>
                </a:solidFill>
                <a:latin typeface="Nunito Sans Expanded"/>
                <a:ea typeface="Nunito Sans Expanded"/>
                <a:cs typeface="Nunito Sans Expanded"/>
                <a:sym typeface="Nunito Sans Expanded"/>
              </a:rPr>
              <a:t>ARE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D</a:t>
            </a:r>
            <a:r>
              <a:rPr lang="en-US" sz="1439" spc="211">
                <a:solidFill>
                  <a:srgbClr val="000000"/>
                </a:solidFill>
                <a:latin typeface="Nunito Sans Expanded"/>
                <a:ea typeface="Nunito Sans Expanded"/>
                <a:cs typeface="Nunito Sans Expanded"/>
                <a:sym typeface="Nunito Sans Expanded"/>
              </a:rPr>
              <a:t>E S</a:t>
            </a:r>
            <a:r>
              <a:rPr lang="en-US" sz="1439" spc="211">
                <a:solidFill>
                  <a:srgbClr val="000000"/>
                </a:solidFill>
                <a:latin typeface="Nunito Sans Expanded"/>
                <a:ea typeface="Nunito Sans Expanded"/>
                <a:cs typeface="Nunito Sans Expanded"/>
                <a:sym typeface="Nunito Sans Expanded"/>
              </a:rPr>
              <a:t>ECO</a:t>
            </a:r>
            <a:r>
              <a:rPr lang="en-US" sz="1439" spc="211">
                <a:solidFill>
                  <a:srgbClr val="000000"/>
                </a:solidFill>
                <a:latin typeface="Nunito Sans Expanded"/>
                <a:ea typeface="Nunito Sans Expanded"/>
                <a:cs typeface="Nunito Sans Expanded"/>
                <a:sym typeface="Nunito Sans Expanded"/>
              </a:rPr>
              <a:t>U</a:t>
            </a:r>
            <a:r>
              <a:rPr lang="en-US" sz="1439" spc="211">
                <a:solidFill>
                  <a:srgbClr val="000000"/>
                </a:solidFill>
                <a:latin typeface="Nunito Sans Expanded"/>
                <a:ea typeface="Nunito Sans Expanded"/>
                <a:cs typeface="Nunito Sans Expanded"/>
                <a:sym typeface="Nunito Sans Expanded"/>
              </a:rPr>
              <a:t>RS </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DE TRADU</a:t>
            </a:r>
            <a:r>
              <a:rPr lang="en-US" sz="1439" spc="211">
                <a:solidFill>
                  <a:srgbClr val="000000"/>
                </a:solidFill>
                <a:latin typeface="Nunito Sans Expanded"/>
                <a:ea typeface="Nunito Sans Expanded"/>
                <a:cs typeface="Nunito Sans Expanded"/>
                <a:sym typeface="Nunito Sans Expanded"/>
              </a:rPr>
              <a:t>CTIO</a:t>
            </a:r>
            <a:r>
              <a:rPr lang="en-US" sz="1439" spc="211">
                <a:solidFill>
                  <a:srgbClr val="000000"/>
                </a:solidFill>
                <a:latin typeface="Nunito Sans Expanded"/>
                <a:ea typeface="Nunito Sans Expanded"/>
                <a:cs typeface="Nunito Sans Expanded"/>
                <a:sym typeface="Nunito Sans Expanded"/>
              </a:rPr>
              <a:t>N DE </a:t>
            </a:r>
            <a:r>
              <a:rPr lang="en-US" sz="1439" spc="211">
                <a:solidFill>
                  <a:srgbClr val="000000"/>
                </a:solidFill>
                <a:latin typeface="Nunito Sans Expanded"/>
                <a:ea typeface="Nunito Sans Expanded"/>
                <a:cs typeface="Nunito Sans Expanded"/>
                <a:sym typeface="Nunito Sans Expanded"/>
              </a:rPr>
              <a:t>SCHÉMA</a:t>
            </a:r>
            <a:r>
              <a:rPr lang="en-US" sz="1439" spc="211">
                <a:solidFill>
                  <a:srgbClr val="000000"/>
                </a:solidFill>
                <a:latin typeface="Nunito Sans Expanded"/>
                <a:ea typeface="Nunito Sans Expanded"/>
                <a:cs typeface="Nunito Sans Expanded"/>
                <a:sym typeface="Nunito Sans Expanded"/>
              </a:rPr>
              <a:t>S </a:t>
            </a:r>
            <a:r>
              <a:rPr lang="en-US" sz="1439" spc="211">
                <a:solidFill>
                  <a:srgbClr val="000000"/>
                </a:solidFill>
                <a:latin typeface="Nunito Sans Expanded"/>
                <a:ea typeface="Nunito Sans Expanded"/>
                <a:cs typeface="Nunito Sans Expanded"/>
                <a:sym typeface="Nunito Sans Expanded"/>
              </a:rPr>
              <a:t>D'API).</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L</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M</a:t>
            </a:r>
            <a:r>
              <a:rPr lang="en-US" sz="1439" spc="211">
                <a:solidFill>
                  <a:srgbClr val="000000"/>
                </a:solidFill>
                <a:latin typeface="Nunito Sans Expanded"/>
                <a:ea typeface="Nunito Sans Expanded"/>
                <a:cs typeface="Nunito Sans Expanded"/>
                <a:sym typeface="Nunito Sans Expanded"/>
              </a:rPr>
              <a:t>O</a:t>
            </a:r>
            <a:r>
              <a:rPr lang="en-US" sz="1439" spc="211">
                <a:solidFill>
                  <a:srgbClr val="000000"/>
                </a:solidFill>
                <a:latin typeface="Nunito Sans Expanded"/>
                <a:ea typeface="Nunito Sans Expanded"/>
                <a:cs typeface="Nunito Sans Expanded"/>
                <a:sym typeface="Nunito Sans Expanded"/>
              </a:rPr>
              <a:t>D</a:t>
            </a:r>
            <a:r>
              <a:rPr lang="en-US" sz="1439" spc="211">
                <a:solidFill>
                  <a:srgbClr val="000000"/>
                </a:solidFill>
                <a:latin typeface="Nunito Sans Expanded"/>
                <a:ea typeface="Nunito Sans Expanded"/>
                <a:cs typeface="Nunito Sans Expanded"/>
                <a:sym typeface="Nunito Sans Expanded"/>
              </a:rPr>
              <a:t>ÈL</a:t>
            </a:r>
            <a:r>
              <a:rPr lang="en-US" sz="1439" spc="211">
                <a:solidFill>
                  <a:srgbClr val="000000"/>
                </a:solidFill>
                <a:latin typeface="Nunito Sans Expanded"/>
                <a:ea typeface="Nunito Sans Expanded"/>
                <a:cs typeface="Nunito Sans Expanded"/>
                <a:sym typeface="Nunito Sans Expanded"/>
              </a:rPr>
              <a:t>E</a:t>
            </a:r>
            <a:r>
              <a:rPr lang="en-US" sz="1439" spc="211">
                <a:solidFill>
                  <a:srgbClr val="000000"/>
                </a:solidFill>
                <a:latin typeface="Nunito Sans Expanded"/>
                <a:ea typeface="Nunito Sans Expanded"/>
                <a:cs typeface="Nunito Sans Expanded"/>
                <a:sym typeface="Nunito Sans Expanded"/>
              </a:rPr>
              <a:t> DOIT</a:t>
            </a:r>
            <a:r>
              <a:rPr lang="en-US" sz="1439" spc="211">
                <a:solidFill>
                  <a:srgbClr val="000000"/>
                </a:solidFill>
                <a:latin typeface="Nunito Sans Expanded"/>
                <a:ea typeface="Nunito Sans Expanded"/>
                <a:cs typeface="Nunito Sans Expanded"/>
                <a:sym typeface="Nunito Sans Expanded"/>
              </a:rPr>
              <a:t> OBLIGATO</a:t>
            </a:r>
            <a:r>
              <a:rPr lang="en-US" sz="1439" spc="211">
                <a:solidFill>
                  <a:srgbClr val="000000"/>
                </a:solidFill>
                <a:latin typeface="Nunito Sans Expanded"/>
                <a:ea typeface="Nunito Sans Expanded"/>
                <a:cs typeface="Nunito Sans Expanded"/>
                <a:sym typeface="Nunito Sans Expanded"/>
              </a:rPr>
              <a:t>IREME</a:t>
            </a:r>
            <a:r>
              <a:rPr lang="en-US" sz="1439" spc="211">
                <a:solidFill>
                  <a:srgbClr val="000000"/>
                </a:solidFill>
                <a:latin typeface="Nunito Sans Expanded"/>
                <a:ea typeface="Nunito Sans Expanded"/>
                <a:cs typeface="Nunito Sans Expanded"/>
                <a:sym typeface="Nunito Sans Expanded"/>
              </a:rPr>
              <a:t>NT</a:t>
            </a:r>
            <a:r>
              <a:rPr lang="en-US" sz="1439" spc="211">
                <a:solidFill>
                  <a:srgbClr val="000000"/>
                </a:solidFill>
                <a:latin typeface="Nunito Sans Expanded"/>
                <a:ea typeface="Nunito Sans Expanded"/>
                <a:cs typeface="Nunito Sans Expanded"/>
                <a:sym typeface="Nunito Sans Expanded"/>
              </a:rPr>
              <a:t> ÊTRE PRÉFIXÉ</a:t>
            </a:r>
            <a:r>
              <a:rPr lang="en-US" sz="1439" spc="211">
                <a:solidFill>
                  <a:srgbClr val="000000"/>
                </a:solidFill>
                <a:latin typeface="Nunito Sans Expanded"/>
                <a:ea typeface="Nunito Sans Expanded"/>
                <a:cs typeface="Nunito Sans Expanded"/>
                <a:sym typeface="Nunito Sans Expanded"/>
              </a:rPr>
              <a:t> </a:t>
            </a:r>
            <a:r>
              <a:rPr lang="en-US" sz="1439" spc="211">
                <a:solidFill>
                  <a:srgbClr val="000000"/>
                </a:solidFill>
                <a:latin typeface="Nunito Sans Expanded"/>
                <a:ea typeface="Nunito Sans Expanded"/>
                <a:cs typeface="Nunito Sans Expanded"/>
                <a:sym typeface="Nunito Sans Expanded"/>
              </a:rPr>
              <a:t>PAR SO</a:t>
            </a:r>
            <a:r>
              <a:rPr lang="en-US" sz="1439" spc="211">
                <a:solidFill>
                  <a:srgbClr val="000000"/>
                </a:solidFill>
                <a:latin typeface="Nunito Sans Expanded"/>
                <a:ea typeface="Nunito Sans Expanded"/>
                <a:cs typeface="Nunito Sans Expanded"/>
                <a:sym typeface="Nunito Sans Expanded"/>
              </a:rPr>
              <a:t>N F</a:t>
            </a:r>
            <a:r>
              <a:rPr lang="en-US" sz="1439" spc="211">
                <a:solidFill>
                  <a:srgbClr val="000000"/>
                </a:solidFill>
                <a:latin typeface="Nunito Sans Expanded"/>
                <a:ea typeface="Nunito Sans Expanded"/>
                <a:cs typeface="Nunito Sans Expanded"/>
                <a:sym typeface="Nunito Sans Expanded"/>
              </a:rPr>
              <a:t>OURNISSEUR NATIF (OPENROUT</a:t>
            </a:r>
            <a:r>
              <a:rPr lang="en-US" sz="1439" spc="211">
                <a:solidFill>
                  <a:srgbClr val="000000"/>
                </a:solidFill>
                <a:latin typeface="Nunito Sans Expanded"/>
                <a:ea typeface="Nunito Sans Expanded"/>
                <a:cs typeface="Nunito Sans Expanded"/>
                <a:sym typeface="Nunito Sans Expanded"/>
              </a:rPr>
              <a:t>ER/META-LLAMA/</a:t>
            </a:r>
            <a:r>
              <a:rPr lang="en-US" sz="1439" spc="211">
                <a:solidFill>
                  <a:srgbClr val="000000"/>
                </a:solidFill>
                <a:latin typeface="Nunito Sans Expanded"/>
                <a:ea typeface="Nunito Sans Expanded"/>
                <a:cs typeface="Nunito Sans Expanded"/>
                <a:sym typeface="Nunito Sans Expanded"/>
              </a:rPr>
              <a:t>LLAMA-3-8B-INS</a:t>
            </a:r>
            <a:r>
              <a:rPr lang="en-US" sz="1439" spc="211">
                <a:solidFill>
                  <a:srgbClr val="000000"/>
                </a:solidFill>
                <a:latin typeface="Nunito Sans Expanded"/>
                <a:ea typeface="Nunito Sans Expanded"/>
                <a:cs typeface="Nunito Sans Expanded"/>
                <a:sym typeface="Nunito Sans Expanded"/>
              </a:rPr>
              <a:t>T</a:t>
            </a:r>
            <a:r>
              <a:rPr lang="en-US" sz="1439" spc="211">
                <a:solidFill>
                  <a:srgbClr val="000000"/>
                </a:solidFill>
                <a:latin typeface="Nunito Sans Expanded"/>
                <a:ea typeface="Nunito Sans Expanded"/>
                <a:cs typeface="Nunito Sans Expanded"/>
                <a:sym typeface="Nunito Sans Expanded"/>
              </a:rPr>
              <a:t>RUCT:FR</a:t>
            </a:r>
            <a:r>
              <a:rPr lang="en-US" sz="1439" spc="211">
                <a:solidFill>
                  <a:srgbClr val="000000"/>
                </a:solidFill>
                <a:latin typeface="Nunito Sans Expanded"/>
                <a:ea typeface="Nunito Sans Expanded"/>
                <a:cs typeface="Nunito Sans Expanded"/>
                <a:sym typeface="Nunito Sans Expanded"/>
              </a:rPr>
              <a:t>EE).</a:t>
            </a:r>
          </a:p>
          <a:p>
            <a:pPr algn="l">
              <a:lnSpc>
                <a:spcPts val="2116"/>
              </a:lnSpc>
              <a:spcBef>
                <a:spcPct val="0"/>
              </a:spcBef>
            </a:pPr>
          </a:p>
        </p:txBody>
      </p:sp>
      <p:grpSp>
        <p:nvGrpSpPr>
          <p:cNvPr name="Group 5" id="5"/>
          <p:cNvGrpSpPr/>
          <p:nvPr/>
        </p:nvGrpSpPr>
        <p:grpSpPr>
          <a:xfrm rot="0">
            <a:off x="16485565" y="9549531"/>
            <a:ext cx="1066053" cy="510035"/>
            <a:chOff x="0" y="0"/>
            <a:chExt cx="3070231" cy="1468901"/>
          </a:xfrm>
        </p:grpSpPr>
        <p:sp>
          <p:nvSpPr>
            <p:cNvPr name="Freeform 6" id="6"/>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7" id="7"/>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21/26</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519790" y="4023465"/>
            <a:ext cx="11248419" cy="850554"/>
          </a:xfrm>
          <a:prstGeom prst="rect">
            <a:avLst/>
          </a:prstGeom>
        </p:spPr>
        <p:txBody>
          <a:bodyPr anchor="t" rtlCol="false" tIns="0" lIns="0" bIns="0" rIns="0">
            <a:spAutoFit/>
          </a:bodyPr>
          <a:lstStyle/>
          <a:p>
            <a:pPr algn="ctr" marL="0" indent="0" lvl="0">
              <a:lnSpc>
                <a:spcPts val="6497"/>
              </a:lnSpc>
              <a:spcBef>
                <a:spcPct val="0"/>
              </a:spcBef>
            </a:pPr>
            <a:r>
              <a:rPr lang="en-US" sz="6433">
                <a:solidFill>
                  <a:srgbClr val="211F1C"/>
                </a:solidFill>
                <a:latin typeface="Anton"/>
                <a:ea typeface="Anton"/>
                <a:cs typeface="Anton"/>
                <a:sym typeface="Anton"/>
              </a:rPr>
              <a:t>DÉMONSTRATION &amp; SCÉNARIO</a:t>
            </a:r>
            <a:r>
              <a:rPr lang="en-US" sz="6433">
                <a:solidFill>
                  <a:srgbClr val="211F1C"/>
                </a:solidFill>
                <a:latin typeface="Anton"/>
                <a:ea typeface="Anton"/>
                <a:cs typeface="Anton"/>
                <a:sym typeface="Anton"/>
              </a:rPr>
              <a:t> </a:t>
            </a:r>
          </a:p>
        </p:txBody>
      </p:sp>
      <p:sp>
        <p:nvSpPr>
          <p:cNvPr name="Freeform 6" id="6"/>
          <p:cNvSpPr/>
          <p:nvPr/>
        </p:nvSpPr>
        <p:spPr>
          <a:xfrm flipH="false" flipV="false" rot="0">
            <a:off x="8282303" y="2236423"/>
            <a:ext cx="1723393" cy="1472718"/>
          </a:xfrm>
          <a:custGeom>
            <a:avLst/>
            <a:gdLst/>
            <a:ahLst/>
            <a:cxnLst/>
            <a:rect r="r" b="b" t="t" l="l"/>
            <a:pathLst>
              <a:path h="1472718" w="1723393">
                <a:moveTo>
                  <a:pt x="0" y="0"/>
                </a:moveTo>
                <a:lnTo>
                  <a:pt x="1723394" y="0"/>
                </a:lnTo>
                <a:lnTo>
                  <a:pt x="1723394" y="1472717"/>
                </a:lnTo>
                <a:lnTo>
                  <a:pt x="0" y="1472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58180"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575306"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6262089" y="9517632"/>
            <a:ext cx="1066053" cy="510035"/>
            <a:chOff x="0" y="0"/>
            <a:chExt cx="3070231" cy="1468901"/>
          </a:xfrm>
        </p:grpSpPr>
        <p:sp>
          <p:nvSpPr>
            <p:cNvPr name="Freeform 10" id="10"/>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22/26</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6451095" y="2323462"/>
            <a:ext cx="11334114" cy="6224592"/>
          </a:xfrm>
          <a:custGeom>
            <a:avLst/>
            <a:gdLst/>
            <a:ahLst/>
            <a:cxnLst/>
            <a:rect r="r" b="b" t="t" l="l"/>
            <a:pathLst>
              <a:path h="6224592" w="11334114">
                <a:moveTo>
                  <a:pt x="0" y="0"/>
                </a:moveTo>
                <a:lnTo>
                  <a:pt x="11334114" y="0"/>
                </a:lnTo>
                <a:lnTo>
                  <a:pt x="11334114" y="6224592"/>
                </a:lnTo>
                <a:lnTo>
                  <a:pt x="0" y="6224592"/>
                </a:lnTo>
                <a:lnTo>
                  <a:pt x="0" y="0"/>
                </a:lnTo>
                <a:close/>
              </a:path>
            </a:pathLst>
          </a:custGeom>
          <a:blipFill>
            <a:blip r:embed="rId2"/>
            <a:stretch>
              <a:fillRect l="-3213" t="-2123" r="-2142" b="-2600"/>
            </a:stretch>
          </a:blipFill>
        </p:spPr>
      </p:sp>
      <p:sp>
        <p:nvSpPr>
          <p:cNvPr name="TextBox 3" id="3"/>
          <p:cNvSpPr txBox="true"/>
          <p:nvPr/>
        </p:nvSpPr>
        <p:spPr>
          <a:xfrm rot="0">
            <a:off x="891157" y="693322"/>
            <a:ext cx="8928021" cy="766005"/>
          </a:xfrm>
          <a:prstGeom prst="rect">
            <a:avLst/>
          </a:prstGeom>
        </p:spPr>
        <p:txBody>
          <a:bodyPr anchor="t" rtlCol="false" tIns="0" lIns="0" bIns="0" rIns="0">
            <a:spAutoFit/>
          </a:bodyPr>
          <a:lstStyle/>
          <a:p>
            <a:pPr algn="ctr">
              <a:lnSpc>
                <a:spcPts val="5749"/>
              </a:lnSpc>
              <a:spcBef>
                <a:spcPct val="0"/>
              </a:spcBef>
            </a:pPr>
            <a:r>
              <a:rPr lang="en-US" sz="5692">
                <a:solidFill>
                  <a:srgbClr val="000000"/>
                </a:solidFill>
                <a:latin typeface="Anton"/>
                <a:ea typeface="Anton"/>
                <a:cs typeface="Anton"/>
                <a:sym typeface="Anton"/>
              </a:rPr>
              <a:t>DÉMONSTRATION OPÉRATIONNELLE</a:t>
            </a:r>
          </a:p>
        </p:txBody>
      </p:sp>
      <p:grpSp>
        <p:nvGrpSpPr>
          <p:cNvPr name="Group 4" id="4"/>
          <p:cNvGrpSpPr/>
          <p:nvPr/>
        </p:nvGrpSpPr>
        <p:grpSpPr>
          <a:xfrm rot="0">
            <a:off x="0" y="4097462"/>
            <a:ext cx="5987581" cy="2557420"/>
            <a:chOff x="0" y="0"/>
            <a:chExt cx="1909987" cy="815795"/>
          </a:xfrm>
        </p:grpSpPr>
        <p:sp>
          <p:nvSpPr>
            <p:cNvPr name="Freeform 5" id="5"/>
            <p:cNvSpPr/>
            <p:nvPr/>
          </p:nvSpPr>
          <p:spPr>
            <a:xfrm flipH="false" flipV="false" rot="0">
              <a:off x="0" y="0"/>
              <a:ext cx="1909987" cy="815795"/>
            </a:xfrm>
            <a:custGeom>
              <a:avLst/>
              <a:gdLst/>
              <a:ahLst/>
              <a:cxnLst/>
              <a:rect r="r" b="b" t="t" l="l"/>
              <a:pathLst>
                <a:path h="815795" w="1909987">
                  <a:moveTo>
                    <a:pt x="46548" y="0"/>
                  </a:moveTo>
                  <a:lnTo>
                    <a:pt x="1863439" y="0"/>
                  </a:lnTo>
                  <a:cubicBezTo>
                    <a:pt x="1875785" y="0"/>
                    <a:pt x="1887624" y="4904"/>
                    <a:pt x="1896354" y="13634"/>
                  </a:cubicBezTo>
                  <a:cubicBezTo>
                    <a:pt x="1905083" y="22363"/>
                    <a:pt x="1909987" y="34203"/>
                    <a:pt x="1909987" y="46548"/>
                  </a:cubicBezTo>
                  <a:lnTo>
                    <a:pt x="1909987" y="769247"/>
                  </a:lnTo>
                  <a:cubicBezTo>
                    <a:pt x="1909987" y="794955"/>
                    <a:pt x="1889147" y="815795"/>
                    <a:pt x="1863439" y="815795"/>
                  </a:cubicBezTo>
                  <a:lnTo>
                    <a:pt x="46548" y="815795"/>
                  </a:lnTo>
                  <a:cubicBezTo>
                    <a:pt x="20840" y="815795"/>
                    <a:pt x="0" y="794955"/>
                    <a:pt x="0" y="769247"/>
                  </a:cubicBezTo>
                  <a:lnTo>
                    <a:pt x="0" y="46548"/>
                  </a:lnTo>
                  <a:cubicBezTo>
                    <a:pt x="0" y="20840"/>
                    <a:pt x="20840" y="0"/>
                    <a:pt x="46548" y="0"/>
                  </a:cubicBezTo>
                  <a:close/>
                </a:path>
              </a:pathLst>
            </a:custGeom>
            <a:solidFill>
              <a:srgbClr val="F1F1F1"/>
            </a:solidFill>
            <a:ln w="19050" cap="rnd">
              <a:solidFill>
                <a:srgbClr val="000000"/>
              </a:solidFill>
              <a:prstDash val="solid"/>
              <a:round/>
            </a:ln>
          </p:spPr>
        </p:sp>
        <p:sp>
          <p:nvSpPr>
            <p:cNvPr name="TextBox 6" id="6"/>
            <p:cNvSpPr txBox="true"/>
            <p:nvPr/>
          </p:nvSpPr>
          <p:spPr>
            <a:xfrm>
              <a:off x="0" y="-38100"/>
              <a:ext cx="1909987" cy="853895"/>
            </a:xfrm>
            <a:prstGeom prst="rect">
              <a:avLst/>
            </a:prstGeom>
          </p:spPr>
          <p:txBody>
            <a:bodyPr anchor="ctr" rtlCol="false" tIns="50800" lIns="50800" bIns="50800" rIns="50800"/>
            <a:lstStyle/>
            <a:p>
              <a:pPr algn="ctr">
                <a:lnSpc>
                  <a:spcPts val="2116"/>
                </a:lnSpc>
              </a:pPr>
            </a:p>
          </p:txBody>
        </p:sp>
      </p:grpSp>
      <p:sp>
        <p:nvSpPr>
          <p:cNvPr name="TextBox 7" id="7"/>
          <p:cNvSpPr txBox="true"/>
          <p:nvPr/>
        </p:nvSpPr>
        <p:spPr>
          <a:xfrm rot="0">
            <a:off x="213661" y="4309636"/>
            <a:ext cx="5773921" cy="2204618"/>
          </a:xfrm>
          <a:prstGeom prst="rect">
            <a:avLst/>
          </a:prstGeom>
        </p:spPr>
        <p:txBody>
          <a:bodyPr anchor="t" rtlCol="false" tIns="0" lIns="0" bIns="0" rIns="0">
            <a:spAutoFit/>
          </a:bodyPr>
          <a:lstStyle/>
          <a:p>
            <a:pPr algn="l">
              <a:lnSpc>
                <a:spcPts val="2410"/>
              </a:lnSpc>
              <a:spcBef>
                <a:spcPct val="0"/>
              </a:spcBef>
            </a:pPr>
            <a:r>
              <a:rPr lang="en-US" b="true" sz="1639" spc="241">
                <a:solidFill>
                  <a:srgbClr val="000000"/>
                </a:solidFill>
                <a:latin typeface="Nunito Sans Expanded Bold"/>
                <a:ea typeface="Nunito Sans Expanded Bold"/>
                <a:cs typeface="Nunito Sans Expanded Bold"/>
                <a:sym typeface="Nunito Sans Expanded Bold"/>
              </a:rPr>
              <a:t>SCÉNARIO </a:t>
            </a:r>
            <a:r>
              <a:rPr lang="en-US" sz="1639" spc="241">
                <a:solidFill>
                  <a:srgbClr val="000000"/>
                </a:solidFill>
                <a:latin typeface="Nunito Sans Expanded"/>
                <a:ea typeface="Nunito Sans Expanded"/>
                <a:cs typeface="Nunito Sans Expanded"/>
                <a:sym typeface="Nunito Sans Expanded"/>
              </a:rPr>
              <a:t>: ACCIDENT DANS LA ZONE_BIADA (SAFI)</a:t>
            </a:r>
          </a:p>
          <a:p>
            <a:pPr algn="l" marL="310896" indent="-155448" lvl="1">
              <a:lnSpc>
                <a:spcPts val="2116"/>
              </a:lnSpc>
              <a:spcBef>
                <a:spcPct val="0"/>
              </a:spcBef>
              <a:buFont typeface="Arial"/>
              <a:buChar char="•"/>
            </a:pPr>
            <a:r>
              <a:rPr lang="en-US" sz="1439" spc="211">
                <a:solidFill>
                  <a:srgbClr val="000000"/>
                </a:solidFill>
                <a:latin typeface="Nunito Sans Expanded"/>
                <a:ea typeface="Nunito Sans Expanded"/>
                <a:cs typeface="Nunito Sans Expanded"/>
                <a:sym typeface="Nunito Sans Expanded"/>
              </a:rPr>
              <a:t>VILLE : SAFI</a:t>
            </a:r>
          </a:p>
          <a:p>
            <a:pPr algn="l" marL="310896" indent="-155448" lvl="1">
              <a:lnSpc>
                <a:spcPts val="2116"/>
              </a:lnSpc>
              <a:spcBef>
                <a:spcPct val="0"/>
              </a:spcBef>
              <a:buFont typeface="Arial"/>
              <a:buChar char="•"/>
            </a:pPr>
            <a:r>
              <a:rPr lang="en-US" sz="1439" spc="211">
                <a:solidFill>
                  <a:srgbClr val="000000"/>
                </a:solidFill>
                <a:latin typeface="Nunito Sans Expanded"/>
                <a:ea typeface="Nunito Sans Expanded"/>
                <a:cs typeface="Nunito Sans Expanded"/>
                <a:sym typeface="Nunito Sans Expanded"/>
              </a:rPr>
              <a:t>INCIDENT : ACCIDENT MAJEUR</a:t>
            </a:r>
          </a:p>
          <a:p>
            <a:pPr algn="l" marL="310896" indent="-155448" lvl="1">
              <a:lnSpc>
                <a:spcPts val="2116"/>
              </a:lnSpc>
              <a:spcBef>
                <a:spcPct val="0"/>
              </a:spcBef>
              <a:buFont typeface="Arial"/>
              <a:buChar char="•"/>
            </a:pPr>
            <a:r>
              <a:rPr lang="en-US" sz="1439" spc="211">
                <a:solidFill>
                  <a:srgbClr val="000000"/>
                </a:solidFill>
                <a:latin typeface="Nunito Sans Expanded"/>
                <a:ea typeface="Nunito Sans Expanded"/>
                <a:cs typeface="Nunito Sans Expanded"/>
                <a:sym typeface="Nunito Sans Expanded"/>
              </a:rPr>
              <a:t>SEGMENT ROUTIER BLOQUÉ</a:t>
            </a:r>
          </a:p>
          <a:p>
            <a:pPr algn="l" marL="310896" indent="-155448" lvl="1">
              <a:lnSpc>
                <a:spcPts val="2116"/>
              </a:lnSpc>
              <a:spcBef>
                <a:spcPct val="0"/>
              </a:spcBef>
              <a:buFont typeface="Arial"/>
              <a:buChar char="•"/>
            </a:pPr>
            <a:r>
              <a:rPr lang="en-US" sz="1439" spc="211">
                <a:solidFill>
                  <a:srgbClr val="000000"/>
                </a:solidFill>
                <a:latin typeface="Nunito Sans Expanded"/>
                <a:ea typeface="Nunito Sans Expanded"/>
                <a:cs typeface="Nunito Sans Expanded"/>
                <a:sym typeface="Nunito Sans Expanded"/>
              </a:rPr>
              <a:t>LIGNE_BUS_4 IMPACTÉE</a:t>
            </a:r>
          </a:p>
          <a:p>
            <a:pPr algn="l" marL="310896" indent="-155448" lvl="1">
              <a:lnSpc>
                <a:spcPts val="2116"/>
              </a:lnSpc>
              <a:spcBef>
                <a:spcPct val="0"/>
              </a:spcBef>
              <a:buFont typeface="Arial"/>
              <a:buChar char="•"/>
            </a:pPr>
            <a:r>
              <a:rPr lang="en-US" sz="1439" spc="211">
                <a:solidFill>
                  <a:srgbClr val="000000"/>
                </a:solidFill>
                <a:latin typeface="Nunito Sans Expanded"/>
                <a:ea typeface="Nunito Sans Expanded"/>
                <a:cs typeface="Nunito Sans Expanded"/>
                <a:sym typeface="Nunito Sans Expanded"/>
              </a:rPr>
              <a:t>PROPOS</a:t>
            </a:r>
            <a:r>
              <a:rPr lang="en-US" sz="1439" spc="211">
                <a:solidFill>
                  <a:srgbClr val="000000"/>
                </a:solidFill>
                <a:latin typeface="Nunito Sans Expanded"/>
                <a:ea typeface="Nunito Sans Expanded"/>
                <a:cs typeface="Nunito Sans Expanded"/>
                <a:sym typeface="Nunito Sans Expanded"/>
              </a:rPr>
              <a:t>I</a:t>
            </a:r>
            <a:r>
              <a:rPr lang="en-US" sz="1439" spc="211">
                <a:solidFill>
                  <a:srgbClr val="000000"/>
                </a:solidFill>
                <a:latin typeface="Nunito Sans Expanded"/>
                <a:ea typeface="Nunito Sans Expanded"/>
                <a:cs typeface="Nunito Sans Expanded"/>
                <a:sym typeface="Nunito Sans Expanded"/>
              </a:rPr>
              <a:t>TI</a:t>
            </a:r>
            <a:r>
              <a:rPr lang="en-US" sz="1439" spc="211">
                <a:solidFill>
                  <a:srgbClr val="000000"/>
                </a:solidFill>
                <a:latin typeface="Nunito Sans Expanded"/>
                <a:ea typeface="Nunito Sans Expanded"/>
                <a:cs typeface="Nunito Sans Expanded"/>
                <a:sym typeface="Nunito Sans Expanded"/>
              </a:rPr>
              <a:t>ON D'UN TRAJET ALTERNATIF</a:t>
            </a:r>
          </a:p>
          <a:p>
            <a:pPr algn="l">
              <a:lnSpc>
                <a:spcPts val="2116"/>
              </a:lnSpc>
              <a:spcBef>
                <a:spcPct val="0"/>
              </a:spcBef>
            </a:pPr>
          </a:p>
        </p:txBody>
      </p:sp>
      <p:grpSp>
        <p:nvGrpSpPr>
          <p:cNvPr name="Group 8" id="8"/>
          <p:cNvGrpSpPr/>
          <p:nvPr/>
        </p:nvGrpSpPr>
        <p:grpSpPr>
          <a:xfrm rot="0">
            <a:off x="16517314" y="9464381"/>
            <a:ext cx="1066053" cy="510035"/>
            <a:chOff x="0" y="0"/>
            <a:chExt cx="3070231" cy="1468901"/>
          </a:xfrm>
        </p:grpSpPr>
        <p:sp>
          <p:nvSpPr>
            <p:cNvPr name="Freeform 9" id="9"/>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0" id="10"/>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23/26</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0641016" y="1193602"/>
            <a:ext cx="5599248" cy="7619587"/>
          </a:xfrm>
          <a:custGeom>
            <a:avLst/>
            <a:gdLst/>
            <a:ahLst/>
            <a:cxnLst/>
            <a:rect r="r" b="b" t="t" l="l"/>
            <a:pathLst>
              <a:path h="7619587" w="5599248">
                <a:moveTo>
                  <a:pt x="0" y="0"/>
                </a:moveTo>
                <a:lnTo>
                  <a:pt x="5599248" y="0"/>
                </a:lnTo>
                <a:lnTo>
                  <a:pt x="5599248" y="7619587"/>
                </a:lnTo>
                <a:lnTo>
                  <a:pt x="0" y="7619587"/>
                </a:lnTo>
                <a:lnTo>
                  <a:pt x="0" y="0"/>
                </a:lnTo>
                <a:close/>
              </a:path>
            </a:pathLst>
          </a:custGeom>
          <a:blipFill>
            <a:blip r:embed="rId2"/>
            <a:stretch>
              <a:fillRect l="-2890" t="0" r="-2890" b="-2389"/>
            </a:stretch>
          </a:blipFill>
        </p:spPr>
      </p:sp>
      <p:grpSp>
        <p:nvGrpSpPr>
          <p:cNvPr name="Group 3" id="3"/>
          <p:cNvGrpSpPr/>
          <p:nvPr/>
        </p:nvGrpSpPr>
        <p:grpSpPr>
          <a:xfrm rot="0">
            <a:off x="16517314" y="9464381"/>
            <a:ext cx="1066053" cy="510035"/>
            <a:chOff x="0" y="0"/>
            <a:chExt cx="3070231" cy="1468901"/>
          </a:xfrm>
        </p:grpSpPr>
        <p:sp>
          <p:nvSpPr>
            <p:cNvPr name="Freeform 4" id="4"/>
            <p:cNvSpPr/>
            <p:nvPr/>
          </p:nvSpPr>
          <p:spPr>
            <a:xfrm flipH="false" flipV="false" rot="0">
              <a:off x="0" y="0"/>
              <a:ext cx="3070231" cy="1468901"/>
            </a:xfrm>
            <a:custGeom>
              <a:avLst/>
              <a:gdLst/>
              <a:ahLst/>
              <a:cxnLst/>
              <a:rect r="r" b="b" t="t" l="l"/>
              <a:pathLst>
                <a:path h="1468901" w="3070231">
                  <a:moveTo>
                    <a:pt x="225129" y="0"/>
                  </a:moveTo>
                  <a:lnTo>
                    <a:pt x="2845102" y="0"/>
                  </a:lnTo>
                  <a:cubicBezTo>
                    <a:pt x="2969438" y="0"/>
                    <a:pt x="3070231" y="100794"/>
                    <a:pt x="3070231" y="225129"/>
                  </a:cubicBezTo>
                  <a:lnTo>
                    <a:pt x="3070231" y="1243772"/>
                  </a:lnTo>
                  <a:cubicBezTo>
                    <a:pt x="3070231" y="1368108"/>
                    <a:pt x="2969438" y="1468901"/>
                    <a:pt x="2845102" y="1468901"/>
                  </a:cubicBezTo>
                  <a:lnTo>
                    <a:pt x="225129" y="1468901"/>
                  </a:lnTo>
                  <a:cubicBezTo>
                    <a:pt x="100794" y="1468901"/>
                    <a:pt x="0" y="1368108"/>
                    <a:pt x="0" y="1243772"/>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5" id="5"/>
            <p:cNvSpPr txBox="true"/>
            <p:nvPr/>
          </p:nvSpPr>
          <p:spPr>
            <a:xfrm>
              <a:off x="0" y="-38100"/>
              <a:ext cx="3070231" cy="1507001"/>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24/26</a:t>
              </a:r>
            </a:p>
          </p:txBody>
        </p:sp>
      </p:grpSp>
      <p:sp>
        <p:nvSpPr>
          <p:cNvPr name="TextBox 6" id="6"/>
          <p:cNvSpPr txBox="true"/>
          <p:nvPr/>
        </p:nvSpPr>
        <p:spPr>
          <a:xfrm rot="0">
            <a:off x="1028700" y="1427451"/>
            <a:ext cx="8505285" cy="3087967"/>
          </a:xfrm>
          <a:prstGeom prst="rect">
            <a:avLst/>
          </a:prstGeom>
        </p:spPr>
        <p:txBody>
          <a:bodyPr anchor="t" rtlCol="false" tIns="0" lIns="0" bIns="0" rIns="0">
            <a:spAutoFit/>
          </a:bodyPr>
          <a:lstStyle/>
          <a:p>
            <a:pPr algn="l">
              <a:lnSpc>
                <a:spcPts val="3439"/>
              </a:lnSpc>
              <a:spcBef>
                <a:spcPct val="0"/>
              </a:spcBef>
            </a:pPr>
            <a:r>
              <a:rPr lang="en-US" b="true" sz="2339" spc="343">
                <a:solidFill>
                  <a:srgbClr val="000000"/>
                </a:solidFill>
                <a:latin typeface="Nunito Sans Expanded Bold"/>
                <a:ea typeface="Nunito Sans Expanded Bold"/>
                <a:cs typeface="Nunito Sans Expanded Bold"/>
                <a:sym typeface="Nunito Sans Expanded Bold"/>
              </a:rPr>
              <a:t>INFÉREN</a:t>
            </a:r>
            <a:r>
              <a:rPr lang="en-US" b="true" sz="2339" spc="343">
                <a:solidFill>
                  <a:srgbClr val="000000"/>
                </a:solidFill>
                <a:latin typeface="Nunito Sans Expanded Bold"/>
                <a:ea typeface="Nunito Sans Expanded Bold"/>
                <a:cs typeface="Nunito Sans Expanded Bold"/>
                <a:sym typeface="Nunito Sans Expanded Bold"/>
              </a:rPr>
              <a:t>CE SÉMANTIQUE</a:t>
            </a:r>
          </a:p>
          <a:p>
            <a:pPr algn="l">
              <a:lnSpc>
                <a:spcPts val="969"/>
              </a:lnSpc>
            </a:pPr>
          </a:p>
          <a:p>
            <a:pPr algn="l">
              <a:lnSpc>
                <a:spcPts val="2410"/>
              </a:lnSpc>
              <a:spcBef>
                <a:spcPct val="0"/>
              </a:spcBef>
            </a:pPr>
            <a:r>
              <a:rPr lang="en-US" b="true" sz="1639" spc="241">
                <a:solidFill>
                  <a:srgbClr val="000000"/>
                </a:solidFill>
                <a:latin typeface="Nunito Sans Expanded Bold"/>
                <a:ea typeface="Nunito Sans Expanded Bold"/>
                <a:cs typeface="Nunito Sans Expanded Bold"/>
                <a:sym typeface="Nunito Sans Expanded Bold"/>
              </a:rPr>
              <a:t>RAISONNEMENT AUTOMATIQUE</a:t>
            </a:r>
          </a:p>
          <a:p>
            <a:pPr algn="l">
              <a:lnSpc>
                <a:spcPts val="2410"/>
              </a:lnSpc>
              <a:spcBef>
                <a:spcPct val="0"/>
              </a:spcBef>
            </a:pPr>
            <a:r>
              <a:rPr lang="en-US" b="true" sz="1639" spc="241">
                <a:solidFill>
                  <a:srgbClr val="000000"/>
                </a:solidFill>
                <a:latin typeface="Nunito Sans Expanded Bold"/>
                <a:ea typeface="Nunito Sans Expanded Bold"/>
                <a:cs typeface="Nunito Sans Expanded Bold"/>
                <a:sym typeface="Nunito Sans Expanded Bold"/>
              </a:rPr>
              <a:t>FAIT SAISI :</a:t>
            </a:r>
          </a:p>
          <a:p>
            <a:pPr algn="l">
              <a:lnSpc>
                <a:spcPts val="2410"/>
              </a:lnSpc>
              <a:spcBef>
                <a:spcPct val="0"/>
              </a:spcBef>
            </a:pPr>
            <a:r>
              <a:rPr lang="en-US" b="true" sz="1639" spc="241">
                <a:solidFill>
                  <a:srgbClr val="000000"/>
                </a:solidFill>
                <a:latin typeface="Nunito Sans Expanded Bold"/>
                <a:ea typeface="Nunito Sans Expanded Bold"/>
                <a:cs typeface="Nunito Sans Expanded Bold"/>
                <a:sym typeface="Nunito Sans Expanded Bold"/>
              </a:rPr>
              <a:t>ACCIDENT → ZONE_BIADA</a:t>
            </a:r>
          </a:p>
          <a:p>
            <a:pPr algn="l">
              <a:lnSpc>
                <a:spcPts val="1229"/>
              </a:lnSpc>
            </a:pPr>
          </a:p>
          <a:p>
            <a:pPr algn="l">
              <a:lnSpc>
                <a:spcPts val="2410"/>
              </a:lnSpc>
              <a:spcBef>
                <a:spcPct val="0"/>
              </a:spcBef>
            </a:pPr>
            <a:r>
              <a:rPr lang="en-US" b="true" sz="1639" spc="241">
                <a:solidFill>
                  <a:srgbClr val="000000"/>
                </a:solidFill>
                <a:latin typeface="Nunito Sans Expanded Bold"/>
                <a:ea typeface="Nunito Sans Expanded Bold"/>
                <a:cs typeface="Nunito Sans Expanded Bold"/>
                <a:sym typeface="Nunito Sans Expanded Bold"/>
              </a:rPr>
              <a:t>PE</a:t>
            </a:r>
            <a:r>
              <a:rPr lang="en-US" b="true" sz="1639" spc="241">
                <a:solidFill>
                  <a:srgbClr val="000000"/>
                </a:solidFill>
                <a:latin typeface="Nunito Sans Expanded Bold"/>
                <a:ea typeface="Nunito Sans Expanded Bold"/>
                <a:cs typeface="Nunito Sans Expanded Bold"/>
                <a:sym typeface="Nunito Sans Expanded Bold"/>
              </a:rPr>
              <a:t>LLET DÉDUIT AUTOMATIQUEMENT :</a:t>
            </a:r>
          </a:p>
          <a:p>
            <a:pPr algn="l" marL="354075" indent="-177037" lvl="1">
              <a:lnSpc>
                <a:spcPts val="2410"/>
              </a:lnSpc>
              <a:spcBef>
                <a:spcPct val="0"/>
              </a:spcBef>
              <a:buFont typeface="Arial"/>
              <a:buChar char="•"/>
            </a:pPr>
            <a:r>
              <a:rPr lang="en-US" b="true" sz="1639" spc="241">
                <a:solidFill>
                  <a:srgbClr val="000000"/>
                </a:solidFill>
                <a:latin typeface="Nunito Sans Expanded Bold"/>
                <a:ea typeface="Nunito Sans Expanded Bold"/>
                <a:cs typeface="Nunito Sans Expanded Bold"/>
                <a:sym typeface="Nunito Sans Expanded Bold"/>
              </a:rPr>
              <a:t>SEGMENT_ROUTE_BIADA_1 → BLOQUÉ</a:t>
            </a:r>
          </a:p>
          <a:p>
            <a:pPr algn="l" marL="354075" indent="-177037" lvl="1">
              <a:lnSpc>
                <a:spcPts val="2410"/>
              </a:lnSpc>
              <a:spcBef>
                <a:spcPct val="0"/>
              </a:spcBef>
              <a:buFont typeface="Arial"/>
              <a:buChar char="•"/>
            </a:pPr>
            <a:r>
              <a:rPr lang="en-US" b="true" sz="1639" spc="241">
                <a:solidFill>
                  <a:srgbClr val="000000"/>
                </a:solidFill>
                <a:latin typeface="Nunito Sans Expanded Bold"/>
                <a:ea typeface="Nunito Sans Expanded Bold"/>
                <a:cs typeface="Nunito Sans Expanded Bold"/>
                <a:sym typeface="Nunito Sans Expanded Bold"/>
              </a:rPr>
              <a:t>LIGNE_BUS_4 → IMPACTÉE</a:t>
            </a:r>
          </a:p>
          <a:p>
            <a:pPr algn="l" marL="354075" indent="-177037" lvl="1">
              <a:lnSpc>
                <a:spcPts val="2410"/>
              </a:lnSpc>
              <a:spcBef>
                <a:spcPct val="0"/>
              </a:spcBef>
              <a:buFont typeface="Arial"/>
              <a:buChar char="•"/>
            </a:pPr>
            <a:r>
              <a:rPr lang="en-US" b="true" sz="1639" spc="241">
                <a:solidFill>
                  <a:srgbClr val="000000"/>
                </a:solidFill>
                <a:latin typeface="Nunito Sans Expanded Bold"/>
                <a:ea typeface="Nunito Sans Expanded Bold"/>
                <a:cs typeface="Nunito Sans Expanded Bold"/>
                <a:sym typeface="Nunito Sans Expanded Bold"/>
              </a:rPr>
              <a:t>T</a:t>
            </a:r>
            <a:r>
              <a:rPr lang="en-US" b="true" sz="1639" spc="241">
                <a:solidFill>
                  <a:srgbClr val="000000"/>
                </a:solidFill>
                <a:latin typeface="Nunito Sans Expanded Bold"/>
                <a:ea typeface="Nunito Sans Expanded Bold"/>
                <a:cs typeface="Nunito Sans Expanded Bold"/>
                <a:sym typeface="Nunito Sans Expanded Bold"/>
              </a:rPr>
              <a:t>RAJET ALTERNATIF → DISPONIBLE</a:t>
            </a:r>
          </a:p>
          <a:p>
            <a:pPr algn="l">
              <a:lnSpc>
                <a:spcPts val="2116"/>
              </a:lnSpc>
              <a:spcBef>
                <a:spcPct val="0"/>
              </a:spcBef>
            </a:pPr>
          </a:p>
        </p:txBody>
      </p:sp>
      <p:sp>
        <p:nvSpPr>
          <p:cNvPr name="TextBox 7" id="7"/>
          <p:cNvSpPr txBox="true"/>
          <p:nvPr/>
        </p:nvSpPr>
        <p:spPr>
          <a:xfrm rot="0">
            <a:off x="1150094" y="5383528"/>
            <a:ext cx="8505285" cy="2859367"/>
          </a:xfrm>
          <a:prstGeom prst="rect">
            <a:avLst/>
          </a:prstGeom>
        </p:spPr>
        <p:txBody>
          <a:bodyPr anchor="t" rtlCol="false" tIns="0" lIns="0" bIns="0" rIns="0">
            <a:spAutoFit/>
          </a:bodyPr>
          <a:lstStyle/>
          <a:p>
            <a:pPr algn="l">
              <a:lnSpc>
                <a:spcPts val="3439"/>
              </a:lnSpc>
            </a:pPr>
            <a:r>
              <a:rPr lang="en-US" b="true" sz="2339" spc="343">
                <a:solidFill>
                  <a:srgbClr val="000000"/>
                </a:solidFill>
                <a:latin typeface="Nunito Sans Expanded Bold"/>
                <a:ea typeface="Nunito Sans Expanded Bold"/>
                <a:cs typeface="Nunito Sans Expanded Bold"/>
                <a:sym typeface="Nunito Sans Expanded Bold"/>
              </a:rPr>
              <a:t>RÉ</a:t>
            </a:r>
            <a:r>
              <a:rPr lang="en-US" b="true" sz="2339" spc="343">
                <a:solidFill>
                  <a:srgbClr val="000000"/>
                </a:solidFill>
                <a:latin typeface="Nunito Sans Expanded Bold"/>
                <a:ea typeface="Nunito Sans Expanded Bold"/>
                <a:cs typeface="Nunito Sans Expanded Bold"/>
                <a:sym typeface="Nunito Sans Expanded Bold"/>
              </a:rPr>
              <a:t>SULTAT OBTENU</a:t>
            </a:r>
          </a:p>
          <a:p>
            <a:pPr algn="l">
              <a:lnSpc>
                <a:spcPts val="2851"/>
              </a:lnSpc>
              <a:spcBef>
                <a:spcPct val="0"/>
              </a:spcBef>
            </a:pPr>
            <a:r>
              <a:rPr lang="en-US" b="true" sz="1939" spc="285">
                <a:solidFill>
                  <a:srgbClr val="000000"/>
                </a:solidFill>
                <a:latin typeface="Nunito Sans Expanded Bold"/>
                <a:ea typeface="Nunito Sans Expanded Bold"/>
                <a:cs typeface="Nunito Sans Expanded Bold"/>
                <a:sym typeface="Nunito Sans Expanded Bold"/>
              </a:rPr>
              <a:t>RÉPONSE GÉNÉRÉE</a:t>
            </a:r>
          </a:p>
          <a:p>
            <a:pPr algn="l">
              <a:lnSpc>
                <a:spcPts val="2851"/>
              </a:lnSpc>
              <a:spcBef>
                <a:spcPct val="0"/>
              </a:spcBef>
            </a:pPr>
            <a:r>
              <a:rPr lang="en-US" b="true" sz="1939" spc="285">
                <a:solidFill>
                  <a:srgbClr val="000000"/>
                </a:solidFill>
                <a:latin typeface="Nunito Sans Expanded Bold"/>
                <a:ea typeface="Nunito Sans Expanded Bold"/>
                <a:cs typeface="Nunito Sans Expanded Bold"/>
                <a:sym typeface="Nunito Sans Expanded Bold"/>
              </a:rPr>
              <a:t>LE SYSTÈME INFORME</a:t>
            </a:r>
            <a:r>
              <a:rPr lang="en-US" b="true" sz="1939" spc="285">
                <a:solidFill>
                  <a:srgbClr val="000000"/>
                </a:solidFill>
                <a:latin typeface="Nunito Sans Expanded Bold"/>
                <a:ea typeface="Nunito Sans Expanded Bold"/>
                <a:cs typeface="Nunito Sans Expanded Bold"/>
                <a:sym typeface="Nunito Sans Expanded Bold"/>
              </a:rPr>
              <a:t> AUTOMATIQUEMENT L'USAGER QUE :</a:t>
            </a:r>
          </a:p>
          <a:p>
            <a:pPr algn="l" marL="418843" indent="-209422" lvl="1">
              <a:lnSpc>
                <a:spcPts val="2851"/>
              </a:lnSpc>
              <a:spcBef>
                <a:spcPct val="0"/>
              </a:spcBef>
              <a:buFont typeface="Arial"/>
              <a:buChar char="•"/>
            </a:pPr>
            <a:r>
              <a:rPr lang="en-US" b="true" sz="1939" spc="285">
                <a:solidFill>
                  <a:srgbClr val="000000"/>
                </a:solidFill>
                <a:latin typeface="Nunito Sans Expanded Bold"/>
                <a:ea typeface="Nunito Sans Expanded Bold"/>
                <a:cs typeface="Nunito Sans Expanded Bold"/>
                <a:sym typeface="Nunito Sans Expanded Bold"/>
              </a:rPr>
              <a:t> LE S</a:t>
            </a:r>
            <a:r>
              <a:rPr lang="en-US" b="true" sz="1939" spc="285">
                <a:solidFill>
                  <a:srgbClr val="000000"/>
                </a:solidFill>
                <a:latin typeface="Nunito Sans Expanded Bold"/>
                <a:ea typeface="Nunito Sans Expanded Bold"/>
                <a:cs typeface="Nunito Sans Expanded Bold"/>
                <a:sym typeface="Nunito Sans Expanded Bold"/>
              </a:rPr>
              <a:t>EGMENT EST BLOQUÉ ;</a:t>
            </a:r>
          </a:p>
          <a:p>
            <a:pPr algn="l" marL="418843" indent="-209422" lvl="1">
              <a:lnSpc>
                <a:spcPts val="2851"/>
              </a:lnSpc>
              <a:spcBef>
                <a:spcPct val="0"/>
              </a:spcBef>
              <a:buFont typeface="Arial"/>
              <a:buChar char="•"/>
            </a:pPr>
            <a:r>
              <a:rPr lang="en-US" b="true" sz="1939" spc="285">
                <a:solidFill>
                  <a:srgbClr val="000000"/>
                </a:solidFill>
                <a:latin typeface="Nunito Sans Expanded Bold"/>
                <a:ea typeface="Nunito Sans Expanded Bold"/>
                <a:cs typeface="Nunito Sans Expanded Bold"/>
                <a:sym typeface="Nunito Sans Expanded Bold"/>
              </a:rPr>
              <a:t> LA L</a:t>
            </a:r>
            <a:r>
              <a:rPr lang="en-US" b="true" sz="1939" spc="285">
                <a:solidFill>
                  <a:srgbClr val="000000"/>
                </a:solidFill>
                <a:latin typeface="Nunito Sans Expanded Bold"/>
                <a:ea typeface="Nunito Sans Expanded Bold"/>
                <a:cs typeface="Nunito Sans Expanded Bold"/>
                <a:sym typeface="Nunito Sans Expanded Bold"/>
              </a:rPr>
              <a:t>IGNE DE BUS EST INTERROMPUE ;</a:t>
            </a:r>
          </a:p>
          <a:p>
            <a:pPr algn="l" marL="418843" indent="-209422" lvl="1">
              <a:lnSpc>
                <a:spcPts val="2851"/>
              </a:lnSpc>
              <a:spcBef>
                <a:spcPct val="0"/>
              </a:spcBef>
              <a:buFont typeface="Arial"/>
              <a:buChar char="•"/>
            </a:pPr>
            <a:r>
              <a:rPr lang="en-US" b="true" sz="1939" spc="285">
                <a:solidFill>
                  <a:srgbClr val="000000"/>
                </a:solidFill>
                <a:latin typeface="Nunito Sans Expanded Bold"/>
                <a:ea typeface="Nunito Sans Expanded Bold"/>
                <a:cs typeface="Nunito Sans Expanded Bold"/>
                <a:sym typeface="Nunito Sans Expanded Bold"/>
              </a:rPr>
              <a:t> UN T</a:t>
            </a:r>
            <a:r>
              <a:rPr lang="en-US" b="true" sz="1939" spc="285">
                <a:solidFill>
                  <a:srgbClr val="000000"/>
                </a:solidFill>
                <a:latin typeface="Nunito Sans Expanded Bold"/>
                <a:ea typeface="Nunito Sans Expanded Bold"/>
                <a:cs typeface="Nunito Sans Expanded Bold"/>
                <a:sym typeface="Nunito Sans Expanded Bold"/>
              </a:rPr>
              <a:t>RAJET ALTERNATIF EST PROPOSÉ.</a:t>
            </a:r>
          </a:p>
          <a:p>
            <a:pPr algn="l">
              <a:lnSpc>
                <a:spcPts val="2116"/>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6208643" y="0"/>
            <a:ext cx="11641421" cy="9648266"/>
            <a:chOff x="0" y="0"/>
            <a:chExt cx="3713514" cy="3077715"/>
          </a:xfrm>
        </p:grpSpPr>
        <p:sp>
          <p:nvSpPr>
            <p:cNvPr name="Freeform 6" id="6"/>
            <p:cNvSpPr/>
            <p:nvPr/>
          </p:nvSpPr>
          <p:spPr>
            <a:xfrm flipH="false" flipV="false" rot="0">
              <a:off x="0" y="0"/>
              <a:ext cx="3713514" cy="3077715"/>
            </a:xfrm>
            <a:custGeom>
              <a:avLst/>
              <a:gdLst/>
              <a:ahLst/>
              <a:cxnLst/>
              <a:rect r="r" b="b" t="t" l="l"/>
              <a:pathLst>
                <a:path h="3077715" w="3713514">
                  <a:moveTo>
                    <a:pt x="23941" y="0"/>
                  </a:moveTo>
                  <a:lnTo>
                    <a:pt x="3689573" y="0"/>
                  </a:lnTo>
                  <a:cubicBezTo>
                    <a:pt x="3702796" y="0"/>
                    <a:pt x="3713514" y="10719"/>
                    <a:pt x="3713514" y="23941"/>
                  </a:cubicBezTo>
                  <a:lnTo>
                    <a:pt x="3713514" y="3053774"/>
                  </a:lnTo>
                  <a:cubicBezTo>
                    <a:pt x="3713514" y="3060123"/>
                    <a:pt x="3710992" y="3066213"/>
                    <a:pt x="3706502" y="3070703"/>
                  </a:cubicBezTo>
                  <a:cubicBezTo>
                    <a:pt x="3702012" y="3075193"/>
                    <a:pt x="3695923" y="3077715"/>
                    <a:pt x="3689573" y="3077715"/>
                  </a:cubicBezTo>
                  <a:lnTo>
                    <a:pt x="23941" y="3077715"/>
                  </a:lnTo>
                  <a:cubicBezTo>
                    <a:pt x="10719" y="3077715"/>
                    <a:pt x="0" y="3066996"/>
                    <a:pt x="0" y="3053774"/>
                  </a:cubicBezTo>
                  <a:lnTo>
                    <a:pt x="0" y="23941"/>
                  </a:lnTo>
                  <a:cubicBezTo>
                    <a:pt x="0" y="10719"/>
                    <a:pt x="10719" y="0"/>
                    <a:pt x="23941" y="0"/>
                  </a:cubicBezTo>
                  <a:close/>
                </a:path>
              </a:pathLst>
            </a:custGeom>
            <a:solidFill>
              <a:srgbClr val="F1F1F1"/>
            </a:solidFill>
            <a:ln w="19050" cap="rnd">
              <a:solidFill>
                <a:srgbClr val="000000"/>
              </a:solidFill>
              <a:prstDash val="solid"/>
              <a:round/>
            </a:ln>
          </p:spPr>
        </p:sp>
        <p:sp>
          <p:nvSpPr>
            <p:cNvPr name="TextBox 7" id="7"/>
            <p:cNvSpPr txBox="true"/>
            <p:nvPr/>
          </p:nvSpPr>
          <p:spPr>
            <a:xfrm>
              <a:off x="0" y="-38100"/>
              <a:ext cx="3713514" cy="3115815"/>
            </a:xfrm>
            <a:prstGeom prst="rect">
              <a:avLst/>
            </a:prstGeom>
          </p:spPr>
          <p:txBody>
            <a:bodyPr anchor="ctr" rtlCol="false" tIns="50800" lIns="50800" bIns="50800" rIns="50800"/>
            <a:lstStyle/>
            <a:p>
              <a:pPr algn="ctr">
                <a:lnSpc>
                  <a:spcPts val="2116"/>
                </a:lnSpc>
              </a:pPr>
            </a:p>
          </p:txBody>
        </p:sp>
      </p:grpSp>
      <p:sp>
        <p:nvSpPr>
          <p:cNvPr name="Freeform 8" id="8"/>
          <p:cNvSpPr/>
          <p:nvPr/>
        </p:nvSpPr>
        <p:spPr>
          <a:xfrm flipH="false" flipV="false" rot="0">
            <a:off x="36748" y="635730"/>
            <a:ext cx="991952" cy="847668"/>
          </a:xfrm>
          <a:custGeom>
            <a:avLst/>
            <a:gdLst/>
            <a:ahLst/>
            <a:cxnLst/>
            <a:rect r="r" b="b" t="t" l="l"/>
            <a:pathLst>
              <a:path h="847668" w="991952">
                <a:moveTo>
                  <a:pt x="0" y="0"/>
                </a:moveTo>
                <a:lnTo>
                  <a:pt x="991952" y="0"/>
                </a:lnTo>
                <a:lnTo>
                  <a:pt x="991952" y="847668"/>
                </a:lnTo>
                <a:lnTo>
                  <a:pt x="0" y="8476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809625" y="9432074"/>
            <a:ext cx="1066053" cy="432385"/>
            <a:chOff x="0" y="0"/>
            <a:chExt cx="3070231" cy="1245268"/>
          </a:xfrm>
        </p:grpSpPr>
        <p:sp>
          <p:nvSpPr>
            <p:cNvPr name="Freeform 10" id="10"/>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25/26</a:t>
              </a:r>
            </a:p>
          </p:txBody>
        </p:sp>
      </p:grpSp>
      <p:sp>
        <p:nvSpPr>
          <p:cNvPr name="Freeform 12" id="12"/>
          <p:cNvSpPr/>
          <p:nvPr/>
        </p:nvSpPr>
        <p:spPr>
          <a:xfrm flipH="false" flipV="false" rot="0">
            <a:off x="6392676" y="129700"/>
            <a:ext cx="11130541" cy="4939030"/>
          </a:xfrm>
          <a:custGeom>
            <a:avLst/>
            <a:gdLst/>
            <a:ahLst/>
            <a:cxnLst/>
            <a:rect r="r" b="b" t="t" l="l"/>
            <a:pathLst>
              <a:path h="4939030" w="11130541">
                <a:moveTo>
                  <a:pt x="0" y="0"/>
                </a:moveTo>
                <a:lnTo>
                  <a:pt x="11130541" y="0"/>
                </a:lnTo>
                <a:lnTo>
                  <a:pt x="11130541" y="4939030"/>
                </a:lnTo>
                <a:lnTo>
                  <a:pt x="0" y="4939030"/>
                </a:lnTo>
                <a:lnTo>
                  <a:pt x="0" y="0"/>
                </a:lnTo>
                <a:close/>
              </a:path>
            </a:pathLst>
          </a:custGeom>
          <a:blipFill>
            <a:blip r:embed="rId6"/>
            <a:stretch>
              <a:fillRect l="0" t="0" r="0" b="0"/>
            </a:stretch>
          </a:blipFill>
        </p:spPr>
      </p:sp>
      <p:sp>
        <p:nvSpPr>
          <p:cNvPr name="TextBox 13" id="13"/>
          <p:cNvSpPr txBox="true"/>
          <p:nvPr/>
        </p:nvSpPr>
        <p:spPr>
          <a:xfrm rot="0">
            <a:off x="6634209" y="5059205"/>
            <a:ext cx="10227852" cy="4199095"/>
          </a:xfrm>
          <a:prstGeom prst="rect">
            <a:avLst/>
          </a:prstGeom>
        </p:spPr>
        <p:txBody>
          <a:bodyPr anchor="t" rtlCol="false" tIns="0" lIns="0" bIns="0" rIns="0">
            <a:spAutoFit/>
          </a:bodyPr>
          <a:lstStyle/>
          <a:p>
            <a:pPr algn="l">
              <a:lnSpc>
                <a:spcPts val="2580"/>
              </a:lnSpc>
            </a:pPr>
            <a:r>
              <a:rPr lang="en-US" sz="2015" b="true">
                <a:solidFill>
                  <a:srgbClr val="211F1C"/>
                </a:solidFill>
                <a:latin typeface="Nunito Sans Expanded Bold"/>
                <a:ea typeface="Nunito Sans Expanded Bold"/>
                <a:cs typeface="Nunito Sans Expanded Bold"/>
                <a:sym typeface="Nunito Sans Expanded Bold"/>
              </a:rPr>
              <a:t>Conclusion :</a:t>
            </a:r>
          </a:p>
          <a:p>
            <a:pPr algn="l" marL="435194" indent="-217597" lvl="1">
              <a:lnSpc>
                <a:spcPts val="2580"/>
              </a:lnSpc>
              <a:buFont typeface="Arial"/>
              <a:buChar char="•"/>
            </a:pPr>
            <a:r>
              <a:rPr lang="en-US" sz="2015">
                <a:solidFill>
                  <a:srgbClr val="211F1C"/>
                </a:solidFill>
                <a:latin typeface="Nunito Sans Expanded Light"/>
                <a:ea typeface="Nunito Sans Expanded Light"/>
                <a:cs typeface="Nunito Sans Expanded Light"/>
                <a:sym typeface="Nunito Sans Expanded Light"/>
              </a:rPr>
              <a:t>OntMobilite a prouvé l'efficacité des technologies du Web Sémantique pour résoudre des problèmes de logistique urbaine réels à Safi.</a:t>
            </a:r>
          </a:p>
          <a:p>
            <a:pPr algn="l" marL="435194" indent="-217597" lvl="1">
              <a:lnSpc>
                <a:spcPts val="2580"/>
              </a:lnSpc>
              <a:buFont typeface="Arial"/>
              <a:buChar char="•"/>
            </a:pPr>
            <a:r>
              <a:rPr lang="en-US" sz="2015">
                <a:solidFill>
                  <a:srgbClr val="211F1C"/>
                </a:solidFill>
                <a:latin typeface="Nunito Sans Expanded Light"/>
                <a:ea typeface="Nunito Sans Expanded Light"/>
                <a:cs typeface="Nunito Sans Expanded Light"/>
                <a:sym typeface="Nunito Sans Expanded Light"/>
              </a:rPr>
              <a:t>L'intégration Multi-Agents rend le système modulaire, scalable et ultra-rapide.</a:t>
            </a:r>
          </a:p>
          <a:p>
            <a:pPr algn="l">
              <a:lnSpc>
                <a:spcPts val="2580"/>
              </a:lnSpc>
            </a:pPr>
            <a:r>
              <a:rPr lang="en-US" sz="2015" b="true">
                <a:solidFill>
                  <a:srgbClr val="211F1C"/>
                </a:solidFill>
                <a:latin typeface="Nunito Sans Expanded Bold"/>
                <a:ea typeface="Nunito Sans Expanded Bold"/>
                <a:cs typeface="Nunito Sans Expanded Bold"/>
                <a:sym typeface="Nunito Sans Expanded Bold"/>
              </a:rPr>
              <a:t>Perspectives  :</a:t>
            </a:r>
          </a:p>
          <a:p>
            <a:pPr algn="l" marL="435194" indent="-217597" lvl="1">
              <a:lnSpc>
                <a:spcPts val="2580"/>
              </a:lnSpc>
              <a:buFont typeface="Arial"/>
              <a:buChar char="•"/>
            </a:pPr>
            <a:r>
              <a:rPr lang="en-US" sz="2015">
                <a:solidFill>
                  <a:srgbClr val="211F1C"/>
                </a:solidFill>
                <a:latin typeface="Nunito Sans Expanded Light"/>
                <a:ea typeface="Nunito Sans Expanded Light"/>
                <a:cs typeface="Nunito Sans Expanded Light"/>
                <a:sym typeface="Nunito Sans Expanded Light"/>
              </a:rPr>
              <a:t>Connecter l'application à des capteurs IoT réels placés sur Oued Chaaba pour déclencher l'alerte de crue de manière 100% automatique.</a:t>
            </a:r>
          </a:p>
          <a:p>
            <a:pPr algn="l" marL="435194" indent="-217597" lvl="1">
              <a:lnSpc>
                <a:spcPts val="2580"/>
              </a:lnSpc>
              <a:buFont typeface="Arial"/>
              <a:buChar char="•"/>
            </a:pPr>
            <a:r>
              <a:rPr lang="en-US" sz="2015">
                <a:solidFill>
                  <a:srgbClr val="211F1C"/>
                </a:solidFill>
                <a:latin typeface="Nunito Sans Expanded Light"/>
                <a:ea typeface="Nunito Sans Expanded Light"/>
                <a:cs typeface="Nunito Sans Expanded Light"/>
                <a:sym typeface="Nunito Sans Expanded Light"/>
              </a:rPr>
              <a:t>Intégrer l'API Google Maps ou OpenStreetMap pour projeter les segments sémantiques sur une vraie carte géographique.</a:t>
            </a:r>
          </a:p>
          <a:p>
            <a:pPr algn="l" marL="0" indent="0" lvl="0">
              <a:lnSpc>
                <a:spcPts val="2580"/>
              </a:lnSpc>
              <a:spcBef>
                <a:spcPct val="0"/>
              </a:spcBef>
            </a:pPr>
          </a:p>
        </p:txBody>
      </p:sp>
      <p:sp>
        <p:nvSpPr>
          <p:cNvPr name="TextBox 14" id="14"/>
          <p:cNvSpPr txBox="true"/>
          <p:nvPr/>
        </p:nvSpPr>
        <p:spPr>
          <a:xfrm rot="0">
            <a:off x="633786" y="1635798"/>
            <a:ext cx="5758890" cy="1126425"/>
          </a:xfrm>
          <a:prstGeom prst="rect">
            <a:avLst/>
          </a:prstGeom>
        </p:spPr>
        <p:txBody>
          <a:bodyPr anchor="t" rtlCol="false" tIns="0" lIns="0" bIns="0" rIns="0">
            <a:spAutoFit/>
          </a:bodyPr>
          <a:lstStyle/>
          <a:p>
            <a:pPr algn="l" marL="0" indent="0" lvl="0">
              <a:lnSpc>
                <a:spcPts val="8475"/>
              </a:lnSpc>
              <a:spcBef>
                <a:spcPct val="0"/>
              </a:spcBef>
            </a:pPr>
            <a:r>
              <a:rPr lang="en-US" sz="8392">
                <a:solidFill>
                  <a:srgbClr val="211F1C"/>
                </a:solidFill>
                <a:latin typeface="Anton"/>
                <a:ea typeface="Anton"/>
                <a:cs typeface="Anton"/>
                <a:sym typeface="Anton"/>
              </a:rPr>
              <a:t>CONCLUSION </a:t>
            </a:r>
          </a:p>
        </p:txBody>
      </p:sp>
      <p:sp>
        <p:nvSpPr>
          <p:cNvPr name="TextBox 15" id="15"/>
          <p:cNvSpPr txBox="true"/>
          <p:nvPr/>
        </p:nvSpPr>
        <p:spPr>
          <a:xfrm rot="-5400000">
            <a:off x="315072" y="6421801"/>
            <a:ext cx="5758890" cy="1126425"/>
          </a:xfrm>
          <a:prstGeom prst="rect">
            <a:avLst/>
          </a:prstGeom>
        </p:spPr>
        <p:txBody>
          <a:bodyPr anchor="t" rtlCol="false" tIns="0" lIns="0" bIns="0" rIns="0">
            <a:spAutoFit/>
          </a:bodyPr>
          <a:lstStyle/>
          <a:p>
            <a:pPr algn="l" marL="0" indent="0" lvl="0">
              <a:lnSpc>
                <a:spcPts val="8475"/>
              </a:lnSpc>
              <a:spcBef>
                <a:spcPct val="0"/>
              </a:spcBef>
            </a:pPr>
            <a:r>
              <a:rPr lang="en-US" sz="8392">
                <a:solidFill>
                  <a:srgbClr val="211F1C"/>
                </a:solidFill>
                <a:latin typeface="Anton"/>
                <a:ea typeface="Anton"/>
                <a:cs typeface="Anton"/>
                <a:sym typeface="Anton"/>
              </a:rPr>
              <a:t> PERSPECTIVES</a:t>
            </a:r>
          </a:p>
        </p:txBody>
      </p:sp>
      <p:sp>
        <p:nvSpPr>
          <p:cNvPr name="TextBox 16" id="16"/>
          <p:cNvSpPr txBox="true"/>
          <p:nvPr/>
        </p:nvSpPr>
        <p:spPr>
          <a:xfrm rot="0">
            <a:off x="2723403" y="2890430"/>
            <a:ext cx="789828" cy="1126425"/>
          </a:xfrm>
          <a:prstGeom prst="rect">
            <a:avLst/>
          </a:prstGeom>
        </p:spPr>
        <p:txBody>
          <a:bodyPr anchor="t" rtlCol="false" tIns="0" lIns="0" bIns="0" rIns="0">
            <a:spAutoFit/>
          </a:bodyPr>
          <a:lstStyle/>
          <a:p>
            <a:pPr algn="l" marL="0" indent="0" lvl="0">
              <a:lnSpc>
                <a:spcPts val="8475"/>
              </a:lnSpc>
              <a:spcBef>
                <a:spcPct val="0"/>
              </a:spcBef>
            </a:pPr>
            <a:r>
              <a:rPr lang="en-US" sz="8392">
                <a:solidFill>
                  <a:srgbClr val="211F1C"/>
                </a:solidFill>
                <a:latin typeface="Anton"/>
                <a:ea typeface="Anton"/>
                <a:cs typeface="Anton"/>
                <a:sym typeface="Anton"/>
              </a:rPr>
              <a:t>&amp;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703476" y="-580404"/>
            <a:ext cx="22876567" cy="11447809"/>
            <a:chOff x="0" y="0"/>
            <a:chExt cx="30502090" cy="15263745"/>
          </a:xfrm>
        </p:grpSpPr>
        <p:sp>
          <p:nvSpPr>
            <p:cNvPr name="Freeform 3" id="3"/>
            <p:cNvSpPr/>
            <p:nvPr/>
          </p:nvSpPr>
          <p:spPr>
            <a:xfrm flipH="false" flipV="false" rot="0">
              <a:off x="0"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38345" y="0"/>
              <a:ext cx="15263745" cy="15263745"/>
            </a:xfrm>
            <a:custGeom>
              <a:avLst/>
              <a:gdLst/>
              <a:ahLst/>
              <a:cxnLst/>
              <a:rect r="r" b="b" t="t" l="l"/>
              <a:pathLst>
                <a:path h="15263745" w="15263745">
                  <a:moveTo>
                    <a:pt x="0" y="0"/>
                  </a:moveTo>
                  <a:lnTo>
                    <a:pt x="15263745" y="0"/>
                  </a:lnTo>
                  <a:lnTo>
                    <a:pt x="15263745" y="15263745"/>
                  </a:lnTo>
                  <a:lnTo>
                    <a:pt x="0" y="15263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519790" y="4109190"/>
            <a:ext cx="11248419" cy="3054866"/>
          </a:xfrm>
          <a:prstGeom prst="rect">
            <a:avLst/>
          </a:prstGeom>
        </p:spPr>
        <p:txBody>
          <a:bodyPr anchor="t" rtlCol="false" tIns="0" lIns="0" bIns="0" rIns="0">
            <a:spAutoFit/>
          </a:bodyPr>
          <a:lstStyle/>
          <a:p>
            <a:pPr algn="ctr" marL="0" indent="0" lvl="0">
              <a:lnSpc>
                <a:spcPts val="11748"/>
              </a:lnSpc>
              <a:spcBef>
                <a:spcPct val="0"/>
              </a:spcBef>
            </a:pPr>
            <a:r>
              <a:rPr lang="en-US" sz="11632">
                <a:solidFill>
                  <a:srgbClr val="211F1C"/>
                </a:solidFill>
                <a:latin typeface="Anton"/>
                <a:ea typeface="Anton"/>
                <a:cs typeface="Anton"/>
                <a:sym typeface="Anton"/>
              </a:rPr>
              <a:t>MERCI POUR VOTRE ATTENTION !</a:t>
            </a:r>
          </a:p>
        </p:txBody>
      </p:sp>
      <p:sp>
        <p:nvSpPr>
          <p:cNvPr name="Freeform 6" id="6"/>
          <p:cNvSpPr/>
          <p:nvPr/>
        </p:nvSpPr>
        <p:spPr>
          <a:xfrm flipH="false" flipV="false" rot="0">
            <a:off x="8282303" y="2236423"/>
            <a:ext cx="1723393" cy="1472718"/>
          </a:xfrm>
          <a:custGeom>
            <a:avLst/>
            <a:gdLst/>
            <a:ahLst/>
            <a:cxnLst/>
            <a:rect r="r" b="b" t="t" l="l"/>
            <a:pathLst>
              <a:path h="1472718" w="1723393">
                <a:moveTo>
                  <a:pt x="0" y="0"/>
                </a:moveTo>
                <a:lnTo>
                  <a:pt x="1723394" y="0"/>
                </a:lnTo>
                <a:lnTo>
                  <a:pt x="1723394" y="1472717"/>
                </a:lnTo>
                <a:lnTo>
                  <a:pt x="0" y="1472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58180"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575306" y="4608658"/>
            <a:ext cx="354514" cy="354514"/>
          </a:xfrm>
          <a:custGeom>
            <a:avLst/>
            <a:gdLst/>
            <a:ahLst/>
            <a:cxnLst/>
            <a:rect r="r" b="b" t="t" l="l"/>
            <a:pathLst>
              <a:path h="354514" w="354514">
                <a:moveTo>
                  <a:pt x="0" y="0"/>
                </a:moveTo>
                <a:lnTo>
                  <a:pt x="354514" y="0"/>
                </a:lnTo>
                <a:lnTo>
                  <a:pt x="354514" y="354514"/>
                </a:lnTo>
                <a:lnTo>
                  <a:pt x="0" y="354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996283" y="9086378"/>
            <a:ext cx="1066053" cy="432385"/>
            <a:chOff x="0" y="0"/>
            <a:chExt cx="3070231" cy="1245268"/>
          </a:xfrm>
        </p:grpSpPr>
        <p:sp>
          <p:nvSpPr>
            <p:cNvPr name="Freeform 10" id="10"/>
            <p:cNvSpPr/>
            <p:nvPr/>
          </p:nvSpPr>
          <p:spPr>
            <a:xfrm flipH="false" flipV="false" rot="0">
              <a:off x="0" y="0"/>
              <a:ext cx="3070231" cy="1245268"/>
            </a:xfrm>
            <a:custGeom>
              <a:avLst/>
              <a:gdLst/>
              <a:ahLst/>
              <a:cxnLst/>
              <a:rect r="r" b="b" t="t" l="l"/>
              <a:pathLst>
                <a:path h="1245268" w="3070231">
                  <a:moveTo>
                    <a:pt x="225129" y="0"/>
                  </a:moveTo>
                  <a:lnTo>
                    <a:pt x="2845102" y="0"/>
                  </a:lnTo>
                  <a:cubicBezTo>
                    <a:pt x="2969438" y="0"/>
                    <a:pt x="3070231" y="100794"/>
                    <a:pt x="3070231" y="225129"/>
                  </a:cubicBezTo>
                  <a:lnTo>
                    <a:pt x="3070231" y="1020139"/>
                  </a:lnTo>
                  <a:cubicBezTo>
                    <a:pt x="3070231" y="1144474"/>
                    <a:pt x="2969438" y="1245268"/>
                    <a:pt x="2845102" y="1245268"/>
                  </a:cubicBezTo>
                  <a:lnTo>
                    <a:pt x="225129" y="1245268"/>
                  </a:lnTo>
                  <a:cubicBezTo>
                    <a:pt x="100794" y="1245268"/>
                    <a:pt x="0" y="1144474"/>
                    <a:pt x="0" y="1020139"/>
                  </a:cubicBezTo>
                  <a:lnTo>
                    <a:pt x="0" y="225129"/>
                  </a:lnTo>
                  <a:cubicBezTo>
                    <a:pt x="0" y="100794"/>
                    <a:pt x="100794" y="0"/>
                    <a:pt x="225129" y="0"/>
                  </a:cubicBezTo>
                  <a:close/>
                </a:path>
              </a:pathLst>
            </a:custGeom>
            <a:solidFill>
              <a:srgbClr val="F1F1F1"/>
            </a:solidFill>
            <a:ln w="9525" cap="rnd">
              <a:solidFill>
                <a:srgbClr val="000000"/>
              </a:solidFill>
              <a:prstDash val="solid"/>
              <a:round/>
            </a:ln>
          </p:spPr>
        </p:sp>
        <p:sp>
          <p:nvSpPr>
            <p:cNvPr name="TextBox 11" id="11"/>
            <p:cNvSpPr txBox="true"/>
            <p:nvPr/>
          </p:nvSpPr>
          <p:spPr>
            <a:xfrm>
              <a:off x="0" y="-38100"/>
              <a:ext cx="3070231" cy="1283368"/>
            </a:xfrm>
            <a:prstGeom prst="rect">
              <a:avLst/>
            </a:prstGeom>
          </p:spPr>
          <p:txBody>
            <a:bodyPr anchor="ctr" rtlCol="false" tIns="12700" lIns="12700" bIns="12700" rIns="12700"/>
            <a:lstStyle/>
            <a:p>
              <a:pPr algn="ctr" marL="0" indent="0" lvl="0">
                <a:lnSpc>
                  <a:spcPts val="2116"/>
                </a:lnSpc>
                <a:spcBef>
                  <a:spcPct val="0"/>
                </a:spcBef>
              </a:pPr>
              <a:r>
                <a:rPr lang="en-US" b="true" sz="1439" spc="211">
                  <a:solidFill>
                    <a:srgbClr val="211F1C"/>
                  </a:solidFill>
                  <a:latin typeface="Nunito Sans Expanded Semi-Bold"/>
                  <a:ea typeface="Nunito Sans Expanded Semi-Bold"/>
                  <a:cs typeface="Nunito Sans Expanded Semi-Bold"/>
                  <a:sym typeface="Nunito Sans Expanded Semi-Bold"/>
                </a:rPr>
                <a:t>26/26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DAHOtQSBOhQ</dc:identifier>
  <dcterms:modified xsi:type="dcterms:W3CDTF">2011-08-01T06:04:30Z</dcterms:modified>
  <cp:revision>1</cp:revision>
  <dc:title>Social Media Report Presentation</dc:title>
</cp:coreProperties>
</file>